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Welcome. AIR is an agentic incident response platform — introduce the tagline and set up that this is an architecture review.</a:t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Quick roadmap of the deck — seven stops from problem to delivery plan.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0c7dd12c_0_87:notes"/>
          <p:cNvSpPr/>
          <p:nvPr>
            <p:ph idx="2" type="sldImg"/>
          </p:nvPr>
        </p:nvSpPr>
        <p:spPr>
          <a:xfrm>
            <a:off x="0" y="0"/>
            <a:ext cx="4500000" cy="4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f80c7dd12c_0_87:notes"/>
          <p:cNvSpPr txBox="1"/>
          <p:nvPr>
            <p:ph idx="1" type="body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Reactive by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that traditional SRE often begins after an incident is detected and customer impact may already be visible. This increases exposure and puts immediate pressure on responders.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Fragmented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engineers must manually correlate alerts, dashboards, logs, Kubernetes state, runbooks and scripts. Switching between disconnected tools delays a shared understanding of the incident.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Manual operational toil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that root-cause analysis, capacity planning and performance diagnosis still require repetitive human effort. This consumes engineering time and introduces inconsistency.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Expertise bottleneck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that resolution speed often depends on an experienced engineer being available. Tribal knowledge does not scale and creates variable response quality across teams.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takeaway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Traditional SRE practices slow resolution, increase operational risk and leave less capacity for proactive reliability improvements.</a:t>
            </a:r>
            <a:endParaRPr/>
          </a:p>
        </p:txBody>
      </p:sp>
      <p:sp>
        <p:nvSpPr>
          <p:cNvPr id="54" name="Google Shape;54;g3f80c7dd12c_0_87:notes"/>
          <p:cNvSpPr txBox="1"/>
          <p:nvPr>
            <p:ph idx="12" type="sldNum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80c7dd12c_0_31:notes"/>
          <p:cNvSpPr/>
          <p:nvPr>
            <p:ph idx="2" type="sldImg"/>
          </p:nvPr>
        </p:nvSpPr>
        <p:spPr>
          <a:xfrm>
            <a:off x="0" y="0"/>
            <a:ext cx="4500000" cy="4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g3f80c7dd12c_0_31:notes"/>
          <p:cNvSpPr txBox="1"/>
          <p:nvPr>
            <p:ph idx="1" type="body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AI SRE as a shift in the operating model—not simply another monitoring tool. The product continuously understands context, predicts risk, supports action and learns from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Reactive → Proactive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goal is to identify emerging incidents and capacity risks before customers are affected. The platform moves teams from responding to symptoms toward preventing impact.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Manual → Intelligent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continuous AI analysis across operational signals. It proposes likely causes and the next best action, while engineers retain control over consequential changes.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Siloed → Unified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a shared operational context that connects metrics, logs, traces, deployments, Kubernetes state and runbooks. This reduces tool switching and accelerates confident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After impact → Prevent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how adaptive automation helps teams prevent or contain customer impact, while guardrails keep high-consequence actions under human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 — Expert-dependent → AI-amplified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platform makes experienced operational knowledge available to every responder through contextual guidance and supporting evidence. AI amplifies engineers rather than replacing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 — Static → Self-improving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continuous learning loop: incident outcomes improve alerts, runbooks, recommendations and automation. Reliability becomes stronger with every resolved event.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takeaway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SRE amplifies engineers, reduces toil and transforms reliability from reactive recovery into proactive, continuously improving customer-impact prevention.</a:t>
            </a:r>
            <a:endParaRPr/>
          </a:p>
        </p:txBody>
      </p:sp>
      <p:sp>
        <p:nvSpPr>
          <p:cNvPr id="77" name="Google Shape;77;g3f80c7dd12c_0_31:notes"/>
          <p:cNvSpPr txBox="1"/>
          <p:nvPr>
            <p:ph idx="12" type="sldNum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0c7dd12c_0_61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80c7dd12c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Benefits — Impact to the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AIR as a business-value platform, not only an engineering productivity tool. Faster and more consistent incident response protects revenue, service commitments and customer trust while lowering the cost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50% target MTTR reduction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target as the headline business lever. Shorter incidents mean less downtime, reduced customer disruption and lower revenue exposure.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Stronger SLA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Evidence-backed resolution helps more incidents remain inside their SLA window, reducing breach risk and protecting contractual commitments.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operating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 reduces repetitive investigation and triage work, freeing senior engineers for higher-value reliability and product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 SRE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and guided response allow teams to handle a larger incident volume without proportional growth in operational headcount.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Greater customer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alert noise and faster recovery protect service experience, strengthen confidence and reduce the reputational cost of recurring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note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prototype-modeled figures—21-minute average MTTR, 47% improvement versus baseline, 63% automated triage and 99.4% SLA compliance—are illustrative indicators, not committed production results.</a:t>
            </a:r>
            <a:endParaRPr/>
          </a:p>
        </p:txBody>
      </p:sp>
      <p:sp>
        <p:nvSpPr>
          <p:cNvPr id="106" name="Google Shape;106;g3f80c7dd12c_0_6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80c7dd12c_0_131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f80c7dd12c_0_1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Benefits — Impact to the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Frame AIR as a business-value platform, not only an engineering productivity tool. Faster and more consistent incident response protects revenue, service commitments and customer trust while lowering the cost of operations.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50% target MTTR reduction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target as the headline business lever. Shorter incidents mean less downtime, reduced customer disruption and lower revenue exposure.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Stronger SLA performance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Evidence-backed resolution helps more incidents remain inside their SLA window, reducing breach risk and protecting contractual commitments.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Lower operating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AIR reduces repetitive investigation and triage work, freeing senior engineers for higher-value reliability and product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Scalable SRE capacity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Automation and guided response allow teams to handle a larger incident volume without proportional growth in operational headcount.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Greater customer trust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 alert noise and faster recovery protect service experience, strengthen confidence and reduce the reputational cost of recurring incidents.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Evidence note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prototype-modeled figures—21-minute average MTTR, 47% improvement versus baseline, 63% automated triage and 99.4% SLA compliance—are illustrative indicators, not committed production results.</a:t>
            </a:r>
            <a:endParaRPr/>
          </a:p>
        </p:txBody>
      </p:sp>
      <p:sp>
        <p:nvSpPr>
          <p:cNvPr id="129" name="Google Shape;129;g3f80c7dd12c_0_131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80c7dd12c_0_218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80c7dd12c_0_2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AI Agent Orchestration — Speaker Notes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LangChain coordinates specialized agents through a governed incident-response workflow.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Investigation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Collects alerts, logs, metrics and traces. PII, secrets and sensitive data are protected before analysis.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RCA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Runs multiple root-cause hypotheses in parallel. Evidence is compared and conclusions are ranked by confidence.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Runbook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Recommends approved response steps based on the available evidence. Human approval remains part of the process.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Communication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Keeps responders aligned with consistent incident context, progress updates and an auditable timeline.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Postmortem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Turns reviewed incident evidence into lessons, actions and reusable knowledge.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Policy guardrails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Input and output checks protect sensitive data, validate evidence and keep recommendations within approved boundaries. Human oversight ensures decisions remain safe and accountable.</a:t>
            </a:r>
            <a:endParaRPr sz="1800">
              <a:solidFill>
                <a:srgbClr val="101820"/>
              </a:solidFill>
            </a:endParaRPr>
          </a:p>
        </p:txBody>
      </p:sp>
      <p:sp>
        <p:nvSpPr>
          <p:cNvPr id="137" name="Google Shape;137;g3f80c7dd12c_0_218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80c7dd12c_0_313:notes"/>
          <p:cNvSpPr/>
          <p:nvPr>
            <p:ph idx="2" type="sldImg"/>
          </p:nvPr>
        </p:nvSpPr>
        <p:spPr>
          <a:xfrm>
            <a:off x="685800" y="1143000"/>
            <a:ext cx="54864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9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80c7dd12c_0_3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AI Agent Orchestration — Speaker Notes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LangChain coordinates specialized agents through a governed incident-response workflow.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Investigation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Collects alerts, logs, metrics and traces. PII, secrets and sensitive data are protected before analysis.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RCA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Runs multiple root-cause hypotheses in parallel. Evidence is compared and conclusions are ranked by confidence.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Runbook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Recommends approved response steps based on the available evidence. Human approval remains part of the process.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Communication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Keeps responders aligned with consistent incident context, progress updates and an auditable timeline.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Postmortem Agent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Turns reviewed incident evidence into lessons, actions and reusable knowledge.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Policy guardrails</a:t>
            </a:r>
            <a:endParaRPr sz="1800">
              <a:solidFill>
                <a:srgbClr val="101820"/>
              </a:solidFill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01820"/>
                </a:solidFill>
              </a:rPr>
              <a:t>Input and output checks protect sensitive data, validate evidence and keep recommendations within approved boundaries. Human oversight ensures decisions remain safe and accountable.</a:t>
            </a:r>
            <a:endParaRPr sz="1800">
              <a:solidFill>
                <a:srgbClr val="101820"/>
              </a:solidFill>
            </a:endParaRPr>
          </a:p>
        </p:txBody>
      </p:sp>
      <p:sp>
        <p:nvSpPr>
          <p:cNvPr id="167" name="Google Shape;167;g3f80c7dd12c_0_313:notes"/>
          <p:cNvSpPr txBox="1"/>
          <p:nvPr>
            <p:ph idx="12" type="sldNum"/>
          </p:nvPr>
        </p:nvSpPr>
        <p:spPr>
          <a:xfrm>
            <a:off x="3884613" y="8685213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0c7dd12c_0_363:notes"/>
          <p:cNvSpPr/>
          <p:nvPr>
            <p:ph idx="2" type="sldImg"/>
          </p:nvPr>
        </p:nvSpPr>
        <p:spPr>
          <a:xfrm>
            <a:off x="0" y="0"/>
            <a:ext cx="4500000" cy="45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g3f80c7dd12c_0_363:notes"/>
          <p:cNvSpPr txBox="1"/>
          <p:nvPr>
            <p:ph idx="1" type="body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Product Vision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Position AI SRE as a shift in the operating model—not simply another monitoring tool. The product continuously understands context, predicts risk, supports action and learns from outcomes.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Reactive → Proactive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goal is to identify emerging incidents and capacity risks before customers are affected. The platform moves teams from responding to symptoms toward preventing impact.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Manual → Intelligent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Highlight continuous AI analysis across operational signals. It proposes likely causes and the next best action, while engineers retain control over consequential changes.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Siloed → Unified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a shared operational context that connects metrics, logs, traces, deployments, Kubernetes state and runbooks. This reduces tool switching and accelerates confident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After impact → Prevent impact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Describe how adaptive automation helps teams prevent or contain customer impact, while guardrails keep high-consequence actions under human control.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05 — Expert-dependent → AI-amplified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platform makes experienced operational knowledge available to every responder through contextual guidance and supporting evidence. AI amplifies engineers rather than replacing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06 — Static → Self-improving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continuous learning loop: incident outcomes improve alerts, runbooks, recommendations and automation. Reliability becomes stronger with every resolved event.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takeaway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AI SRE amplifies engineers, reduces toil and transforms reliability from reactive recovery into proactive, continuously improving customer-impact prevention.</a:t>
            </a:r>
            <a:endParaRPr/>
          </a:p>
        </p:txBody>
      </p:sp>
      <p:sp>
        <p:nvSpPr>
          <p:cNvPr id="194" name="Google Shape;194;g3f80c7dd12c_0_363:notes"/>
          <p:cNvSpPr txBox="1"/>
          <p:nvPr>
            <p:ph idx="12" type="sldNum"/>
          </p:nvPr>
        </p:nvSpPr>
        <p:spPr>
          <a:xfrm>
            <a:off x="0" y="0"/>
            <a:ext cx="4500000" cy="6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175" lIns="152375" spcFirstLastPara="1" rIns="152375" wrap="square" tIns="76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three screens we'll walk through, and where each sits in the incident lifecycle.</a:t>
            </a:r>
            <a:endParaRPr/>
          </a:p>
        </p:txBody>
      </p:sp>
      <p:sp>
        <p:nvSpPr>
          <p:cNvPr id="214" name="Google Shape;2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0c7dd12c_0_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g3f80c7dd12c_0_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44" name="Google Shape;244;g3f80c7dd12c_0_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0c7dd12c_0_4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f80c7dd12c_0_4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Show the alert list. Point out the dedup badge and the expanded group of three correlated alerts collapsing to one linked incident.</a:t>
            </a:r>
            <a:endParaRPr/>
          </a:p>
        </p:txBody>
      </p:sp>
      <p:sp>
        <p:nvSpPr>
          <p:cNvPr id="254" name="Google Shape;254;g3f80c7dd12c_0_4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phases from the PRD's MVP plan: foundation, AI-assisted, multi-agent orchestration, then enterprise autonomy with guardrails.</a:t>
            </a:r>
            <a:endParaRPr/>
          </a:p>
        </p:txBody>
      </p:sp>
      <p:sp>
        <p:nvSpPr>
          <p:cNvPr id="264" name="Google Shape;2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on the reframe: AIR is a standing operating system, not a tool. Humans keep the decisions that matter; agents remove the manual-lookup loop. Propose aligning on Phase 1 scope next.</a:t>
            </a:r>
            <a:endParaRPr/>
          </a:p>
        </p:txBody>
      </p:sp>
      <p:sp>
        <p:nvSpPr>
          <p:cNvPr id="287" name="Google Shape;2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70CB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1047750" y="3544639"/>
            <a:ext cx="28652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AMERICAN EXPRESS</a:t>
            </a:r>
            <a:endParaRPr b="1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3785890" y="3563689"/>
            <a:ext cx="13602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3979069" y="3544639"/>
            <a:ext cx="54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1047750" y="4363789"/>
            <a:ext cx="15716250" cy="902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52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</a:rPr>
              <a:t>Agentic Incident Response</a:t>
            </a:r>
            <a:endParaRPr b="1" i="0" sz="6300" u="none" cap="none" strike="noStrike">
              <a:solidFill>
                <a:schemeClr val="dk1"/>
              </a:solidFill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1047750" y="5532686"/>
            <a:ext cx="178117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2250"/>
              <a:buFont typeface="Arial"/>
              <a:buNone/>
            </a:pPr>
            <a:r>
              <a:rPr i="1" lang="en-US" sz="2250" u="none" cap="none" strike="noStrike">
                <a:solidFill>
                  <a:srgbClr val="E6F2FA"/>
                </a:solidFill>
              </a:rPr>
              <a:t>From signals to action. Faster resolution. Lower MTTR.</a:t>
            </a:r>
            <a:endParaRPr i="1" sz="2250" u="none" cap="none" strike="noStrike">
              <a:solidFill>
                <a:schemeClr val="dk1"/>
              </a:solidFill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1047750" y="6475661"/>
            <a:ext cx="1781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</a:rPr>
              <a:t>Internal Team Review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047750" y="1228725"/>
            <a:ext cx="178117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we’ll cover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1047750" y="2438400"/>
            <a:ext cx="41031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1610469" y="2457450"/>
            <a:ext cx="43319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/>
              <a:t>Problem Statement</a:t>
            </a:r>
            <a:endParaRPr i="0" sz="2250" u="none" cap="none" strike="noStrike">
              <a:solidFill>
                <a:schemeClr val="dk1"/>
              </a:solidFill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1610469" y="2847975"/>
            <a:ext cx="43319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Why incident response is slow today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9448800" y="2438400"/>
            <a:ext cx="4476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0048875" y="2457450"/>
            <a:ext cx="423520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vision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10048875" y="2847975"/>
            <a:ext cx="423520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Where AIR inserts itself in the chain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047750" y="3457575"/>
            <a:ext cx="4580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658243" y="3476625"/>
            <a:ext cx="407574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benefits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1658243" y="3867150"/>
            <a:ext cx="407574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MTTR, SLA, cost, and productivity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9448800" y="3457575"/>
            <a:ext cx="46240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0063609" y="3476625"/>
            <a:ext cx="5062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Platform architecture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0063609" y="3867150"/>
            <a:ext cx="506259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Layers, from raw signal to knowledge 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47750" y="4476750"/>
            <a:ext cx="4557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1655862" y="4495800"/>
            <a:ext cx="455116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en-US" sz="2250"/>
              <a:t>A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gent </a:t>
            </a:r>
            <a:r>
              <a:rPr lang="en-US" sz="2250"/>
              <a:t>O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rchestration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1655862" y="4886325"/>
            <a:ext cx="455116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Seven agents, one governed data 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448800" y="4476750"/>
            <a:ext cx="465534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0066734" y="4495800"/>
            <a:ext cx="47040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/>
              <a:t>AIR Workflow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0066734" y="4886325"/>
            <a:ext cx="470407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E5E5E"/>
                </a:solidFill>
              </a:rPr>
              <a:t>From Alert to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047750" y="5495925"/>
            <a:ext cx="437406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637556" y="5514975"/>
            <a:ext cx="647247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lang="en-US" sz="2250">
                <a:solidFill>
                  <a:schemeClr val="dk1"/>
                </a:solidFill>
              </a:rPr>
              <a:t>Design walkthrough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sz="2250"/>
          </a:p>
        </p:txBody>
      </p:sp>
      <p:sp>
        <p:nvSpPr>
          <p:cNvPr id="50" name="Google Shape;50;p5"/>
          <p:cNvSpPr/>
          <p:nvPr/>
        </p:nvSpPr>
        <p:spPr>
          <a:xfrm>
            <a:off x="1637556" y="5905500"/>
            <a:ext cx="647247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5E5E5E"/>
                </a:solidFill>
              </a:rPr>
              <a:t>Alerts, investigation, and incident detail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5E5E5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2100"/>
          </a:p>
        </p:txBody>
      </p:sp>
      <p:sp>
        <p:nvSpPr>
          <p:cNvPr id="57" name="Google Shape;57;p6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rPr>
              <a:t>Traditional SRE remains reactive and manual</a:t>
            </a:r>
            <a:endParaRPr sz="2100"/>
          </a:p>
        </p:txBody>
      </p:sp>
      <p:sp>
        <p:nvSpPr>
          <p:cNvPr id="58" name="Google Shape;58;p6"/>
          <p:cNvSpPr/>
          <p:nvPr/>
        </p:nvSpPr>
        <p:spPr>
          <a:xfrm>
            <a:off x="742950" y="2043113"/>
            <a:ext cx="16002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600"/>
              <a:buFont typeface="Arial"/>
              <a:buNone/>
            </a:pPr>
            <a:r>
              <a:rPr b="0" lang="en-US" sz="2600">
                <a:solidFill>
                  <a:srgbClr val="4D5B6A"/>
                </a:solidFill>
                <a:latin typeface="Arial"/>
                <a:ea typeface="Arial"/>
                <a:cs typeface="Arial"/>
                <a:sym typeface="Arial"/>
              </a:rPr>
              <a:t>Fragmented tools and expertise-dependent workflows delay confident action.</a:t>
            </a:r>
            <a:endParaRPr sz="2100"/>
          </a:p>
        </p:txBody>
      </p:sp>
      <p:sp>
        <p:nvSpPr>
          <p:cNvPr id="59" name="Google Shape;59;p6"/>
          <p:cNvSpPr/>
          <p:nvPr/>
        </p:nvSpPr>
        <p:spPr>
          <a:xfrm>
            <a:off x="742950" y="2828925"/>
            <a:ext cx="16802100" cy="14400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742950" y="33718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01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457325" y="33432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1771650" y="33147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Reactive by design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Work begins after an incident is detected—often while customer impact is already unfolding.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458325" y="33718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02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72700" y="33432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10487025" y="33147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Fragmented context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Alerts, dashboards, logs, Kubernetes, runbooks and scripts are reviewed across disconnected tools.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742950" y="60007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03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457325" y="59721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1771650" y="59436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Manual operational toil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Root-cause analysis, capacity planning and performance diagnosis rely on repetitive human effort.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9458325" y="600075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04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0172700" y="5972175"/>
            <a:ext cx="57000" cy="16575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0487025" y="5943600"/>
            <a:ext cx="6715500" cy="18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3200">
                <a:solidFill>
                  <a:srgbClr val="101820"/>
                </a:solidFill>
              </a:rPr>
              <a:t>Expertise bottleneck</a:t>
            </a:r>
            <a:endParaRPr b="1" sz="32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D5B6A"/>
                </a:solidFill>
              </a:rPr>
              <a:t>Resolution speed and consistency depend on the availability of experienced engineers.</a:t>
            </a:r>
            <a:endParaRPr sz="2400">
              <a:solidFill>
                <a:srgbClr val="4D5B6A"/>
              </a:solidFill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742950" y="8743950"/>
            <a:ext cx="16802100" cy="943200"/>
          </a:xfrm>
          <a:prstGeom prst="rect">
            <a:avLst/>
          </a:prstGeom>
          <a:solidFill>
            <a:srgbClr val="EAF3F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114425" y="8986838"/>
            <a:ext cx="16002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1820"/>
                </a:solidFill>
                <a:latin typeface="Arial"/>
                <a:ea typeface="Arial"/>
                <a:cs typeface="Arial"/>
                <a:sym typeface="Arial"/>
              </a:rPr>
              <a:t>Impact: slower resolution, inconsistent response quality, and less capacity for proactive reliability work.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PRODUCT VISION</a:t>
            </a:r>
            <a:endParaRPr b="1" sz="1800">
              <a:solidFill>
                <a:srgbClr val="006FCF"/>
              </a:solidFill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54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</a:rPr>
              <a:t>AI SRE moves reliability from reactive to proactive</a:t>
            </a:r>
            <a:endParaRPr b="1" sz="5400">
              <a:solidFill>
                <a:srgbClr val="101820"/>
              </a:solidFill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742950" y="2043113"/>
            <a:ext cx="160020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600"/>
              <a:buFont typeface="Arial"/>
              <a:buNone/>
            </a:pPr>
            <a:r>
              <a:rPr lang="en-US" sz="2600">
                <a:solidFill>
                  <a:srgbClr val="4D5B6A"/>
                </a:solidFill>
              </a:rPr>
              <a:t>A context-aware reliability platform that continuously understands, predicts, acts and improves.</a:t>
            </a:r>
            <a:endParaRPr sz="2600">
              <a:solidFill>
                <a:srgbClr val="4D5B6A"/>
              </a:solidFill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42950" y="2828925"/>
            <a:ext cx="16802100" cy="14400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/>
          <p:cNvSpPr/>
          <p:nvPr/>
        </p:nvSpPr>
        <p:spPr>
          <a:xfrm>
            <a:off x="742950" y="313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01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457325" y="306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771650" y="303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Reactive → Proactive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Predict emerging incidents and capacity risks before customer impact.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9458325" y="313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02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0172700" y="306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10487025" y="303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Manual → Intelligent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Analyze signals continuously, identify probable causes and recommend the next best action.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742950" y="496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03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457325" y="489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1771650" y="486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Siloed → Unified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Correlate metrics, logs, traces, changes, Kubernetes and runbooks in one operational context.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9458325" y="496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04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10172700" y="489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10487025" y="486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After impact → Prevent impact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Use adaptive automation and learning to strengthen resilience over time.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742950" y="8743950"/>
            <a:ext cx="16802100" cy="943200"/>
          </a:xfrm>
          <a:prstGeom prst="rect">
            <a:avLst/>
          </a:prstGeom>
          <a:solidFill>
            <a:srgbClr val="EAF3FC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1114425" y="8986838"/>
            <a:ext cx="16002000" cy="4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01820"/>
                </a:solidFill>
              </a:rPr>
              <a:t>Product vision: fewer incidents, faster decisions, lower toil and continuously improving reliability.</a:t>
            </a:r>
            <a:endParaRPr b="1" sz="2400">
              <a:solidFill>
                <a:srgbClr val="101820"/>
              </a:solidFill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742950" y="679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05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457325" y="672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771650" y="669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Expert-dependent → AI-amplified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Give every engineer expert context, guidance and evidence while keeping humans in control.</a:t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9458325" y="6795000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06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0172700" y="6720000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10487025" y="6690000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01820"/>
                </a:solidFill>
              </a:rPr>
              <a:t>Static → Self-improving</a:t>
            </a:r>
            <a:endParaRPr b="1" sz="2800">
              <a:solidFill>
                <a:srgbClr val="101820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rPr lang="en-US" sz="2200">
                <a:solidFill>
                  <a:srgbClr val="4D5B6A"/>
                </a:solidFill>
              </a:rPr>
              <a:t>Learn from outcomes to continuously improve alerts, runbooks, recommendations and automation.</a:t>
            </a:r>
            <a:endParaRPr sz="2200">
              <a:solidFill>
                <a:srgbClr val="4D5B6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BUSINESS BENEFITS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5400">
                <a:solidFill>
                  <a:srgbClr val="101820"/>
                </a:solidFill>
              </a:rPr>
              <a:t>How AI SRE creates measurable business impact</a:t>
            </a:r>
            <a:endParaRPr b="1" i="0" sz="5400" u="none" cap="none" strike="noStrike">
              <a:solidFill>
                <a:srgbClr val="101820"/>
              </a:solidFill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1000475" y="3395843"/>
            <a:ext cx="7982100" cy="2029200"/>
          </a:xfrm>
          <a:prstGeom prst="roundRect">
            <a:avLst>
              <a:gd fmla="val 3756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1343375" y="3700643"/>
            <a:ext cx="8025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48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343375" y="4443593"/>
            <a:ext cx="8025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</a:rPr>
              <a:t>Target MTTR reduction</a:t>
            </a:r>
            <a:endParaRPr b="1" i="0" sz="2700" u="none" cap="none" strike="noStrike">
              <a:solidFill>
                <a:srgbClr val="FFFFFF"/>
              </a:solidFill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343375" y="4853168"/>
            <a:ext cx="80259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FFFFFF"/>
                </a:solidFill>
              </a:rPr>
              <a:t>Faster resolution reduces downtime, disruption and revenue risk.</a:t>
            </a:r>
            <a:endParaRPr i="0" sz="2000" u="none" cap="none" strike="noStrike">
              <a:solidFill>
                <a:srgbClr val="FFFFFF"/>
              </a:solidFill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9211025" y="3395843"/>
            <a:ext cx="7982100" cy="2029200"/>
          </a:xfrm>
          <a:prstGeom prst="roundRect">
            <a:avLst>
              <a:gd fmla="val 3756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9563450" y="3710168"/>
            <a:ext cx="80049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700">
                <a:solidFill>
                  <a:srgbClr val="101820"/>
                </a:solidFill>
              </a:rPr>
              <a:t>Stronger SLA performance</a:t>
            </a:r>
            <a:endParaRPr b="1" i="0" sz="2700" u="none" cap="none" strike="noStrike">
              <a:solidFill>
                <a:srgbClr val="101820"/>
              </a:solidFill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9563450" y="4176893"/>
            <a:ext cx="7495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Evidence-backed resolution lowers breach risk and protects service commitments.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1000475" y="5729468"/>
            <a:ext cx="52449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1276700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Lower operating cost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1276700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Reduce senior-engineer time spent on repetitive investigation and triage.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474076" y="5729468"/>
            <a:ext cx="52452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750301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Scalable SRE capacity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750301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Handle more incidents without proportional headcount growth.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1947825" y="5729468"/>
            <a:ext cx="5245200" cy="1428900"/>
          </a:xfrm>
          <a:prstGeom prst="roundRect">
            <a:avLst>
              <a:gd fmla="val 5333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2224050" y="5986643"/>
            <a:ext cx="5162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500">
                <a:solidFill>
                  <a:srgbClr val="101820"/>
                </a:solidFill>
              </a:rPr>
              <a:t>Greater customer trust</a:t>
            </a:r>
            <a:endParaRPr b="1" i="0" sz="2500" u="none" cap="none" strike="noStrike">
              <a:solidFill>
                <a:srgbClr val="101820"/>
              </a:solidFill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12224050" y="6367643"/>
            <a:ext cx="4833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2000">
                <a:solidFill>
                  <a:srgbClr val="4D5B6A"/>
                </a:solidFill>
              </a:rPr>
              <a:t>Faster recovery protects customer experience and confidence.</a:t>
            </a:r>
            <a:endParaRPr i="0" sz="2000" u="none" cap="none" strike="noStrike">
              <a:solidFill>
                <a:srgbClr val="4D5B6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PLATFORM ARCHITECTURE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The platform ingests every signal and routes it to an agent workflow</a:t>
            </a:r>
            <a:endParaRPr b="1" sz="4000">
              <a:solidFill>
                <a:srgbClr val="101820"/>
              </a:solidFill>
            </a:endParaRPr>
          </a:p>
        </p:txBody>
      </p:sp>
      <p:pic>
        <p:nvPicPr>
          <p:cNvPr descr="preencoded.png"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3025" y="1768600"/>
            <a:ext cx="13532201" cy="8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/>
          <p:nvPr/>
        </p:nvSpPr>
        <p:spPr>
          <a:xfrm>
            <a:off x="742950" y="485775"/>
            <a:ext cx="16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AI AGENT ORCHESTRATION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742950" y="1035000"/>
            <a:ext cx="167166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500">
                <a:solidFill>
                  <a:srgbClr val="101820"/>
                </a:solidFill>
              </a:rPr>
              <a:t>Five agents orchestrate evidence-backed incident response</a:t>
            </a:r>
            <a:endParaRPr b="1" i="0" sz="4500" u="none" cap="none" strike="noStrike">
              <a:solidFill>
                <a:srgbClr val="101820"/>
              </a:solidFill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04775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206775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Investigation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43" name="Google Shape;143;p10"/>
          <p:cNvSpPr/>
          <p:nvPr/>
        </p:nvSpPr>
        <p:spPr>
          <a:xfrm>
            <a:off x="132525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Sources: alerts, logs, metrics, traces and deployment changes.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Guardrail: redact PII and secrets; emit evidence IDs for downstream agents.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653400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755400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RCA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81150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Parallel hypothesis workers gather evidence and challenge alternatives.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Artifact: ranked confidence, citations and blast-radius impact.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2020250" y="2370000"/>
            <a:ext cx="5220000" cy="2475000"/>
          </a:xfrm>
          <a:prstGeom prst="roundRect">
            <a:avLst>
              <a:gd fmla="val 432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13040250" y="2685000"/>
            <a:ext cx="392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Runbook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2297750" y="3255000"/>
            <a:ext cx="4665300" cy="12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Retrieve approved, versioned runbooks; rank options by risk and time.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Gate: manual approval, execution and recovery verification.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047750" y="5145000"/>
            <a:ext cx="8100000" cy="2070000"/>
          </a:xfrm>
          <a:prstGeom prst="roundRect">
            <a:avLst>
              <a:gd fmla="val 5291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2067750" y="5460000"/>
            <a:ext cx="68028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Communication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1325250" y="6060000"/>
            <a:ext cx="75453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Sync incident context with Slack and enforce authorized status transitions.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Record: timeline and audit events; live progress over SSE.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9420000" y="5145000"/>
            <a:ext cx="7820100" cy="2070000"/>
          </a:xfrm>
          <a:prstGeom prst="roundRect">
            <a:avLst>
              <a:gd fmla="val 5291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10440000" y="5460000"/>
            <a:ext cx="65226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Postmortem Agent</a:t>
            </a:r>
            <a:endParaRPr b="1" i="0" sz="2200" u="none" cap="none" strike="noStrike">
              <a:solidFill>
                <a:srgbClr val="101820"/>
              </a:solidFill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9697500" y="6060000"/>
            <a:ext cx="7265400" cy="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Draft timeline, impact, RCA and actions from selected sources.</a:t>
            </a:r>
            <a:endParaRPr sz="1800">
              <a:solidFill>
                <a:srgbClr val="4D5B6A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4D5B6A"/>
                </a:solidFill>
              </a:rPr>
              <a:t>Gate: human review; approved content becomes pgvector knowledge.</a:t>
            </a:r>
            <a:endParaRPr sz="1800">
              <a:solidFill>
                <a:srgbClr val="4D5B6A"/>
              </a:solidFill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047750" y="7470000"/>
            <a:ext cx="16192500" cy="1674000"/>
          </a:xfrm>
          <a:prstGeom prst="roundRect">
            <a:avLst>
              <a:gd fmla="val 5291" name="adj"/>
            </a:avLst>
          </a:prstGeom>
          <a:solidFill>
            <a:srgbClr val="006F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275000" y="7755000"/>
            <a:ext cx="15750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LangChain Framework for Governed Agent Orchestration</a:t>
            </a:r>
            <a:endParaRPr b="1" i="0" sz="2400" u="none" cap="none" strike="noStrike">
              <a:solidFill>
                <a:srgbClr val="FFFFFF"/>
              </a:solidFill>
            </a:endParaRPr>
          </a:p>
        </p:txBody>
      </p:sp>
      <p:pic>
        <p:nvPicPr>
          <p:cNvPr descr="Investigation agent search icon" id="158" name="Google Shape;158;p10" title="Investigation agent search ico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25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oot cause reasoning icon" id="159" name="Google Shape;159;p10" title="Root cause reasoning ico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50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unbook checklist icon" id="160" name="Google Shape;160;p10" title="Runbook checklist ico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97750" y="2632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cident communication icon" id="161" name="Google Shape;161;p10" title="Incident communication ico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25250" y="5407500"/>
            <a:ext cx="630000" cy="63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ostmortem learning icon" id="162" name="Google Shape;162;p10" title="Postmortem learning ico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697500" y="5407500"/>
            <a:ext cx="630000" cy="63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0"/>
          <p:cNvSpPr/>
          <p:nvPr/>
        </p:nvSpPr>
        <p:spPr>
          <a:xfrm>
            <a:off x="1226251" y="8411450"/>
            <a:ext cx="157500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</a:rPr>
              <a:t>Model Agnostic Chains Agents and Tools</a:t>
            </a:r>
            <a:endParaRPr b="1" i="0" sz="24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"/>
          <p:cNvSpPr/>
          <p:nvPr/>
        </p:nvSpPr>
        <p:spPr>
          <a:xfrm>
            <a:off x="742950" y="485775"/>
            <a:ext cx="1671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AIR WORKFLOW</a:t>
            </a:r>
            <a:endParaRPr b="1" i="0" sz="1800" u="none" cap="none" strike="noStrike">
              <a:solidFill>
                <a:srgbClr val="006FCF"/>
              </a:solidFill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742950" y="1099525"/>
            <a:ext cx="1620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lang="en-US" sz="4500">
                <a:solidFill>
                  <a:srgbClr val="101820"/>
                </a:solidFill>
              </a:rPr>
              <a:t>From alert to learning: one clear, governed response</a:t>
            </a:r>
            <a:endParaRPr b="1" i="0" sz="4500" u="none" cap="none" strike="noStrike">
              <a:solidFill>
                <a:srgbClr val="101820"/>
              </a:solidFill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742950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/>
          <p:nvPr/>
        </p:nvSpPr>
        <p:spPr>
          <a:xfrm>
            <a:off x="866062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1. Alert 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A possible issue is flagged.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3463826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3586936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2. Investigation 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Relevant signals are gathered.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184850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6307963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3. Incident 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One shared record is created.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8905726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9028836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4. Context 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Evidence and history are organized.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1626751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"/>
          <p:cNvSpPr/>
          <p:nvPr/>
        </p:nvSpPr>
        <p:spPr>
          <a:xfrm>
            <a:off x="11749861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5. Root Cause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Possible explanations are tested.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14347775" y="2344525"/>
            <a:ext cx="2587500" cy="1620000"/>
          </a:xfrm>
          <a:prstGeom prst="roundRect">
            <a:avLst>
              <a:gd fmla="val 8889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14470888" y="2494525"/>
            <a:ext cx="23415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01820"/>
                </a:solidFill>
              </a:rPr>
              <a:t>6. Impact </a:t>
            </a:r>
            <a:endParaRPr b="1" sz="18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600">
                <a:solidFill>
                  <a:srgbClr val="4D5B6A"/>
                </a:solidFill>
              </a:rPr>
              <a:t>Who and what are affected.</a:t>
            </a:r>
            <a:endParaRPr i="1" sz="1600">
              <a:solidFill>
                <a:srgbClr val="4D5B6A"/>
              </a:solidFill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742950" y="4114525"/>
            <a:ext cx="162000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700"/>
              <a:buFont typeface="Arial"/>
              <a:buNone/>
            </a:pPr>
            <a:r>
              <a:rPr b="1" lang="en-US" sz="1800">
                <a:solidFill>
                  <a:srgbClr val="0C70CB"/>
                </a:solidFill>
              </a:rPr>
              <a:t>↓  CONTINUE</a:t>
            </a:r>
            <a:endParaRPr b="1" i="0" sz="1800" u="none" cap="none" strike="noStrike">
              <a:solidFill>
                <a:srgbClr val="0C70CB"/>
              </a:solidFill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742950" y="4744525"/>
            <a:ext cx="5220000" cy="1620000"/>
          </a:xfrm>
          <a:prstGeom prst="roundRect">
            <a:avLst>
              <a:gd fmla="val 6897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"/>
          <p:cNvSpPr/>
          <p:nvPr/>
        </p:nvSpPr>
        <p:spPr>
          <a:xfrm>
            <a:off x="1020450" y="4954525"/>
            <a:ext cx="46653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7. Response </a:t>
            </a:r>
            <a:endParaRPr b="1" sz="22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900">
                <a:solidFill>
                  <a:srgbClr val="4D5B6A"/>
                </a:solidFill>
              </a:rPr>
              <a:t>Safe next steps are recommended.</a:t>
            </a:r>
            <a:endParaRPr i="1" sz="1900">
              <a:solidFill>
                <a:srgbClr val="4D5B6A"/>
              </a:solidFill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6229200" y="4744525"/>
            <a:ext cx="5220000" cy="1620000"/>
          </a:xfrm>
          <a:prstGeom prst="roundRect">
            <a:avLst>
              <a:gd fmla="val 6897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6506700" y="4954525"/>
            <a:ext cx="46653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2200">
                <a:solidFill>
                  <a:srgbClr val="101820"/>
                </a:solidFill>
              </a:rPr>
              <a:t>8. Human </a:t>
            </a:r>
            <a:endParaRPr b="1" sz="2200">
              <a:solidFill>
                <a:srgbClr val="101820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900">
                <a:solidFill>
                  <a:srgbClr val="4D5B6A"/>
                </a:solidFill>
              </a:rPr>
              <a:t>An owner reviews before action.</a:t>
            </a:r>
            <a:endParaRPr i="1" sz="1900">
              <a:solidFill>
                <a:srgbClr val="4D5B6A"/>
              </a:solidFill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11715450" y="4744525"/>
            <a:ext cx="5220000" cy="1620000"/>
          </a:xfrm>
          <a:prstGeom prst="roundRect">
            <a:avLst>
              <a:gd fmla="val 6897" name="adj"/>
            </a:avLst>
          </a:prstGeom>
          <a:solidFill>
            <a:srgbClr val="0C70CB"/>
          </a:solidFill>
          <a:ln cap="flat" cmpd="sng" w="9525">
            <a:solidFill>
              <a:srgbClr val="0C70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11992950" y="4954525"/>
            <a:ext cx="4665300" cy="121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</a:rPr>
              <a:t>9. Resolve and learn</a:t>
            </a:r>
            <a:endParaRPr b="1" sz="22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i="1" lang="en-US" sz="1900">
                <a:solidFill>
                  <a:srgbClr val="D4E8FF"/>
                </a:solidFill>
              </a:rPr>
              <a:t>Recovery is confirmed and lessons are captured.</a:t>
            </a:r>
            <a:endParaRPr i="1" sz="1900">
              <a:solidFill>
                <a:srgbClr val="D4E8FF"/>
              </a:solidFill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742950" y="6994525"/>
            <a:ext cx="16200000" cy="1800000"/>
          </a:xfrm>
          <a:prstGeom prst="rect">
            <a:avLst/>
          </a:prstGeom>
          <a:solidFill>
            <a:srgbClr val="0C70CB"/>
          </a:solidFill>
          <a:ln cap="flat" cmpd="sng" w="9525">
            <a:solidFill>
              <a:srgbClr val="0C70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Arial"/>
              <a:buNone/>
            </a:pPr>
            <a:r>
              <a:rPr b="1" lang="en-US" sz="2300">
                <a:solidFill>
                  <a:srgbClr val="FFFFFF"/>
                </a:solidFill>
              </a:rPr>
              <a:t>AIR keeps people in control: evidence is organized, options are compared, and approval happens before action.</a:t>
            </a:r>
            <a:endParaRPr b="1" i="0" sz="2300" u="none" cap="none" strike="noStrike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/>
          <p:nvPr/>
        </p:nvSpPr>
        <p:spPr>
          <a:xfrm>
            <a:off x="742950" y="485775"/>
            <a:ext cx="3714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06FCF"/>
                </a:solidFill>
              </a:rPr>
              <a:t>DESIGN PRINCIPLE</a:t>
            </a:r>
            <a:endParaRPr b="1" sz="1800">
              <a:solidFill>
                <a:srgbClr val="006FCF"/>
              </a:solidFill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742950" y="1028700"/>
            <a:ext cx="167166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5400"/>
              <a:buFont typeface="Arial"/>
              <a:buNone/>
            </a:pPr>
            <a:r>
              <a:rPr b="1" lang="en-US" sz="4700">
                <a:solidFill>
                  <a:srgbClr val="101820"/>
                </a:solidFill>
              </a:rPr>
              <a:t>Every state changing action still waits for Human Approval</a:t>
            </a:r>
            <a:endParaRPr b="1" sz="4700">
              <a:solidFill>
                <a:srgbClr val="101820"/>
              </a:solidFill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742950" y="2828925"/>
            <a:ext cx="16802100" cy="14400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"/>
          <p:cNvSpPr/>
          <p:nvPr/>
        </p:nvSpPr>
        <p:spPr>
          <a:xfrm>
            <a:off x="742950" y="3875875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01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457325" y="3800875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1771650" y="3770875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Confidence scoring &amp; cited evidence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5E5E5E"/>
                </a:solidFill>
              </a:rPr>
              <a:t>Every RCA hypothesis carries a confidence score and mandatory evidence citation — enforced, not optional.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t/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9458325" y="3875875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02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10172700" y="3800875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10487025" y="3770875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Human approval gate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5E5E5E"/>
                </a:solidFill>
              </a:rPr>
              <a:t>A Policy Engine enforces RBAC and approval requirements before any automation executes.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t/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742950" y="5705875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03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1457325" y="5630875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1771650" y="5600875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Full audit trail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5E5E5E"/>
                </a:solidFill>
              </a:rPr>
              <a:t>The Audit Service records every AI and human action across the incident lifecycle.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t/>
            </a:r>
            <a:endParaRPr sz="2200">
              <a:solidFill>
                <a:srgbClr val="4D5B6A"/>
              </a:solidFill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9458325" y="5705875"/>
            <a:ext cx="6858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6FCF"/>
                </a:solidFill>
              </a:rPr>
              <a:t>04</a:t>
            </a:r>
            <a:endParaRPr b="1" sz="2000">
              <a:solidFill>
                <a:srgbClr val="006FCF"/>
              </a:solidFill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0172700" y="5630875"/>
            <a:ext cx="57000" cy="1350000"/>
          </a:xfrm>
          <a:prstGeom prst="rect">
            <a:avLst/>
          </a:prstGeom>
          <a:solidFill>
            <a:srgbClr val="006FC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10487025" y="5600875"/>
            <a:ext cx="6715500" cy="15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Staged automation trust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5E5E5E"/>
                </a:solidFill>
              </a:rPr>
              <a:t>Blast-radius estimation and staged rollout precede any expansion of the approval-free action set.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D5B6A"/>
              </a:buClr>
              <a:buSzPts val="2400"/>
              <a:buFont typeface="Arial"/>
              <a:buNone/>
            </a:pPr>
            <a:r>
              <a:t/>
            </a:r>
            <a:endParaRPr sz="2200">
              <a:solidFill>
                <a:srgbClr val="4D5B6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2F3F3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047750" y="1228725"/>
            <a:ext cx="17287875" cy="6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Three screens carry the investigation from alert to resolution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10477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/>
          <p:nvPr/>
        </p:nvSpPr>
        <p:spPr>
          <a:xfrm>
            <a:off x="13620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13620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13620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Correlated and deduplicated before an engineer ever sees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65341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68484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8484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Investigation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8484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Starts automatically on alert receipt, with evidence and a confidence score.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2020550" y="2429768"/>
            <a:ext cx="5219700" cy="7190482"/>
          </a:xfrm>
          <a:prstGeom prst="roundRect">
            <a:avLst>
              <a:gd fmla="val 1460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"/>
          <p:cNvSpPr/>
          <p:nvPr/>
        </p:nvSpPr>
        <p:spPr>
          <a:xfrm>
            <a:off x="12334875" y="2782193"/>
            <a:ext cx="505015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12334875" y="3201293"/>
            <a:ext cx="505015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Incident Detail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12334875" y="3668018"/>
            <a:ext cx="472878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Ranked root-cause hypotheses and a remediation plan ready for approval.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ALERTS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1047750" y="1228725"/>
            <a:ext cx="17287875" cy="629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Alerts are correlated and deduplicated before they reach an engineer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1047750" y="2904818"/>
            <a:ext cx="9753600" cy="3451800"/>
          </a:xfrm>
          <a:prstGeom prst="roundRect">
            <a:avLst>
              <a:gd fmla="val 2207" name="adj"/>
            </a:avLst>
          </a:prstGeom>
          <a:solidFill>
            <a:srgbClr val="E8E8E8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13428075" y="2904775"/>
            <a:ext cx="4393500" cy="40932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13654621" y="3521234"/>
            <a:ext cx="40587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0" i="0" lang="en-US" sz="20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Alerts sharing the same service, metric, and error signature within a 5-minute correlation window are grouped automatically — the engineer sees one actionable item, already linked to its incident, not three separate pages.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904825"/>
            <a:ext cx="12179795" cy="409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"/>
          <p:cNvSpPr/>
          <p:nvPr/>
        </p:nvSpPr>
        <p:spPr>
          <a:xfrm>
            <a:off x="1047750" y="819150"/>
            <a:ext cx="17811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</a:t>
            </a:r>
            <a:r>
              <a:rPr b="1" lang="en-US" sz="1500">
                <a:solidFill>
                  <a:srgbClr val="006FCF"/>
                </a:solidFill>
              </a:rPr>
              <a:t>AI INVESTIGATION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1047750" y="1228725"/>
            <a:ext cx="17287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lang="en-US" sz="4050">
                <a:solidFill>
                  <a:schemeClr val="dk1"/>
                </a:solidFill>
              </a:rPr>
              <a:t>Investigation begins automatically the moment an alert arrives</a:t>
            </a:r>
            <a:endParaRPr sz="4050"/>
          </a:p>
        </p:txBody>
      </p:sp>
      <p:sp>
        <p:nvSpPr>
          <p:cNvPr id="248" name="Google Shape;248;p15"/>
          <p:cNvSpPr/>
          <p:nvPr/>
        </p:nvSpPr>
        <p:spPr>
          <a:xfrm>
            <a:off x="13171700" y="2553500"/>
            <a:ext cx="4393500" cy="57900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13506496" y="3833584"/>
            <a:ext cx="40587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lang="en-US" sz="1950">
                <a:solidFill>
                  <a:srgbClr val="333333"/>
                </a:solidFill>
              </a:rPr>
              <a:t>By the time an engineer opens the alert, the threshold breach, the correlated deploy, and a 78% confidence root cause are already documented — with the evidence attached.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t/>
            </a:r>
            <a:endParaRPr sz="2050">
              <a:solidFill>
                <a:srgbClr val="333333"/>
              </a:solidFill>
            </a:endParaRPr>
          </a:p>
        </p:txBody>
      </p:sp>
      <p:pic>
        <p:nvPicPr>
          <p:cNvPr id="250" name="Google Shape;2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553476"/>
            <a:ext cx="11676625" cy="5790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"/>
          <p:cNvSpPr/>
          <p:nvPr/>
        </p:nvSpPr>
        <p:spPr>
          <a:xfrm>
            <a:off x="1047750" y="819150"/>
            <a:ext cx="17811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DESIGN WALKTHROUGH · </a:t>
            </a:r>
            <a:r>
              <a:rPr b="1" lang="en-US" sz="1500">
                <a:solidFill>
                  <a:srgbClr val="006FCF"/>
                </a:solidFill>
              </a:rPr>
              <a:t>INCIDENT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1047750" y="1228725"/>
            <a:ext cx="17287800" cy="6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rPr lang="en-US" sz="4050">
                <a:solidFill>
                  <a:schemeClr val="dk1"/>
                </a:solidFill>
              </a:rPr>
              <a:t>Root cause hypotheses are ranked, evidenced, and ready for approval</a:t>
            </a:r>
            <a:endParaRPr sz="4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50"/>
              <a:buFont typeface="Arial"/>
              <a:buNone/>
            </a:pPr>
            <a:r>
              <a:t/>
            </a:r>
            <a:endParaRPr sz="4050">
              <a:solidFill>
                <a:schemeClr val="dk1"/>
              </a:solidFill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13624900" y="2553500"/>
            <a:ext cx="3940200" cy="4824900"/>
          </a:xfrm>
          <a:prstGeom prst="roundRect">
            <a:avLst>
              <a:gd fmla="val 3065" name="adj"/>
            </a:avLst>
          </a:prstGeom>
          <a:solidFill>
            <a:srgbClr val="EAF3FC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50" y="2553500"/>
            <a:ext cx="12231276" cy="4825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6"/>
          <p:cNvSpPr/>
          <p:nvPr/>
        </p:nvSpPr>
        <p:spPr>
          <a:xfrm>
            <a:off x="13862500" y="3110813"/>
            <a:ext cx="3465000" cy="3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Each hypothesis carries a confidence score and cited evidence. The top-ranked remediation is proposed with an explicit risk level — an engineer clicks approve, AIR executes.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3F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/>
          <p:nvPr/>
        </p:nvSpPr>
        <p:spPr>
          <a:xfrm>
            <a:off x="1047750" y="819150"/>
            <a:ext cx="1781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DELIVERY ROADMAP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1047750" y="1228725"/>
            <a:ext cx="16187738" cy="122098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16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 moves from alerting to autonomous remediation in four phases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1047750" y="2868811"/>
            <a:ext cx="3905250" cy="6751439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1285875" y="3125986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PHASE 1 · WEEKS 1–4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285875" y="3449836"/>
            <a:ext cx="3771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285875" y="3935611"/>
            <a:ext cx="3531870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714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Alert ingestion Incident creation Incident dashboard Auth · Postgres · Redis · Kafka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5143500" y="2868811"/>
            <a:ext cx="3905250" cy="6751439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5381625" y="3125986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PHASE 2 · WEEKS 5–8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5381625" y="3449836"/>
            <a:ext cx="3771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AI-assisted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5381625" y="3935611"/>
            <a:ext cx="3531870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714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RAG with PGVector AI incident summary Severity prediction Runbook recommendations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9239250" y="2868811"/>
            <a:ext cx="3905250" cy="6751439"/>
          </a:xfrm>
          <a:prstGeom prst="roundRect">
            <a:avLst>
              <a:gd fmla="val 1951" name="adj"/>
            </a:avLst>
          </a:prstGeom>
          <a:solidFill>
            <a:srgbClr val="FFFFFF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7"/>
          <p:cNvSpPr/>
          <p:nvPr/>
        </p:nvSpPr>
        <p:spPr>
          <a:xfrm>
            <a:off x="9477375" y="3125986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6FC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6FCF"/>
                </a:solidFill>
                <a:latin typeface="Arial"/>
                <a:ea typeface="Arial"/>
                <a:cs typeface="Arial"/>
                <a:sym typeface="Arial"/>
              </a:rPr>
              <a:t>PHASE 3 · WEEKS 9–12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9477375" y="3449836"/>
            <a:ext cx="3771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Multi-agent orchestration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9477375" y="3935611"/>
            <a:ext cx="3531870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714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Slack &amp; Jira integration Approval workflow AI-generated timelines AI postmortem generation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13335000" y="2868811"/>
            <a:ext cx="3905250" cy="6751439"/>
          </a:xfrm>
          <a:prstGeom prst="roundRect">
            <a:avLst>
              <a:gd fmla="val 1951" name="adj"/>
            </a:avLst>
          </a:prstGeom>
          <a:solidFill>
            <a:srgbClr val="0017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13563600" y="3116461"/>
            <a:ext cx="379285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E6F2FA"/>
                </a:solidFill>
                <a:latin typeface="Arial"/>
                <a:ea typeface="Arial"/>
                <a:cs typeface="Arial"/>
                <a:sym typeface="Arial"/>
              </a:rPr>
              <a:t>PHASE 4 · ENTERPRISE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13563600" y="3440311"/>
            <a:ext cx="3551492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Autonomous, with guardrails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13563600" y="4259461"/>
            <a:ext cx="3551492" cy="19810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714"/>
              </a:lnSpc>
              <a:spcBef>
                <a:spcPts val="0"/>
              </a:spcBef>
              <a:spcAft>
                <a:spcPts val="0"/>
              </a:spcAft>
              <a:buClr>
                <a:srgbClr val="E6F2F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6F2FA"/>
                </a:solidFill>
                <a:latin typeface="Arial"/>
                <a:ea typeface="Arial"/>
                <a:cs typeface="Arial"/>
                <a:sym typeface="Arial"/>
              </a:rPr>
              <a:t>Kubernetes automation Multi-tenant support Full audit trail Autonomous remediation with policy 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FC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/>
          <p:nvPr/>
        </p:nvSpPr>
        <p:spPr>
          <a:xfrm>
            <a:off x="1047750" y="3916114"/>
            <a:ext cx="16240125" cy="645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7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50"/>
              <a:buFont typeface="Arial"/>
              <a:buNone/>
            </a:pPr>
            <a:r>
              <a:rPr lang="en-US" sz="4050">
                <a:solidFill>
                  <a:srgbClr val="FFFFFF"/>
                </a:solidFill>
              </a:rPr>
              <a:t>Thank You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