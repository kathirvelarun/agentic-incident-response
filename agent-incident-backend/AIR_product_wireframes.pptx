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roles in Phase 1: SRE Engineer (view, triage, update status) and Incident Commander (adds Integrations and Settings access). No automation access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Primary dashboard: live agent pipeline at top, KPIs and compact incident list below.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Raw alerts from Monitoring, API and Slack sources; clicking a row starts AI Investigation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alerts from three sources collapse into a single incident so on-call is only paged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Investigation starts automatically after deduplication. Key Findings shown here; Create Incident is the only action available.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Incident is only created here, from the investigation. Summary is AI-generated with undo; status stepper starts at Investigating.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Incidents created by SRE Engineers; status is editable inline and Slack channels can be spun up per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tabs: Overview (shown here), Key Factors, RCA and Recommendation, Timeline.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Ranked hypotheses with confidence score and cited evidence — informational, no actions taken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Informational only in Phase 1 — no action buttons; the SRE Engineer decides and acts manually.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Manual execution in Phase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SRE Engineer updates status directly from the incident's Slack channel via /incident-status.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Auto-triggered on resolve. AI gathers incident, alert and Slack channel data into a structured retrospective.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generated retrospective — key information, timeline, impact, root cause, action items.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Threshold-based rules feeding the alert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Incident Commander access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Sparse KPI-first analytics 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Incident Commander access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5425" y="957977"/>
            <a:ext cx="7677150" cy="8371046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4764">
            <a:solidFill>
              <a:srgbClr val="D9D9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79957" y="1681401"/>
            <a:ext cx="3081487" cy="39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25" dirty="0">
                <a:solidFill>
                  <a:srgbClr val="006FC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AMERICAN EXPRESS</a:t>
            </a:r>
            <a:endParaRPr lang="en-US" sz="2325" dirty="0"/>
          </a:p>
        </p:txBody>
      </p:sp>
      <p:sp>
        <p:nvSpPr>
          <p:cNvPr id="4" name="Text 2"/>
          <p:cNvSpPr/>
          <p:nvPr/>
        </p:nvSpPr>
        <p:spPr>
          <a:xfrm>
            <a:off x="10119330" y="1688783"/>
            <a:ext cx="141945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dirty="0">
                <a:solidFill>
                  <a:srgbClr val="006FCF">
                    <a:alpha val="5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|</a:t>
            </a:r>
            <a:endParaRPr lang="en-US" sz="2325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32712" y="1703546"/>
            <a:ext cx="324802" cy="324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805152" y="1681401"/>
            <a:ext cx="578860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006FC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AIR</a:t>
            </a:r>
            <a:endParaRPr lang="en-US" sz="2325" dirty="0"/>
          </a:p>
        </p:txBody>
      </p:sp>
      <p:sp>
        <p:nvSpPr>
          <p:cNvPr id="7" name="Text 4"/>
          <p:cNvSpPr/>
          <p:nvPr/>
        </p:nvSpPr>
        <p:spPr>
          <a:xfrm>
            <a:off x="7663611" y="2227660"/>
            <a:ext cx="2960779" cy="3038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744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Incident Response</a:t>
            </a:r>
            <a:endParaRPr lang="en-US" sz="1744" dirty="0"/>
          </a:p>
        </p:txBody>
      </p:sp>
      <p:sp>
        <p:nvSpPr>
          <p:cNvPr id="8" name="Shape 5"/>
          <p:cNvSpPr/>
          <p:nvPr/>
        </p:nvSpPr>
        <p:spPr>
          <a:xfrm>
            <a:off x="5910739" y="2906792"/>
            <a:ext cx="6466522" cy="70866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4764">
            <a:solidFill>
              <a:srgbClr val="D9D9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61722" y="3098721"/>
            <a:ext cx="6158550" cy="3629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60" dirty="0">
                <a:solidFill>
                  <a:srgbClr val="6F6F6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you@americanexpress.com</a:t>
            </a:r>
            <a:endParaRPr lang="en-US" sz="1860" dirty="0"/>
          </a:p>
        </p:txBody>
      </p:sp>
      <p:sp>
        <p:nvSpPr>
          <p:cNvPr id="10" name="Shape 7"/>
          <p:cNvSpPr/>
          <p:nvPr/>
        </p:nvSpPr>
        <p:spPr>
          <a:xfrm>
            <a:off x="5910739" y="3792617"/>
            <a:ext cx="6466522" cy="70866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4764">
            <a:solidFill>
              <a:srgbClr val="D9D9D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61722" y="3984546"/>
            <a:ext cx="6158550" cy="3629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60" dirty="0">
                <a:solidFill>
                  <a:srgbClr val="6F6F6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••••••••</a:t>
            </a:r>
            <a:endParaRPr lang="en-US" sz="1860" dirty="0"/>
          </a:p>
        </p:txBody>
      </p:sp>
      <p:sp>
        <p:nvSpPr>
          <p:cNvPr id="12" name="Shape 9"/>
          <p:cNvSpPr/>
          <p:nvPr/>
        </p:nvSpPr>
        <p:spPr>
          <a:xfrm>
            <a:off x="5910739" y="4678442"/>
            <a:ext cx="1361956" cy="708660"/>
          </a:xfrm>
          <a:prstGeom prst="roundRect">
            <a:avLst>
              <a:gd name="adj" fmla="val 16667"/>
            </a:avLst>
          </a:prstGeom>
          <a:solidFill>
            <a:srgbClr val="006FCF"/>
          </a:solidFill>
          <a:ln/>
        </p:spPr>
      </p:sp>
      <p:sp>
        <p:nvSpPr>
          <p:cNvPr id="13" name="Text 10"/>
          <p:cNvSpPr/>
          <p:nvPr/>
        </p:nvSpPr>
        <p:spPr>
          <a:xfrm>
            <a:off x="6212205" y="4840843"/>
            <a:ext cx="759023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6316"/>
              </a:lnSpc>
              <a:buNone/>
            </a:pPr>
            <a:r>
              <a:rPr lang="en-US" sz="186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Log In</a:t>
            </a:r>
            <a:endParaRPr lang="en-US" sz="1860" dirty="0"/>
          </a:p>
        </p:txBody>
      </p:sp>
      <p:sp>
        <p:nvSpPr>
          <p:cNvPr id="14" name="Shape 11"/>
          <p:cNvSpPr/>
          <p:nvPr/>
        </p:nvSpPr>
        <p:spPr>
          <a:xfrm>
            <a:off x="7449860" y="4678442"/>
            <a:ext cx="2764973" cy="708660"/>
          </a:xfrm>
          <a:prstGeom prst="roundRect">
            <a:avLst>
              <a:gd name="adj" fmla="val 8333"/>
            </a:avLst>
          </a:prstGeom>
          <a:ln w="14764">
            <a:solidFill>
              <a:srgbClr val="006FC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62715" y="4855607"/>
            <a:ext cx="2139262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6316"/>
              </a:lnSpc>
              <a:buNone/>
            </a:pPr>
            <a:r>
              <a:rPr lang="en-US" sz="1860" dirty="0">
                <a:solidFill>
                  <a:srgbClr val="006FC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Continue with SSO</a:t>
            </a:r>
            <a:endParaRPr lang="en-US" sz="1860" dirty="0"/>
          </a:p>
        </p:txBody>
      </p:sp>
      <p:sp>
        <p:nvSpPr>
          <p:cNvPr id="16" name="Shape 13"/>
          <p:cNvSpPr/>
          <p:nvPr/>
        </p:nvSpPr>
        <p:spPr>
          <a:xfrm>
            <a:off x="5910739" y="5800487"/>
            <a:ext cx="6466522" cy="14764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7" name="Text 14"/>
          <p:cNvSpPr/>
          <p:nvPr/>
        </p:nvSpPr>
        <p:spPr>
          <a:xfrm>
            <a:off x="5910739" y="6140053"/>
            <a:ext cx="7113174" cy="289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27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your role to continue</a:t>
            </a:r>
            <a:endParaRPr lang="en-US" sz="1627" dirty="0"/>
          </a:p>
        </p:txBody>
      </p:sp>
      <p:sp>
        <p:nvSpPr>
          <p:cNvPr id="18" name="Shape 15"/>
          <p:cNvSpPr/>
          <p:nvPr/>
        </p:nvSpPr>
        <p:spPr>
          <a:xfrm>
            <a:off x="5910739" y="6538674"/>
            <a:ext cx="6466522" cy="974407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29528">
            <a:solidFill>
              <a:srgbClr val="006FC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46959" y="6774894"/>
            <a:ext cx="1585696" cy="3038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44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SRE Engineer</a:t>
            </a:r>
            <a:endParaRPr lang="en-US" sz="1744" dirty="0"/>
          </a:p>
        </p:txBody>
      </p:sp>
      <p:sp>
        <p:nvSpPr>
          <p:cNvPr id="20" name="Text 17"/>
          <p:cNvSpPr/>
          <p:nvPr/>
        </p:nvSpPr>
        <p:spPr>
          <a:xfrm>
            <a:off x="6146959" y="7040642"/>
            <a:ext cx="59692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11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&amp; triage alerts and incidents (Phase 1 — no automation)</a:t>
            </a:r>
            <a:endParaRPr lang="en-US" sz="1511" dirty="0"/>
          </a:p>
        </p:txBody>
      </p:sp>
      <p:sp>
        <p:nvSpPr>
          <p:cNvPr id="21" name="Shape 18"/>
          <p:cNvSpPr/>
          <p:nvPr/>
        </p:nvSpPr>
        <p:spPr>
          <a:xfrm>
            <a:off x="11875294" y="6893004"/>
            <a:ext cx="265747" cy="265748"/>
          </a:xfrm>
          <a:prstGeom prst="ellipse">
            <a:avLst/>
          </a:prstGeom>
          <a:solidFill>
            <a:srgbClr val="006FCF"/>
          </a:solidFill>
          <a:ln/>
        </p:spPr>
      </p:sp>
      <p:sp>
        <p:nvSpPr>
          <p:cNvPr id="22" name="Shape 19"/>
          <p:cNvSpPr/>
          <p:nvPr/>
        </p:nvSpPr>
        <p:spPr>
          <a:xfrm>
            <a:off x="5910739" y="7660719"/>
            <a:ext cx="6466522" cy="944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764">
            <a:solidFill>
              <a:srgbClr val="D9D9D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32195" y="7882175"/>
            <a:ext cx="2489561" cy="3038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44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Commander</a:t>
            </a:r>
            <a:endParaRPr lang="en-US" sz="1744" dirty="0"/>
          </a:p>
        </p:txBody>
      </p:sp>
      <p:sp>
        <p:nvSpPr>
          <p:cNvPr id="24" name="Text 21"/>
          <p:cNvSpPr/>
          <p:nvPr/>
        </p:nvSpPr>
        <p:spPr>
          <a:xfrm>
            <a:off x="6132195" y="8147923"/>
            <a:ext cx="475201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11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Engineer access, plus Integrations &amp; Settings</a:t>
            </a:r>
            <a:endParaRPr lang="en-US" sz="1511" dirty="0"/>
          </a:p>
        </p:txBody>
      </p:sp>
      <p:sp>
        <p:nvSpPr>
          <p:cNvPr id="25" name="Shape 22"/>
          <p:cNvSpPr/>
          <p:nvPr/>
        </p:nvSpPr>
        <p:spPr>
          <a:xfrm>
            <a:off x="11890058" y="8000286"/>
            <a:ext cx="265747" cy="265748"/>
          </a:xfrm>
          <a:prstGeom prst="ellipse">
            <a:avLst/>
          </a:prstGeom>
          <a:ln w="14764">
            <a:solidFill>
              <a:srgbClr val="D9D9D9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1643063"/>
            <a:ext cx="17068800" cy="7000875"/>
          </a:xfrm>
          <a:prstGeom prst="roundRect">
            <a:avLst>
              <a:gd name="adj" fmla="val 1524"/>
            </a:avLst>
          </a:prstGeom>
          <a:solidFill>
            <a:srgbClr val="FFFFFF"/>
          </a:solidFill>
          <a:ln w="13335">
            <a:solidFill>
              <a:srgbClr val="D9D9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2935" y="1656397"/>
            <a:ext cx="17042130" cy="853440"/>
          </a:xfrm>
          <a:prstGeom prst="rect">
            <a:avLst/>
          </a:prstGeom>
          <a:solidFill>
            <a:srgbClr val="006FCF"/>
          </a:solidFill>
          <a:ln/>
        </p:spPr>
      </p:sp>
      <p:sp>
        <p:nvSpPr>
          <p:cNvPr id="4" name="Text 2"/>
          <p:cNvSpPr/>
          <p:nvPr/>
        </p:nvSpPr>
        <p:spPr>
          <a:xfrm>
            <a:off x="942975" y="1963103"/>
            <a:ext cx="2124373" cy="278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AMERICAN EXPRESS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3097827" y="1963103"/>
            <a:ext cx="122039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0" kern="0" dirty="0">
                <a:solidFill>
                  <a:srgbClr val="FFFFFF">
                    <a:alpha val="5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|</a:t>
            </a:r>
            <a:endParaRPr lang="en-US" sz="157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50347" y="1963103"/>
            <a:ext cx="240030" cy="2400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597057" y="1963103"/>
            <a:ext cx="420826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1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AIR</a:t>
            </a:r>
            <a:endParaRPr lang="en-US" sz="1575" dirty="0"/>
          </a:p>
        </p:txBody>
      </p:sp>
      <p:sp>
        <p:nvSpPr>
          <p:cNvPr id="8" name="Text 5"/>
          <p:cNvSpPr/>
          <p:nvPr/>
        </p:nvSpPr>
        <p:spPr>
          <a:xfrm>
            <a:off x="4475083" y="1949768"/>
            <a:ext cx="58730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FFFFFF">
                    <a:alpha val="7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Alerts</a:t>
            </a:r>
            <a:endParaRPr lang="en-US" sz="1575" dirty="0"/>
          </a:p>
        </p:txBody>
      </p:sp>
      <p:sp>
        <p:nvSpPr>
          <p:cNvPr id="9" name="Shape 6"/>
          <p:cNvSpPr/>
          <p:nvPr/>
        </p:nvSpPr>
        <p:spPr>
          <a:xfrm>
            <a:off x="5199549" y="2296477"/>
            <a:ext cx="1364962" cy="2667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5359569" y="1949768"/>
            <a:ext cx="1121122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Dashboard</a:t>
            </a:r>
            <a:endParaRPr lang="en-US" sz="1575" dirty="0"/>
          </a:p>
        </p:txBody>
      </p:sp>
      <p:sp>
        <p:nvSpPr>
          <p:cNvPr id="11" name="Text 8"/>
          <p:cNvSpPr/>
          <p:nvPr/>
        </p:nvSpPr>
        <p:spPr>
          <a:xfrm>
            <a:off x="6777871" y="1949768"/>
            <a:ext cx="89130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FFFFFF">
                    <a:alpha val="7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Incidents</a:t>
            </a:r>
            <a:endParaRPr lang="en-US" sz="1575" dirty="0"/>
          </a:p>
        </p:txBody>
      </p:sp>
      <p:sp>
        <p:nvSpPr>
          <p:cNvPr id="12" name="Text 9"/>
          <p:cNvSpPr/>
          <p:nvPr/>
        </p:nvSpPr>
        <p:spPr>
          <a:xfrm>
            <a:off x="7966353" y="1949768"/>
            <a:ext cx="104298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FFFFFF">
                    <a:alpha val="7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Alert Rules</a:t>
            </a:r>
            <a:endParaRPr lang="en-US" sz="1575" dirty="0"/>
          </a:p>
        </p:txBody>
      </p:sp>
      <p:sp>
        <p:nvSpPr>
          <p:cNvPr id="13" name="Text 10"/>
          <p:cNvSpPr/>
          <p:nvPr/>
        </p:nvSpPr>
        <p:spPr>
          <a:xfrm>
            <a:off x="9306520" y="1949768"/>
            <a:ext cx="883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FFFFFF">
                    <a:alpha val="7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Analytics</a:t>
            </a:r>
            <a:endParaRPr lang="en-US" sz="1575" dirty="0"/>
          </a:p>
        </p:txBody>
      </p:sp>
      <p:sp>
        <p:nvSpPr>
          <p:cNvPr id="14" name="Text 11"/>
          <p:cNvSpPr/>
          <p:nvPr/>
        </p:nvSpPr>
        <p:spPr>
          <a:xfrm>
            <a:off x="10487501" y="1949768"/>
            <a:ext cx="113195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FFFFFF">
                    <a:alpha val="7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Integrations</a:t>
            </a:r>
            <a:endParaRPr lang="en-US" sz="1575" dirty="0"/>
          </a:p>
        </p:txBody>
      </p:sp>
      <p:sp>
        <p:nvSpPr>
          <p:cNvPr id="15" name="Text 12"/>
          <p:cNvSpPr/>
          <p:nvPr/>
        </p:nvSpPr>
        <p:spPr>
          <a:xfrm>
            <a:off x="11916638" y="1949768"/>
            <a:ext cx="80983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FFFFFF">
                    <a:alpha val="7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Settings</a:t>
            </a:r>
            <a:endParaRPr lang="en-US" sz="1575" dirty="0"/>
          </a:p>
        </p:txBody>
      </p:sp>
      <p:sp>
        <p:nvSpPr>
          <p:cNvPr id="16" name="Shape 13"/>
          <p:cNvSpPr/>
          <p:nvPr/>
        </p:nvSpPr>
        <p:spPr>
          <a:xfrm>
            <a:off x="16918305" y="1869758"/>
            <a:ext cx="426720" cy="426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16880205" y="1869758"/>
            <a:ext cx="502920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65" b="1" dirty="0">
                <a:solidFill>
                  <a:srgbClr val="006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</a:t>
            </a:r>
            <a:endParaRPr lang="en-US" sz="1365" dirty="0"/>
          </a:p>
        </p:txBody>
      </p:sp>
      <p:sp>
        <p:nvSpPr>
          <p:cNvPr id="18" name="Shape 15"/>
          <p:cNvSpPr/>
          <p:nvPr/>
        </p:nvSpPr>
        <p:spPr>
          <a:xfrm>
            <a:off x="942975" y="2829878"/>
            <a:ext cx="16402050" cy="1506855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13335">
            <a:solidFill>
              <a:srgbClr val="D9D9D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23010" y="3109913"/>
            <a:ext cx="17426177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9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agent pipeline — checkout-service P1</a:t>
            </a:r>
            <a:endParaRPr lang="en-US" sz="1890" dirty="0"/>
          </a:p>
        </p:txBody>
      </p:sp>
      <p:sp>
        <p:nvSpPr>
          <p:cNvPr id="20" name="Shape 17"/>
          <p:cNvSpPr/>
          <p:nvPr/>
        </p:nvSpPr>
        <p:spPr>
          <a:xfrm>
            <a:off x="1223010" y="3576638"/>
            <a:ext cx="889069" cy="480060"/>
          </a:xfrm>
          <a:prstGeom prst="roundRect">
            <a:avLst>
              <a:gd name="adj" fmla="val 22222"/>
            </a:avLst>
          </a:prstGeom>
          <a:solidFill>
            <a:srgbClr val="E6F2FA"/>
          </a:solidFill>
          <a:ln w="13335">
            <a:solidFill>
              <a:srgbClr val="006FC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423035" y="3709988"/>
            <a:ext cx="565219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65" dirty="0">
                <a:solidFill>
                  <a:srgbClr val="006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</a:t>
            </a:r>
            <a:endParaRPr lang="en-US" sz="1365" dirty="0"/>
          </a:p>
        </p:txBody>
      </p:sp>
      <p:sp>
        <p:nvSpPr>
          <p:cNvPr id="22" name="Text 19"/>
          <p:cNvSpPr/>
          <p:nvPr/>
        </p:nvSpPr>
        <p:spPr>
          <a:xfrm>
            <a:off x="2218759" y="3709988"/>
            <a:ext cx="232261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65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65" dirty="0"/>
          </a:p>
        </p:txBody>
      </p:sp>
      <p:sp>
        <p:nvSpPr>
          <p:cNvPr id="23" name="Shape 20"/>
          <p:cNvSpPr/>
          <p:nvPr/>
        </p:nvSpPr>
        <p:spPr>
          <a:xfrm>
            <a:off x="2481501" y="3576638"/>
            <a:ext cx="1412260" cy="480060"/>
          </a:xfrm>
          <a:prstGeom prst="roundRect">
            <a:avLst>
              <a:gd name="adj" fmla="val 22222"/>
            </a:avLst>
          </a:prstGeom>
          <a:solidFill>
            <a:srgbClr val="E6F2FA"/>
          </a:solidFill>
          <a:ln w="13335">
            <a:solidFill>
              <a:srgbClr val="006F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681526" y="3709988"/>
            <a:ext cx="1088410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65" dirty="0">
                <a:solidFill>
                  <a:srgbClr val="006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Analysis</a:t>
            </a:r>
            <a:endParaRPr lang="en-US" sz="1365" dirty="0"/>
          </a:p>
        </p:txBody>
      </p:sp>
      <p:sp>
        <p:nvSpPr>
          <p:cNvPr id="25" name="Text 22"/>
          <p:cNvSpPr/>
          <p:nvPr/>
        </p:nvSpPr>
        <p:spPr>
          <a:xfrm>
            <a:off x="4000440" y="3709988"/>
            <a:ext cx="232261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65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65" dirty="0"/>
          </a:p>
        </p:txBody>
      </p:sp>
      <p:sp>
        <p:nvSpPr>
          <p:cNvPr id="26" name="Shape 23"/>
          <p:cNvSpPr/>
          <p:nvPr/>
        </p:nvSpPr>
        <p:spPr>
          <a:xfrm>
            <a:off x="4263182" y="3576638"/>
            <a:ext cx="747802" cy="480060"/>
          </a:xfrm>
          <a:prstGeom prst="roundRect">
            <a:avLst>
              <a:gd name="adj" fmla="val 11111"/>
            </a:avLst>
          </a:prstGeom>
          <a:solidFill>
            <a:srgbClr val="F2F3F3"/>
          </a:solidFill>
          <a:ln w="13335">
            <a:solidFill>
              <a:srgbClr val="D9D9D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463207" y="3709988"/>
            <a:ext cx="423952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6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RCA</a:t>
            </a:r>
            <a:endParaRPr lang="en-US" sz="1365" dirty="0"/>
          </a:p>
        </p:txBody>
      </p:sp>
      <p:sp>
        <p:nvSpPr>
          <p:cNvPr id="28" name="Text 25"/>
          <p:cNvSpPr/>
          <p:nvPr/>
        </p:nvSpPr>
        <p:spPr>
          <a:xfrm>
            <a:off x="5117663" y="3709988"/>
            <a:ext cx="232261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65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65" dirty="0"/>
          </a:p>
        </p:txBody>
      </p:sp>
      <p:sp>
        <p:nvSpPr>
          <p:cNvPr id="29" name="Shape 26"/>
          <p:cNvSpPr/>
          <p:nvPr/>
        </p:nvSpPr>
        <p:spPr>
          <a:xfrm>
            <a:off x="5380404" y="3576638"/>
            <a:ext cx="1402884" cy="480060"/>
          </a:xfrm>
          <a:prstGeom prst="roundRect">
            <a:avLst>
              <a:gd name="adj" fmla="val 11111"/>
            </a:avLst>
          </a:prstGeom>
          <a:solidFill>
            <a:srgbClr val="F2F3F3"/>
          </a:solidFill>
          <a:ln w="13335">
            <a:solidFill>
              <a:srgbClr val="D9D9D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580429" y="3709988"/>
            <a:ext cx="1079034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65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Remediation</a:t>
            </a:r>
            <a:endParaRPr lang="en-US" sz="1365" dirty="0"/>
          </a:p>
        </p:txBody>
      </p:sp>
      <p:sp>
        <p:nvSpPr>
          <p:cNvPr id="31" name="Text 28"/>
          <p:cNvSpPr/>
          <p:nvPr/>
        </p:nvSpPr>
        <p:spPr>
          <a:xfrm>
            <a:off x="6889968" y="3709988"/>
            <a:ext cx="232261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65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65" dirty="0"/>
          </a:p>
        </p:txBody>
      </p:sp>
      <p:sp>
        <p:nvSpPr>
          <p:cNvPr id="32" name="Shape 29"/>
          <p:cNvSpPr/>
          <p:nvPr/>
        </p:nvSpPr>
        <p:spPr>
          <a:xfrm>
            <a:off x="7152709" y="3576638"/>
            <a:ext cx="1114098" cy="480060"/>
          </a:xfrm>
          <a:prstGeom prst="roundRect">
            <a:avLst>
              <a:gd name="adj" fmla="val 11111"/>
            </a:avLst>
          </a:prstGeom>
          <a:solidFill>
            <a:srgbClr val="F2F3F3"/>
          </a:solidFill>
          <a:ln w="13335">
            <a:solidFill>
              <a:srgbClr val="D9D9D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352734" y="3709988"/>
            <a:ext cx="790248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65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Runbook</a:t>
            </a:r>
            <a:endParaRPr lang="en-US" sz="1365" dirty="0"/>
          </a:p>
        </p:txBody>
      </p:sp>
      <p:sp>
        <p:nvSpPr>
          <p:cNvPr id="34" name="Shape 31"/>
          <p:cNvSpPr/>
          <p:nvPr/>
        </p:nvSpPr>
        <p:spPr>
          <a:xfrm>
            <a:off x="942975" y="4603432"/>
            <a:ext cx="3940492" cy="1066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335">
            <a:solidFill>
              <a:srgbClr val="D9D9D9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169670" y="4830128"/>
            <a:ext cx="3835812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65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incidents</a:t>
            </a:r>
            <a:endParaRPr lang="en-US" sz="1365" dirty="0"/>
          </a:p>
        </p:txBody>
      </p:sp>
      <p:sp>
        <p:nvSpPr>
          <p:cNvPr id="36" name="Text 33"/>
          <p:cNvSpPr/>
          <p:nvPr/>
        </p:nvSpPr>
        <p:spPr>
          <a:xfrm>
            <a:off x="1169670" y="5043488"/>
            <a:ext cx="383581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3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730" dirty="0"/>
          </a:p>
        </p:txBody>
      </p:sp>
      <p:sp>
        <p:nvSpPr>
          <p:cNvPr id="37" name="Shape 34"/>
          <p:cNvSpPr/>
          <p:nvPr/>
        </p:nvSpPr>
        <p:spPr>
          <a:xfrm>
            <a:off x="5096827" y="4603432"/>
            <a:ext cx="3940493" cy="1066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335">
            <a:solidFill>
              <a:srgbClr val="D9D9D9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323523" y="4830128"/>
            <a:ext cx="3835812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65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MTTR (7d)</a:t>
            </a:r>
            <a:endParaRPr lang="en-US" sz="1365" dirty="0"/>
          </a:p>
        </p:txBody>
      </p:sp>
      <p:sp>
        <p:nvSpPr>
          <p:cNvPr id="39" name="Text 36"/>
          <p:cNvSpPr/>
          <p:nvPr/>
        </p:nvSpPr>
        <p:spPr>
          <a:xfrm>
            <a:off x="5323523" y="5043488"/>
            <a:ext cx="383581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3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18m</a:t>
            </a:r>
            <a:endParaRPr lang="en-US" sz="2730" dirty="0"/>
          </a:p>
        </p:txBody>
      </p:sp>
      <p:sp>
        <p:nvSpPr>
          <p:cNvPr id="40" name="Shape 37"/>
          <p:cNvSpPr/>
          <p:nvPr/>
        </p:nvSpPr>
        <p:spPr>
          <a:xfrm>
            <a:off x="9250680" y="4603432"/>
            <a:ext cx="3940493" cy="1066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335">
            <a:solidFill>
              <a:srgbClr val="D9D9D9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477375" y="4830128"/>
            <a:ext cx="3835812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65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Triaged</a:t>
            </a:r>
            <a:endParaRPr lang="en-US" sz="1365" dirty="0"/>
          </a:p>
        </p:txBody>
      </p:sp>
      <p:sp>
        <p:nvSpPr>
          <p:cNvPr id="42" name="Text 39"/>
          <p:cNvSpPr/>
          <p:nvPr/>
        </p:nvSpPr>
        <p:spPr>
          <a:xfrm>
            <a:off x="9477375" y="5043488"/>
            <a:ext cx="383581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3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730" dirty="0"/>
          </a:p>
        </p:txBody>
      </p:sp>
      <p:sp>
        <p:nvSpPr>
          <p:cNvPr id="43" name="Shape 40"/>
          <p:cNvSpPr/>
          <p:nvPr/>
        </p:nvSpPr>
        <p:spPr>
          <a:xfrm>
            <a:off x="13404532" y="4603432"/>
            <a:ext cx="3940493" cy="1066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335">
            <a:solidFill>
              <a:srgbClr val="D9D9D9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3631227" y="4830128"/>
            <a:ext cx="3835812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65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</a:t>
            </a:r>
            <a:endParaRPr lang="en-US" sz="1365" dirty="0"/>
          </a:p>
        </p:txBody>
      </p:sp>
      <p:sp>
        <p:nvSpPr>
          <p:cNvPr id="45" name="Text 42"/>
          <p:cNvSpPr/>
          <p:nvPr/>
        </p:nvSpPr>
        <p:spPr>
          <a:xfrm>
            <a:off x="13631227" y="5043488"/>
            <a:ext cx="383581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3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99.2%</a:t>
            </a:r>
            <a:endParaRPr lang="en-US" sz="2730" dirty="0"/>
          </a:p>
        </p:txBody>
      </p:sp>
      <p:sp>
        <p:nvSpPr>
          <p:cNvPr id="46" name="Shape 43"/>
          <p:cNvSpPr/>
          <p:nvPr/>
        </p:nvSpPr>
        <p:spPr>
          <a:xfrm>
            <a:off x="942975" y="5936932"/>
            <a:ext cx="16402050" cy="237363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3335">
            <a:solidFill>
              <a:srgbClr val="D9D9D9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1223010" y="6216967"/>
            <a:ext cx="17426177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9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incidents (compact)</a:t>
            </a:r>
            <a:endParaRPr lang="en-US" sz="1890" dirty="0"/>
          </a:p>
        </p:txBody>
      </p:sp>
      <p:sp>
        <p:nvSpPr>
          <p:cNvPr id="48" name="Shape 45"/>
          <p:cNvSpPr/>
          <p:nvPr/>
        </p:nvSpPr>
        <p:spPr>
          <a:xfrm>
            <a:off x="1223010" y="7017067"/>
            <a:ext cx="15841980" cy="13335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49" name="Text 46"/>
          <p:cNvSpPr/>
          <p:nvPr/>
        </p:nvSpPr>
        <p:spPr>
          <a:xfrm>
            <a:off x="1223010" y="6657022"/>
            <a:ext cx="609600" cy="26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</a:t>
            </a:r>
            <a:endParaRPr lang="en-US" sz="1470" dirty="0"/>
          </a:p>
        </p:txBody>
      </p:sp>
      <p:sp>
        <p:nvSpPr>
          <p:cNvPr id="50" name="Text 47"/>
          <p:cNvSpPr/>
          <p:nvPr/>
        </p:nvSpPr>
        <p:spPr>
          <a:xfrm>
            <a:off x="1969770" y="6657022"/>
            <a:ext cx="12614909" cy="26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</a:t>
            </a:r>
            <a:endParaRPr lang="en-US" sz="1470" dirty="0"/>
          </a:p>
        </p:txBody>
      </p:sp>
      <p:sp>
        <p:nvSpPr>
          <p:cNvPr id="51" name="Text 48"/>
          <p:cNvSpPr/>
          <p:nvPr/>
        </p:nvSpPr>
        <p:spPr>
          <a:xfrm>
            <a:off x="13651230" y="6657022"/>
            <a:ext cx="2346960" cy="26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</a:t>
            </a:r>
            <a:endParaRPr lang="en-US" sz="1470" dirty="0"/>
          </a:p>
        </p:txBody>
      </p:sp>
      <p:sp>
        <p:nvSpPr>
          <p:cNvPr id="52" name="Text 49"/>
          <p:cNvSpPr/>
          <p:nvPr/>
        </p:nvSpPr>
        <p:spPr>
          <a:xfrm>
            <a:off x="15998190" y="6657022"/>
            <a:ext cx="1143000" cy="26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</a:t>
            </a:r>
            <a:endParaRPr lang="en-US" sz="1470" dirty="0"/>
          </a:p>
        </p:txBody>
      </p:sp>
      <p:sp>
        <p:nvSpPr>
          <p:cNvPr id="53" name="Shape 50"/>
          <p:cNvSpPr/>
          <p:nvPr/>
        </p:nvSpPr>
        <p:spPr>
          <a:xfrm>
            <a:off x="1223010" y="7523797"/>
            <a:ext cx="15841980" cy="13335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4" name="Text 51"/>
          <p:cNvSpPr/>
          <p:nvPr/>
        </p:nvSpPr>
        <p:spPr>
          <a:xfrm>
            <a:off x="1223010" y="7163752"/>
            <a:ext cx="609600" cy="26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C4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470" dirty="0"/>
          </a:p>
        </p:txBody>
      </p:sp>
      <p:sp>
        <p:nvSpPr>
          <p:cNvPr id="55" name="Text 52"/>
          <p:cNvSpPr/>
          <p:nvPr/>
        </p:nvSpPr>
        <p:spPr>
          <a:xfrm>
            <a:off x="1969770" y="7163752"/>
            <a:ext cx="12614909" cy="26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checkout-service — errors</a:t>
            </a:r>
            <a:endParaRPr lang="en-US" sz="1470" dirty="0"/>
          </a:p>
        </p:txBody>
      </p:sp>
      <p:sp>
        <p:nvSpPr>
          <p:cNvPr id="56" name="Text 53"/>
          <p:cNvSpPr/>
          <p:nvPr/>
        </p:nvSpPr>
        <p:spPr>
          <a:xfrm>
            <a:off x="13651230" y="7163752"/>
            <a:ext cx="2346960" cy="26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RCA</a:t>
            </a:r>
            <a:endParaRPr lang="en-US" sz="1470" dirty="0"/>
          </a:p>
        </p:txBody>
      </p:sp>
      <p:sp>
        <p:nvSpPr>
          <p:cNvPr id="57" name="Text 54"/>
          <p:cNvSpPr/>
          <p:nvPr/>
        </p:nvSpPr>
        <p:spPr>
          <a:xfrm>
            <a:off x="15998190" y="7163752"/>
            <a:ext cx="1143000" cy="26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6m</a:t>
            </a:r>
            <a:endParaRPr lang="en-US" sz="1470" dirty="0"/>
          </a:p>
        </p:txBody>
      </p:sp>
      <p:sp>
        <p:nvSpPr>
          <p:cNvPr id="58" name="Text 55"/>
          <p:cNvSpPr/>
          <p:nvPr/>
        </p:nvSpPr>
        <p:spPr>
          <a:xfrm>
            <a:off x="1223010" y="7670482"/>
            <a:ext cx="609600" cy="26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470" dirty="0"/>
          </a:p>
        </p:txBody>
      </p:sp>
      <p:sp>
        <p:nvSpPr>
          <p:cNvPr id="59" name="Text 56"/>
          <p:cNvSpPr/>
          <p:nvPr/>
        </p:nvSpPr>
        <p:spPr>
          <a:xfrm>
            <a:off x="1969770" y="7670482"/>
            <a:ext cx="12614909" cy="26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payments-api — latency</a:t>
            </a:r>
            <a:endParaRPr lang="en-US" sz="1470" dirty="0"/>
          </a:p>
        </p:txBody>
      </p:sp>
      <p:sp>
        <p:nvSpPr>
          <p:cNvPr id="60" name="Text 57"/>
          <p:cNvSpPr/>
          <p:nvPr/>
        </p:nvSpPr>
        <p:spPr>
          <a:xfrm>
            <a:off x="13651230" y="7670482"/>
            <a:ext cx="2346960" cy="26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</a:t>
            </a:r>
            <a:endParaRPr lang="en-US" sz="1470" dirty="0"/>
          </a:p>
        </p:txBody>
      </p:sp>
      <p:sp>
        <p:nvSpPr>
          <p:cNvPr id="61" name="Text 58"/>
          <p:cNvSpPr/>
          <p:nvPr/>
        </p:nvSpPr>
        <p:spPr>
          <a:xfrm>
            <a:off x="15998190" y="7670482"/>
            <a:ext cx="1143000" cy="26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22m</a:t>
            </a:r>
            <a:endParaRPr lang="en-US" sz="14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463165"/>
            <a:ext cx="17068800" cy="5360670"/>
          </a:xfrm>
          <a:prstGeom prst="roundRect">
            <a:avLst>
              <a:gd name="adj" fmla="val 1990"/>
            </a:avLst>
          </a:prstGeom>
          <a:solidFill>
            <a:srgbClr val="FFFFFF"/>
          </a:solidFill>
          <a:ln w="13335">
            <a:solidFill>
              <a:srgbClr val="D9D9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2935" y="2476500"/>
            <a:ext cx="17042130" cy="853440"/>
          </a:xfrm>
          <a:prstGeom prst="rect">
            <a:avLst/>
          </a:prstGeom>
          <a:solidFill>
            <a:srgbClr val="006FCF"/>
          </a:solidFill>
          <a:ln/>
        </p:spPr>
      </p:sp>
      <p:sp>
        <p:nvSpPr>
          <p:cNvPr id="4" name="Text 2"/>
          <p:cNvSpPr/>
          <p:nvPr/>
        </p:nvSpPr>
        <p:spPr>
          <a:xfrm>
            <a:off x="942975" y="2783205"/>
            <a:ext cx="2124373" cy="278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AMERICAN EXPRESS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3097827" y="2783205"/>
            <a:ext cx="122039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0" kern="0" dirty="0">
                <a:solidFill>
                  <a:srgbClr val="FFFFFF">
                    <a:alpha val="5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|</a:t>
            </a:r>
            <a:endParaRPr lang="en-US" sz="157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50347" y="2783205"/>
            <a:ext cx="240030" cy="2400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597057" y="2783205"/>
            <a:ext cx="420826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1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AIR</a:t>
            </a:r>
            <a:endParaRPr lang="en-US" sz="1575" dirty="0"/>
          </a:p>
        </p:txBody>
      </p:sp>
      <p:sp>
        <p:nvSpPr>
          <p:cNvPr id="8" name="Shape 5"/>
          <p:cNvSpPr/>
          <p:nvPr/>
        </p:nvSpPr>
        <p:spPr>
          <a:xfrm>
            <a:off x="4315063" y="3116580"/>
            <a:ext cx="879277" cy="2667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4475083" y="2769870"/>
            <a:ext cx="635437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Alerts</a:t>
            </a:r>
            <a:endParaRPr lang="en-US" sz="1575" dirty="0"/>
          </a:p>
        </p:txBody>
      </p:sp>
      <p:sp>
        <p:nvSpPr>
          <p:cNvPr id="10" name="Text 7"/>
          <p:cNvSpPr/>
          <p:nvPr/>
        </p:nvSpPr>
        <p:spPr>
          <a:xfrm>
            <a:off x="5407700" y="2769870"/>
            <a:ext cx="105819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FFFFFF">
                    <a:alpha val="7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Dashboard</a:t>
            </a:r>
            <a:endParaRPr lang="en-US" sz="1575" dirty="0"/>
          </a:p>
        </p:txBody>
      </p:sp>
      <p:sp>
        <p:nvSpPr>
          <p:cNvPr id="11" name="Text 8"/>
          <p:cNvSpPr/>
          <p:nvPr/>
        </p:nvSpPr>
        <p:spPr>
          <a:xfrm>
            <a:off x="6763077" y="2769870"/>
            <a:ext cx="89130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FFFFFF">
                    <a:alpha val="7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Incidents</a:t>
            </a:r>
            <a:endParaRPr lang="en-US" sz="1575" dirty="0"/>
          </a:p>
        </p:txBody>
      </p:sp>
      <p:sp>
        <p:nvSpPr>
          <p:cNvPr id="12" name="Text 9"/>
          <p:cNvSpPr/>
          <p:nvPr/>
        </p:nvSpPr>
        <p:spPr>
          <a:xfrm>
            <a:off x="7951559" y="2769870"/>
            <a:ext cx="104298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FFFFFF">
                    <a:alpha val="7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Alert Rules</a:t>
            </a:r>
            <a:endParaRPr lang="en-US" sz="1575" dirty="0"/>
          </a:p>
        </p:txBody>
      </p:sp>
      <p:sp>
        <p:nvSpPr>
          <p:cNvPr id="13" name="Text 10"/>
          <p:cNvSpPr/>
          <p:nvPr/>
        </p:nvSpPr>
        <p:spPr>
          <a:xfrm>
            <a:off x="9291727" y="2769870"/>
            <a:ext cx="88380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FFFFFF">
                    <a:alpha val="7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Analytics</a:t>
            </a:r>
            <a:endParaRPr lang="en-US" sz="1575" dirty="0"/>
          </a:p>
        </p:txBody>
      </p:sp>
      <p:sp>
        <p:nvSpPr>
          <p:cNvPr id="14" name="Text 11"/>
          <p:cNvSpPr/>
          <p:nvPr/>
        </p:nvSpPr>
        <p:spPr>
          <a:xfrm>
            <a:off x="10472707" y="2769870"/>
            <a:ext cx="113195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FFFFFF">
                    <a:alpha val="7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Integrations</a:t>
            </a:r>
            <a:endParaRPr lang="en-US" sz="1575" dirty="0"/>
          </a:p>
        </p:txBody>
      </p:sp>
      <p:sp>
        <p:nvSpPr>
          <p:cNvPr id="15" name="Text 12"/>
          <p:cNvSpPr/>
          <p:nvPr/>
        </p:nvSpPr>
        <p:spPr>
          <a:xfrm>
            <a:off x="11901844" y="2769870"/>
            <a:ext cx="80983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FFFFFF">
                    <a:alpha val="7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Settings</a:t>
            </a:r>
            <a:endParaRPr lang="en-US" sz="1575" dirty="0"/>
          </a:p>
        </p:txBody>
      </p:sp>
      <p:sp>
        <p:nvSpPr>
          <p:cNvPr id="16" name="Shape 13"/>
          <p:cNvSpPr/>
          <p:nvPr/>
        </p:nvSpPr>
        <p:spPr>
          <a:xfrm>
            <a:off x="16918305" y="2689860"/>
            <a:ext cx="426720" cy="426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16880205" y="2689860"/>
            <a:ext cx="502920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65" b="1" dirty="0">
                <a:solidFill>
                  <a:srgbClr val="006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</a:t>
            </a:r>
            <a:endParaRPr lang="en-US" sz="1365" dirty="0"/>
          </a:p>
        </p:txBody>
      </p:sp>
      <p:sp>
        <p:nvSpPr>
          <p:cNvPr id="18" name="Text 15"/>
          <p:cNvSpPr/>
          <p:nvPr/>
        </p:nvSpPr>
        <p:spPr>
          <a:xfrm>
            <a:off x="942975" y="3796665"/>
            <a:ext cx="846505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1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</a:t>
            </a:r>
            <a:endParaRPr lang="en-US" sz="2310" dirty="0"/>
          </a:p>
        </p:txBody>
      </p:sp>
      <p:sp>
        <p:nvSpPr>
          <p:cNvPr id="19" name="Shape 16"/>
          <p:cNvSpPr/>
          <p:nvPr/>
        </p:nvSpPr>
        <p:spPr>
          <a:xfrm>
            <a:off x="15585222" y="3649980"/>
            <a:ext cx="1759803" cy="640080"/>
          </a:xfrm>
          <a:prstGeom prst="roundRect">
            <a:avLst>
              <a:gd name="adj" fmla="val 16667"/>
            </a:avLst>
          </a:prstGeom>
          <a:solidFill>
            <a:srgbClr val="006FCF"/>
          </a:solidFill>
          <a:ln/>
        </p:spPr>
      </p:sp>
      <p:sp>
        <p:nvSpPr>
          <p:cNvPr id="20" name="Text 17"/>
          <p:cNvSpPr/>
          <p:nvPr/>
        </p:nvSpPr>
        <p:spPr>
          <a:xfrm>
            <a:off x="15853827" y="3796665"/>
            <a:ext cx="1222593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6316"/>
              </a:lnSpc>
              <a:buNone/>
            </a:pPr>
            <a:r>
              <a:rPr lang="en-US" sz="168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Create alert</a:t>
            </a:r>
            <a:endParaRPr lang="en-US" sz="1680" dirty="0"/>
          </a:p>
        </p:txBody>
      </p:sp>
      <p:sp>
        <p:nvSpPr>
          <p:cNvPr id="21" name="Shape 18"/>
          <p:cNvSpPr/>
          <p:nvPr/>
        </p:nvSpPr>
        <p:spPr>
          <a:xfrm>
            <a:off x="942975" y="4503420"/>
            <a:ext cx="16402050" cy="210693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3335">
            <a:solidFill>
              <a:srgbClr val="D9D9D9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56310" y="5050155"/>
            <a:ext cx="16375380" cy="13335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3" name="Text 20"/>
          <p:cNvSpPr/>
          <p:nvPr/>
        </p:nvSpPr>
        <p:spPr>
          <a:xfrm>
            <a:off x="1676400" y="4676775"/>
            <a:ext cx="1143000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65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endParaRPr lang="en-US" sz="1365" dirty="0"/>
          </a:p>
        </p:txBody>
      </p:sp>
      <p:sp>
        <p:nvSpPr>
          <p:cNvPr id="24" name="Text 21"/>
          <p:cNvSpPr/>
          <p:nvPr/>
        </p:nvSpPr>
        <p:spPr>
          <a:xfrm>
            <a:off x="2929890" y="4676775"/>
            <a:ext cx="5632704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65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365" dirty="0"/>
          </a:p>
        </p:txBody>
      </p:sp>
      <p:sp>
        <p:nvSpPr>
          <p:cNvPr id="25" name="Text 22"/>
          <p:cNvSpPr/>
          <p:nvPr/>
        </p:nvSpPr>
        <p:spPr>
          <a:xfrm>
            <a:off x="8237220" y="4676775"/>
            <a:ext cx="1906906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65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1365" dirty="0"/>
          </a:p>
        </p:txBody>
      </p:sp>
      <p:sp>
        <p:nvSpPr>
          <p:cNvPr id="26" name="Text 23"/>
          <p:cNvSpPr/>
          <p:nvPr/>
        </p:nvSpPr>
        <p:spPr>
          <a:xfrm>
            <a:off x="10157459" y="4676775"/>
            <a:ext cx="1613536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65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on</a:t>
            </a:r>
            <a:endParaRPr lang="en-US" sz="1365" dirty="0"/>
          </a:p>
        </p:txBody>
      </p:sp>
      <p:sp>
        <p:nvSpPr>
          <p:cNvPr id="27" name="Text 24"/>
          <p:cNvSpPr/>
          <p:nvPr/>
        </p:nvSpPr>
        <p:spPr>
          <a:xfrm>
            <a:off x="11811000" y="4676775"/>
            <a:ext cx="220027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65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 / status</a:t>
            </a:r>
            <a:endParaRPr lang="en-US" sz="1365" dirty="0"/>
          </a:p>
        </p:txBody>
      </p:sp>
      <p:sp>
        <p:nvSpPr>
          <p:cNvPr id="28" name="Text 25"/>
          <p:cNvSpPr/>
          <p:nvPr/>
        </p:nvSpPr>
        <p:spPr>
          <a:xfrm>
            <a:off x="13997940" y="4676775"/>
            <a:ext cx="2053590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65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 incident</a:t>
            </a:r>
            <a:endParaRPr lang="en-US" sz="1365" dirty="0"/>
          </a:p>
        </p:txBody>
      </p:sp>
      <p:sp>
        <p:nvSpPr>
          <p:cNvPr id="29" name="Text 26"/>
          <p:cNvSpPr/>
          <p:nvPr/>
        </p:nvSpPr>
        <p:spPr>
          <a:xfrm>
            <a:off x="16051530" y="4676775"/>
            <a:ext cx="1143000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65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</a:t>
            </a:r>
            <a:endParaRPr lang="en-US" sz="1365" dirty="0"/>
          </a:p>
        </p:txBody>
      </p:sp>
      <p:sp>
        <p:nvSpPr>
          <p:cNvPr id="30" name="Shape 27"/>
          <p:cNvSpPr/>
          <p:nvPr/>
        </p:nvSpPr>
        <p:spPr>
          <a:xfrm>
            <a:off x="956310" y="5890260"/>
            <a:ext cx="16375380" cy="13335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31" name="Shape 28"/>
          <p:cNvSpPr/>
          <p:nvPr/>
        </p:nvSpPr>
        <p:spPr>
          <a:xfrm>
            <a:off x="1169670" y="5370195"/>
            <a:ext cx="213360" cy="213360"/>
          </a:xfrm>
          <a:prstGeom prst="roundRect">
            <a:avLst>
              <a:gd name="adj" fmla="val 18750"/>
            </a:avLst>
          </a:prstGeom>
          <a:ln w="13335">
            <a:solidFill>
              <a:srgbClr val="D9D9D9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676400" y="5363527"/>
            <a:ext cx="1143000" cy="26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006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4409234</a:t>
            </a:r>
            <a:endParaRPr lang="en-US" sz="1470" dirty="0"/>
          </a:p>
        </p:txBody>
      </p:sp>
      <p:sp>
        <p:nvSpPr>
          <p:cNvPr id="33" name="Text 30"/>
          <p:cNvSpPr/>
          <p:nvPr/>
        </p:nvSpPr>
        <p:spPr>
          <a:xfrm>
            <a:off x="2929890" y="5250180"/>
            <a:ext cx="5274260" cy="49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[WARNING] High write latency | Component: AuthDiskSystem</a:t>
            </a:r>
            <a:endParaRPr lang="en-US" sz="1470" dirty="0"/>
          </a:p>
        </p:txBody>
      </p:sp>
      <p:sp>
        <p:nvSpPr>
          <p:cNvPr id="34" name="Text 31"/>
          <p:cNvSpPr/>
          <p:nvPr/>
        </p:nvSpPr>
        <p:spPr>
          <a:xfrm>
            <a:off x="8237220" y="5323523"/>
            <a:ext cx="316230" cy="344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1470" dirty="0"/>
          </a:p>
        </p:txBody>
      </p:sp>
      <p:sp>
        <p:nvSpPr>
          <p:cNvPr id="35" name="Text 32"/>
          <p:cNvSpPr/>
          <p:nvPr/>
        </p:nvSpPr>
        <p:spPr>
          <a:xfrm>
            <a:off x="8557260" y="5250180"/>
            <a:ext cx="1001524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(ELK)</a:t>
            </a:r>
            <a:endParaRPr lang="en-US" sz="1470" dirty="0"/>
          </a:p>
        </p:txBody>
      </p:sp>
      <p:sp>
        <p:nvSpPr>
          <p:cNvPr id="36" name="Text 33"/>
          <p:cNvSpPr/>
          <p:nvPr/>
        </p:nvSpPr>
        <p:spPr>
          <a:xfrm>
            <a:off x="10157459" y="5250180"/>
            <a:ext cx="1543051" cy="49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few seconds ago</a:t>
            </a:r>
            <a:endParaRPr lang="en-US" sz="1470" dirty="0"/>
          </a:p>
        </p:txBody>
      </p:sp>
      <p:sp>
        <p:nvSpPr>
          <p:cNvPr id="37" name="Shape 34"/>
          <p:cNvSpPr/>
          <p:nvPr/>
        </p:nvSpPr>
        <p:spPr>
          <a:xfrm>
            <a:off x="11811000" y="5336857"/>
            <a:ext cx="1139100" cy="280035"/>
          </a:xfrm>
          <a:prstGeom prst="roundRect">
            <a:avLst>
              <a:gd name="adj" fmla="val 50000"/>
            </a:avLst>
          </a:prstGeom>
          <a:solidFill>
            <a:srgbClr val="E6F2FA"/>
          </a:solidFill>
          <a:ln/>
        </p:spPr>
      </p:sp>
      <p:sp>
        <p:nvSpPr>
          <p:cNvPr id="38" name="Text 35"/>
          <p:cNvSpPr/>
          <p:nvPr/>
        </p:nvSpPr>
        <p:spPr>
          <a:xfrm>
            <a:off x="11944350" y="5376862"/>
            <a:ext cx="9486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006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Validating…</a:t>
            </a:r>
            <a:endParaRPr lang="en-US" sz="1260" dirty="0"/>
          </a:p>
        </p:txBody>
      </p:sp>
      <p:sp>
        <p:nvSpPr>
          <p:cNvPr id="39" name="Text 36"/>
          <p:cNvSpPr/>
          <p:nvPr/>
        </p:nvSpPr>
        <p:spPr>
          <a:xfrm>
            <a:off x="13997940" y="5363527"/>
            <a:ext cx="2053590" cy="26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470" dirty="0"/>
          </a:p>
        </p:txBody>
      </p:sp>
      <p:sp>
        <p:nvSpPr>
          <p:cNvPr id="40" name="Text 37"/>
          <p:cNvSpPr/>
          <p:nvPr/>
        </p:nvSpPr>
        <p:spPr>
          <a:xfrm>
            <a:off x="16051530" y="5363527"/>
            <a:ext cx="1143000" cy="26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C4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470" dirty="0"/>
          </a:p>
        </p:txBody>
      </p:sp>
      <p:sp>
        <p:nvSpPr>
          <p:cNvPr id="41" name="Shape 38"/>
          <p:cNvSpPr/>
          <p:nvPr/>
        </p:nvSpPr>
        <p:spPr>
          <a:xfrm>
            <a:off x="956310" y="6583680"/>
            <a:ext cx="16375380" cy="13335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42" name="Shape 39"/>
          <p:cNvSpPr/>
          <p:nvPr/>
        </p:nvSpPr>
        <p:spPr>
          <a:xfrm>
            <a:off x="1169670" y="6136957"/>
            <a:ext cx="213360" cy="213360"/>
          </a:xfrm>
          <a:prstGeom prst="roundRect">
            <a:avLst>
              <a:gd name="adj" fmla="val 18750"/>
            </a:avLst>
          </a:prstGeom>
          <a:ln w="13335">
            <a:solidFill>
              <a:srgbClr val="D9D9D9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676400" y="6130290"/>
            <a:ext cx="1143000" cy="26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006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4409231</a:t>
            </a:r>
            <a:endParaRPr lang="en-US" sz="1470" dirty="0"/>
          </a:p>
        </p:txBody>
      </p:sp>
      <p:sp>
        <p:nvSpPr>
          <p:cNvPr id="44" name="Text 41"/>
          <p:cNvSpPr/>
          <p:nvPr/>
        </p:nvSpPr>
        <p:spPr>
          <a:xfrm>
            <a:off x="2929890" y="6130290"/>
            <a:ext cx="5632704" cy="26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 error_rate &gt; 5% for 2m on checkout-svc</a:t>
            </a:r>
            <a:endParaRPr lang="en-US" sz="1470" dirty="0"/>
          </a:p>
        </p:txBody>
      </p:sp>
      <p:sp>
        <p:nvSpPr>
          <p:cNvPr id="45" name="Text 42"/>
          <p:cNvSpPr/>
          <p:nvPr/>
        </p:nvSpPr>
        <p:spPr>
          <a:xfrm>
            <a:off x="8237220" y="6090285"/>
            <a:ext cx="316230" cy="344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🔌</a:t>
            </a:r>
            <a:endParaRPr lang="en-US" sz="1470" dirty="0"/>
          </a:p>
        </p:txBody>
      </p:sp>
      <p:sp>
        <p:nvSpPr>
          <p:cNvPr id="46" name="Text 43"/>
          <p:cNvSpPr/>
          <p:nvPr/>
        </p:nvSpPr>
        <p:spPr>
          <a:xfrm>
            <a:off x="8557260" y="6130290"/>
            <a:ext cx="364570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470" dirty="0"/>
          </a:p>
        </p:txBody>
      </p:sp>
      <p:sp>
        <p:nvSpPr>
          <p:cNvPr id="47" name="Text 44"/>
          <p:cNvSpPr/>
          <p:nvPr/>
        </p:nvSpPr>
        <p:spPr>
          <a:xfrm>
            <a:off x="10157459" y="6130290"/>
            <a:ext cx="1613536" cy="26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6m ago</a:t>
            </a:r>
            <a:endParaRPr lang="en-US" sz="1470" dirty="0"/>
          </a:p>
        </p:txBody>
      </p:sp>
      <p:sp>
        <p:nvSpPr>
          <p:cNvPr id="48" name="Shape 45"/>
          <p:cNvSpPr/>
          <p:nvPr/>
        </p:nvSpPr>
        <p:spPr>
          <a:xfrm>
            <a:off x="11811000" y="6103620"/>
            <a:ext cx="1619786" cy="280035"/>
          </a:xfrm>
          <a:prstGeom prst="roundRect">
            <a:avLst>
              <a:gd name="adj" fmla="val 50000"/>
            </a:avLst>
          </a:prstGeom>
          <a:solidFill>
            <a:srgbClr val="C40000">
              <a:alpha val="10000"/>
            </a:srgbClr>
          </a:solidFill>
          <a:ln/>
        </p:spPr>
      </p:sp>
      <p:sp>
        <p:nvSpPr>
          <p:cNvPr id="49" name="Text 46"/>
          <p:cNvSpPr/>
          <p:nvPr/>
        </p:nvSpPr>
        <p:spPr>
          <a:xfrm>
            <a:off x="11944350" y="6143625"/>
            <a:ext cx="142928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C4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Deduplicated (x3)</a:t>
            </a:r>
            <a:endParaRPr lang="en-US" sz="1260" dirty="0"/>
          </a:p>
        </p:txBody>
      </p:sp>
      <p:sp>
        <p:nvSpPr>
          <p:cNvPr id="50" name="Text 47"/>
          <p:cNvSpPr/>
          <p:nvPr/>
        </p:nvSpPr>
        <p:spPr>
          <a:xfrm>
            <a:off x="13997940" y="6130290"/>
            <a:ext cx="2053590" cy="26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006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INC-CASE-2323223</a:t>
            </a:r>
            <a:endParaRPr lang="en-US" sz="1470" dirty="0"/>
          </a:p>
        </p:txBody>
      </p:sp>
      <p:sp>
        <p:nvSpPr>
          <p:cNvPr id="51" name="Text 48"/>
          <p:cNvSpPr/>
          <p:nvPr/>
        </p:nvSpPr>
        <p:spPr>
          <a:xfrm>
            <a:off x="16051530" y="6130290"/>
            <a:ext cx="1143000" cy="26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C4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470" dirty="0"/>
          </a:p>
        </p:txBody>
      </p:sp>
      <p:sp>
        <p:nvSpPr>
          <p:cNvPr id="52" name="Shape 49"/>
          <p:cNvSpPr/>
          <p:nvPr/>
        </p:nvSpPr>
        <p:spPr>
          <a:xfrm>
            <a:off x="942975" y="6823710"/>
            <a:ext cx="16402050" cy="6667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335">
            <a:solidFill>
              <a:srgbClr val="D9D9D9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1169670" y="7050405"/>
            <a:ext cx="536674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65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Flow:</a:t>
            </a:r>
            <a:endParaRPr lang="en-US" sz="1365" dirty="0"/>
          </a:p>
        </p:txBody>
      </p:sp>
      <p:sp>
        <p:nvSpPr>
          <p:cNvPr id="54" name="Text 51"/>
          <p:cNvSpPr/>
          <p:nvPr/>
        </p:nvSpPr>
        <p:spPr>
          <a:xfrm>
            <a:off x="1763494" y="7050405"/>
            <a:ext cx="3485831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65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received (Monitoring / API / Slack)</a:t>
            </a:r>
            <a:endParaRPr lang="en-US" sz="1365" dirty="0"/>
          </a:p>
        </p:txBody>
      </p:sp>
      <p:sp>
        <p:nvSpPr>
          <p:cNvPr id="55" name="Text 52"/>
          <p:cNvSpPr/>
          <p:nvPr/>
        </p:nvSpPr>
        <p:spPr>
          <a:xfrm>
            <a:off x="5065781" y="7050405"/>
            <a:ext cx="232261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65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65" dirty="0"/>
          </a:p>
        </p:txBody>
      </p:sp>
      <p:sp>
        <p:nvSpPr>
          <p:cNvPr id="56" name="Text 53"/>
          <p:cNvSpPr/>
          <p:nvPr/>
        </p:nvSpPr>
        <p:spPr>
          <a:xfrm>
            <a:off x="5355193" y="7050405"/>
            <a:ext cx="868382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65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365" dirty="0"/>
          </a:p>
        </p:txBody>
      </p:sp>
      <p:sp>
        <p:nvSpPr>
          <p:cNvPr id="57" name="Text 54"/>
          <p:cNvSpPr/>
          <p:nvPr/>
        </p:nvSpPr>
        <p:spPr>
          <a:xfrm>
            <a:off x="6280725" y="7050405"/>
            <a:ext cx="232261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65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65" dirty="0"/>
          </a:p>
        </p:txBody>
      </p:sp>
      <p:sp>
        <p:nvSpPr>
          <p:cNvPr id="58" name="Text 55"/>
          <p:cNvSpPr/>
          <p:nvPr/>
        </p:nvSpPr>
        <p:spPr>
          <a:xfrm>
            <a:off x="6570137" y="7050405"/>
            <a:ext cx="1190297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65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Deduplication</a:t>
            </a:r>
            <a:endParaRPr lang="en-US" sz="1365" dirty="0"/>
          </a:p>
        </p:txBody>
      </p:sp>
      <p:sp>
        <p:nvSpPr>
          <p:cNvPr id="59" name="Text 56"/>
          <p:cNvSpPr/>
          <p:nvPr/>
        </p:nvSpPr>
        <p:spPr>
          <a:xfrm>
            <a:off x="7817584" y="7050405"/>
            <a:ext cx="232261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65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65" dirty="0"/>
          </a:p>
        </p:txBody>
      </p:sp>
      <p:sp>
        <p:nvSpPr>
          <p:cNvPr id="60" name="Text 57"/>
          <p:cNvSpPr/>
          <p:nvPr/>
        </p:nvSpPr>
        <p:spPr>
          <a:xfrm>
            <a:off x="8106995" y="7050405"/>
            <a:ext cx="1972226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65" dirty="0">
                <a:solidFill>
                  <a:srgbClr val="006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investigation starts</a:t>
            </a:r>
            <a:endParaRPr lang="en-US" sz="1365" dirty="0"/>
          </a:p>
        </p:txBody>
      </p:sp>
      <p:sp>
        <p:nvSpPr>
          <p:cNvPr id="61" name="Text 58"/>
          <p:cNvSpPr/>
          <p:nvPr/>
        </p:nvSpPr>
        <p:spPr>
          <a:xfrm>
            <a:off x="10033278" y="7050405"/>
            <a:ext cx="2322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65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65" dirty="0"/>
          </a:p>
        </p:txBody>
      </p:sp>
      <p:sp>
        <p:nvSpPr>
          <p:cNvPr id="62" name="Text 59"/>
          <p:cNvSpPr/>
          <p:nvPr/>
        </p:nvSpPr>
        <p:spPr>
          <a:xfrm>
            <a:off x="10322689" y="7050405"/>
            <a:ext cx="1443244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65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created</a:t>
            </a:r>
            <a:endParaRPr lang="en-US" sz="136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14438" y="817483"/>
            <a:ext cx="15859125" cy="8652035"/>
          </a:xfrm>
          <a:prstGeom prst="roundRect">
            <a:avLst>
              <a:gd name="adj" fmla="val 1629"/>
            </a:avLst>
          </a:prstGeom>
          <a:solidFill>
            <a:srgbClr val="FFFFFF"/>
          </a:solidFill>
          <a:ln w="17621">
            <a:solidFill>
              <a:srgbClr val="D9D9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32059" y="835104"/>
            <a:ext cx="15823883" cy="1127760"/>
          </a:xfrm>
          <a:prstGeom prst="rect">
            <a:avLst/>
          </a:prstGeom>
          <a:solidFill>
            <a:srgbClr val="006FCF"/>
          </a:solidFill>
          <a:ln/>
        </p:spPr>
      </p:sp>
      <p:sp>
        <p:nvSpPr>
          <p:cNvPr id="4" name="Text 2"/>
          <p:cNvSpPr/>
          <p:nvPr/>
        </p:nvSpPr>
        <p:spPr>
          <a:xfrm>
            <a:off x="1654969" y="1240393"/>
            <a:ext cx="2787709" cy="3552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81" spc="14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AMERICAN EXPRESS</a:t>
            </a:r>
            <a:endParaRPr lang="en-US" sz="2081" dirty="0"/>
          </a:p>
        </p:txBody>
      </p:sp>
      <p:sp>
        <p:nvSpPr>
          <p:cNvPr id="5" name="Text 3"/>
          <p:cNvSpPr/>
          <p:nvPr/>
        </p:nvSpPr>
        <p:spPr>
          <a:xfrm>
            <a:off x="4502453" y="1240393"/>
            <a:ext cx="136773" cy="355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81" spc="14" kern="0" dirty="0">
                <a:solidFill>
                  <a:srgbClr val="FFFFFF">
                    <a:alpha val="5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|</a:t>
            </a:r>
            <a:endParaRPr lang="en-US" sz="2081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03996" y="1240393"/>
            <a:ext cx="317183" cy="3171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162148" y="1240393"/>
            <a:ext cx="531600" cy="355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81" b="1" spc="14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AIR</a:t>
            </a:r>
            <a:endParaRPr lang="en-US" sz="2081" dirty="0"/>
          </a:p>
        </p:txBody>
      </p:sp>
      <p:sp>
        <p:nvSpPr>
          <p:cNvPr id="8" name="Shape 5"/>
          <p:cNvSpPr/>
          <p:nvPr/>
        </p:nvSpPr>
        <p:spPr>
          <a:xfrm>
            <a:off x="6110943" y="1680924"/>
            <a:ext cx="1161901" cy="3524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6322398" y="1222772"/>
            <a:ext cx="815191" cy="355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81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Alerts</a:t>
            </a:r>
            <a:endParaRPr lang="en-US" sz="2081" dirty="0"/>
          </a:p>
        </p:txBody>
      </p:sp>
      <p:sp>
        <p:nvSpPr>
          <p:cNvPr id="10" name="Text 7"/>
          <p:cNvSpPr/>
          <p:nvPr/>
        </p:nvSpPr>
        <p:spPr>
          <a:xfrm>
            <a:off x="7554784" y="1222772"/>
            <a:ext cx="137384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81" dirty="0">
                <a:solidFill>
                  <a:srgbClr val="FFFFFF">
                    <a:alpha val="7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Dashboard</a:t>
            </a:r>
            <a:endParaRPr lang="en-US" sz="2081" dirty="0"/>
          </a:p>
        </p:txBody>
      </p:sp>
      <p:sp>
        <p:nvSpPr>
          <p:cNvPr id="11" name="Text 8"/>
          <p:cNvSpPr/>
          <p:nvPr/>
        </p:nvSpPr>
        <p:spPr>
          <a:xfrm>
            <a:off x="9345818" y="1222772"/>
            <a:ext cx="115329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81" dirty="0">
                <a:solidFill>
                  <a:srgbClr val="FFFFFF">
                    <a:alpha val="7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Incidents</a:t>
            </a:r>
            <a:endParaRPr lang="en-US" sz="2081" dirty="0"/>
          </a:p>
        </p:txBody>
      </p:sp>
      <p:sp>
        <p:nvSpPr>
          <p:cNvPr id="12" name="Shape 9"/>
          <p:cNvSpPr/>
          <p:nvPr/>
        </p:nvSpPr>
        <p:spPr>
          <a:xfrm>
            <a:off x="16069152" y="1117044"/>
            <a:ext cx="563880" cy="563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16031052" y="1117044"/>
            <a:ext cx="640080" cy="60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4" b="1" dirty="0">
                <a:solidFill>
                  <a:srgbClr val="006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</a:t>
            </a:r>
            <a:endParaRPr lang="en-US" sz="1804" dirty="0"/>
          </a:p>
        </p:txBody>
      </p:sp>
      <p:sp>
        <p:nvSpPr>
          <p:cNvPr id="14" name="Text 11"/>
          <p:cNvSpPr/>
          <p:nvPr/>
        </p:nvSpPr>
        <p:spPr>
          <a:xfrm>
            <a:off x="1654969" y="2385774"/>
            <a:ext cx="16475869" cy="443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group — checkout error_rate</a:t>
            </a:r>
            <a:endParaRPr lang="en-US" sz="2775" dirty="0"/>
          </a:p>
        </p:txBody>
      </p:sp>
      <p:sp>
        <p:nvSpPr>
          <p:cNvPr id="15" name="Shape 12"/>
          <p:cNvSpPr/>
          <p:nvPr/>
        </p:nvSpPr>
        <p:spPr>
          <a:xfrm>
            <a:off x="1654969" y="3002518"/>
            <a:ext cx="14978062" cy="5004435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7621">
            <a:solidFill>
              <a:srgbClr val="D9D9D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672590" y="3020139"/>
            <a:ext cx="14942820" cy="1215866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17" name="Shape 14"/>
          <p:cNvSpPr/>
          <p:nvPr/>
        </p:nvSpPr>
        <p:spPr>
          <a:xfrm>
            <a:off x="1672590" y="4218384"/>
            <a:ext cx="14942820" cy="17621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8" name="Text 15"/>
          <p:cNvSpPr/>
          <p:nvPr/>
        </p:nvSpPr>
        <p:spPr>
          <a:xfrm>
            <a:off x="1954530" y="3460670"/>
            <a:ext cx="203679" cy="355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20" dirty="0">
                <a:solidFill>
                  <a:srgbClr val="006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▾</a:t>
            </a:r>
            <a:endParaRPr lang="en-US" sz="2220" dirty="0"/>
          </a:p>
        </p:txBody>
      </p:sp>
      <p:sp>
        <p:nvSpPr>
          <p:cNvPr id="19" name="Text 16"/>
          <p:cNvSpPr/>
          <p:nvPr/>
        </p:nvSpPr>
        <p:spPr>
          <a:xfrm>
            <a:off x="2328706" y="3460670"/>
            <a:ext cx="1744504" cy="355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20" dirty="0">
                <a:solidFill>
                  <a:srgbClr val="006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4409231</a:t>
            </a:r>
            <a:endParaRPr lang="en-US" sz="2220" dirty="0"/>
          </a:p>
        </p:txBody>
      </p:sp>
      <p:sp>
        <p:nvSpPr>
          <p:cNvPr id="20" name="Text 17"/>
          <p:cNvSpPr/>
          <p:nvPr/>
        </p:nvSpPr>
        <p:spPr>
          <a:xfrm>
            <a:off x="4161316" y="3302079"/>
            <a:ext cx="6584155" cy="672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 error_rate &gt; 5% for 2m on checkout-svc</a:t>
            </a:r>
            <a:endParaRPr lang="en-US" sz="2220" dirty="0"/>
          </a:p>
        </p:txBody>
      </p:sp>
      <p:sp>
        <p:nvSpPr>
          <p:cNvPr id="21" name="Shape 18"/>
          <p:cNvSpPr/>
          <p:nvPr/>
        </p:nvSpPr>
        <p:spPr>
          <a:xfrm>
            <a:off x="10800398" y="3434239"/>
            <a:ext cx="2140431" cy="370046"/>
          </a:xfrm>
          <a:prstGeom prst="roundRect">
            <a:avLst>
              <a:gd name="adj" fmla="val 50000"/>
            </a:avLst>
          </a:prstGeom>
          <a:solidFill>
            <a:srgbClr val="C40000">
              <a:alpha val="10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10976610" y="3487102"/>
            <a:ext cx="186420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65" dirty="0">
                <a:solidFill>
                  <a:srgbClr val="C4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Deduplicated (x3)</a:t>
            </a:r>
            <a:endParaRPr lang="en-US" sz="1665" dirty="0"/>
          </a:p>
        </p:txBody>
      </p:sp>
      <p:sp>
        <p:nvSpPr>
          <p:cNvPr id="23" name="Text 20"/>
          <p:cNvSpPr/>
          <p:nvPr/>
        </p:nvSpPr>
        <p:spPr>
          <a:xfrm>
            <a:off x="13690283" y="3302079"/>
            <a:ext cx="2722483" cy="672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20" dirty="0">
                <a:solidFill>
                  <a:srgbClr val="006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INC-CASE-2323223</a:t>
            </a:r>
            <a:endParaRPr lang="en-US" sz="2220" dirty="0"/>
          </a:p>
        </p:txBody>
      </p:sp>
      <p:sp>
        <p:nvSpPr>
          <p:cNvPr id="24" name="Shape 21"/>
          <p:cNvSpPr/>
          <p:nvPr/>
        </p:nvSpPr>
        <p:spPr>
          <a:xfrm>
            <a:off x="1672590" y="4940855"/>
            <a:ext cx="14942820" cy="17621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5" name="Text 22"/>
          <p:cNvSpPr/>
          <p:nvPr/>
        </p:nvSpPr>
        <p:spPr>
          <a:xfrm>
            <a:off x="2588895" y="4447460"/>
            <a:ext cx="1419286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4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Grouped by: same service + metric + error signature, within a 5-minute correlation window.</a:t>
            </a:r>
            <a:endParaRPr lang="en-US" sz="1804" dirty="0"/>
          </a:p>
        </p:txBody>
      </p:sp>
      <p:sp>
        <p:nvSpPr>
          <p:cNvPr id="26" name="Shape 23"/>
          <p:cNvSpPr/>
          <p:nvPr/>
        </p:nvSpPr>
        <p:spPr>
          <a:xfrm>
            <a:off x="1672590" y="5857161"/>
            <a:ext cx="14942820" cy="17621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7" name="Text 24"/>
          <p:cNvSpPr/>
          <p:nvPr/>
        </p:nvSpPr>
        <p:spPr>
          <a:xfrm>
            <a:off x="2588895" y="5205174"/>
            <a:ext cx="1662113" cy="4433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43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4409231</a:t>
            </a:r>
            <a:endParaRPr lang="en-US" sz="1943" dirty="0"/>
          </a:p>
        </p:txBody>
      </p:sp>
      <p:sp>
        <p:nvSpPr>
          <p:cNvPr id="28" name="Text 25"/>
          <p:cNvSpPr/>
          <p:nvPr/>
        </p:nvSpPr>
        <p:spPr>
          <a:xfrm>
            <a:off x="4421505" y="5205174"/>
            <a:ext cx="7586653" cy="4433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4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 error_rate &gt; 5% for 2m</a:t>
            </a:r>
            <a:endParaRPr lang="en-US" sz="1943" dirty="0"/>
          </a:p>
        </p:txBody>
      </p:sp>
      <p:sp>
        <p:nvSpPr>
          <p:cNvPr id="29" name="Text 26"/>
          <p:cNvSpPr/>
          <p:nvPr/>
        </p:nvSpPr>
        <p:spPr>
          <a:xfrm>
            <a:off x="12033885" y="5205174"/>
            <a:ext cx="1838325" cy="4433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43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6m ago</a:t>
            </a:r>
            <a:endParaRPr lang="en-US" sz="1943" dirty="0"/>
          </a:p>
        </p:txBody>
      </p:sp>
      <p:sp>
        <p:nvSpPr>
          <p:cNvPr id="30" name="Text 27"/>
          <p:cNvSpPr/>
          <p:nvPr/>
        </p:nvSpPr>
        <p:spPr>
          <a:xfrm>
            <a:off x="14042708" y="5205174"/>
            <a:ext cx="2366963" cy="4433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43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🔌 API</a:t>
            </a:r>
            <a:endParaRPr lang="en-US" sz="1943" dirty="0"/>
          </a:p>
        </p:txBody>
      </p:sp>
      <p:sp>
        <p:nvSpPr>
          <p:cNvPr id="31" name="Shape 28"/>
          <p:cNvSpPr/>
          <p:nvPr/>
        </p:nvSpPr>
        <p:spPr>
          <a:xfrm>
            <a:off x="1672590" y="7073027"/>
            <a:ext cx="14942820" cy="17621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32" name="Text 29"/>
          <p:cNvSpPr/>
          <p:nvPr/>
        </p:nvSpPr>
        <p:spPr>
          <a:xfrm>
            <a:off x="2588895" y="6121480"/>
            <a:ext cx="1662113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43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4409230</a:t>
            </a:r>
            <a:endParaRPr lang="en-US" sz="1943" dirty="0"/>
          </a:p>
        </p:txBody>
      </p:sp>
      <p:sp>
        <p:nvSpPr>
          <p:cNvPr id="33" name="Text 30"/>
          <p:cNvSpPr/>
          <p:nvPr/>
        </p:nvSpPr>
        <p:spPr>
          <a:xfrm>
            <a:off x="4421505" y="6121480"/>
            <a:ext cx="7586653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4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 error_rate &gt; 5% for 2m</a:t>
            </a:r>
            <a:endParaRPr lang="en-US" sz="1943" dirty="0"/>
          </a:p>
        </p:txBody>
      </p:sp>
      <p:sp>
        <p:nvSpPr>
          <p:cNvPr id="34" name="Text 31"/>
          <p:cNvSpPr/>
          <p:nvPr/>
        </p:nvSpPr>
        <p:spPr>
          <a:xfrm>
            <a:off x="12033885" y="6121480"/>
            <a:ext cx="1838325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43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7m ago</a:t>
            </a:r>
            <a:endParaRPr lang="en-US" sz="1943" dirty="0"/>
          </a:p>
        </p:txBody>
      </p:sp>
      <p:sp>
        <p:nvSpPr>
          <p:cNvPr id="35" name="Text 32"/>
          <p:cNvSpPr/>
          <p:nvPr/>
        </p:nvSpPr>
        <p:spPr>
          <a:xfrm>
            <a:off x="14042708" y="6121480"/>
            <a:ext cx="2366963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43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Monitoring (ELK)</a:t>
            </a:r>
            <a:endParaRPr lang="en-US" sz="1943" dirty="0"/>
          </a:p>
        </p:txBody>
      </p:sp>
      <p:sp>
        <p:nvSpPr>
          <p:cNvPr id="36" name="Text 33"/>
          <p:cNvSpPr/>
          <p:nvPr/>
        </p:nvSpPr>
        <p:spPr>
          <a:xfrm>
            <a:off x="2588895" y="7337345"/>
            <a:ext cx="1662113" cy="4433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43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4409229</a:t>
            </a:r>
            <a:endParaRPr lang="en-US" sz="1943" dirty="0"/>
          </a:p>
        </p:txBody>
      </p:sp>
      <p:sp>
        <p:nvSpPr>
          <p:cNvPr id="37" name="Text 34"/>
          <p:cNvSpPr/>
          <p:nvPr/>
        </p:nvSpPr>
        <p:spPr>
          <a:xfrm>
            <a:off x="4421505" y="7337345"/>
            <a:ext cx="7586653" cy="4433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4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 5xx rate spike</a:t>
            </a:r>
            <a:endParaRPr lang="en-US" sz="1943" dirty="0"/>
          </a:p>
        </p:txBody>
      </p:sp>
      <p:sp>
        <p:nvSpPr>
          <p:cNvPr id="38" name="Text 35"/>
          <p:cNvSpPr/>
          <p:nvPr/>
        </p:nvSpPr>
        <p:spPr>
          <a:xfrm>
            <a:off x="12033885" y="7337345"/>
            <a:ext cx="1838325" cy="4433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43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8m ago</a:t>
            </a:r>
            <a:endParaRPr lang="en-US" sz="1943" dirty="0"/>
          </a:p>
        </p:txBody>
      </p:sp>
      <p:sp>
        <p:nvSpPr>
          <p:cNvPr id="39" name="Text 36"/>
          <p:cNvSpPr/>
          <p:nvPr/>
        </p:nvSpPr>
        <p:spPr>
          <a:xfrm>
            <a:off x="14042708" y="7337345"/>
            <a:ext cx="2366963" cy="4433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43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Slack</a:t>
            </a:r>
            <a:endParaRPr lang="en-US" sz="1943" dirty="0"/>
          </a:p>
        </p:txBody>
      </p:sp>
      <p:sp>
        <p:nvSpPr>
          <p:cNvPr id="40" name="Shape 37"/>
          <p:cNvSpPr/>
          <p:nvPr/>
        </p:nvSpPr>
        <p:spPr>
          <a:xfrm>
            <a:off x="1654969" y="8218408"/>
            <a:ext cx="14978062" cy="810578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7621">
            <a:solidFill>
              <a:srgbClr val="D9D9D9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954530" y="8482726"/>
            <a:ext cx="14828282" cy="320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4" dirty="0">
                <a:solidFill>
                  <a:srgbClr val="5E5E5E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3 alerts from 3 sources deduplicated into 1 incident — </a:t>
            </a:r>
            <a:pPr algn="l" indent="0" marL="0">
              <a:buNone/>
            </a:pPr>
            <a:r>
              <a:rPr lang="en-US" sz="1804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duplicate paging, single investigation thread.</a:t>
            </a:r>
            <a:endParaRPr lang="en-US" sz="180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989647"/>
            <a:ext cx="17068800" cy="8307705"/>
          </a:xfrm>
          <a:prstGeom prst="roundRect">
            <a:avLst>
              <a:gd name="adj" fmla="val 1284"/>
            </a:avLst>
          </a:prstGeom>
          <a:solidFill>
            <a:srgbClr val="FFFFFF"/>
          </a:solidFill>
          <a:ln w="13335">
            <a:solidFill>
              <a:srgbClr val="D9D9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2935" y="1002982"/>
            <a:ext cx="17042130" cy="853440"/>
          </a:xfrm>
          <a:prstGeom prst="rect">
            <a:avLst/>
          </a:prstGeom>
          <a:solidFill>
            <a:srgbClr val="006FCF"/>
          </a:solidFill>
          <a:ln/>
        </p:spPr>
      </p:sp>
      <p:sp>
        <p:nvSpPr>
          <p:cNvPr id="4" name="Text 2"/>
          <p:cNvSpPr/>
          <p:nvPr/>
        </p:nvSpPr>
        <p:spPr>
          <a:xfrm>
            <a:off x="942975" y="1309688"/>
            <a:ext cx="2124373" cy="278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AMERICAN EXPRESS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3097827" y="1309688"/>
            <a:ext cx="122039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0" kern="0" dirty="0">
                <a:solidFill>
                  <a:srgbClr val="FFFFFF">
                    <a:alpha val="5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|</a:t>
            </a:r>
            <a:endParaRPr lang="en-US" sz="157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50347" y="1309688"/>
            <a:ext cx="240030" cy="2400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597057" y="1309688"/>
            <a:ext cx="420826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1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AIR</a:t>
            </a:r>
            <a:endParaRPr lang="en-US" sz="1575" dirty="0"/>
          </a:p>
        </p:txBody>
      </p:sp>
      <p:sp>
        <p:nvSpPr>
          <p:cNvPr id="8" name="Shape 5"/>
          <p:cNvSpPr/>
          <p:nvPr/>
        </p:nvSpPr>
        <p:spPr>
          <a:xfrm>
            <a:off x="4315063" y="1643062"/>
            <a:ext cx="879277" cy="2667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4475083" y="1296352"/>
            <a:ext cx="635437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Alerts</a:t>
            </a:r>
            <a:endParaRPr lang="en-US" sz="1575" dirty="0"/>
          </a:p>
        </p:txBody>
      </p:sp>
      <p:sp>
        <p:nvSpPr>
          <p:cNvPr id="10" name="Text 7"/>
          <p:cNvSpPr/>
          <p:nvPr/>
        </p:nvSpPr>
        <p:spPr>
          <a:xfrm>
            <a:off x="5407700" y="1296352"/>
            <a:ext cx="105819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FFFFFF">
                    <a:alpha val="7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Dashboard</a:t>
            </a:r>
            <a:endParaRPr lang="en-US" sz="1575" dirty="0"/>
          </a:p>
        </p:txBody>
      </p:sp>
      <p:sp>
        <p:nvSpPr>
          <p:cNvPr id="11" name="Text 8"/>
          <p:cNvSpPr/>
          <p:nvPr/>
        </p:nvSpPr>
        <p:spPr>
          <a:xfrm>
            <a:off x="6763077" y="1296352"/>
            <a:ext cx="89130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FFFFFF">
                    <a:alpha val="7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Incidents</a:t>
            </a:r>
            <a:endParaRPr lang="en-US" sz="1575" dirty="0"/>
          </a:p>
        </p:txBody>
      </p:sp>
      <p:sp>
        <p:nvSpPr>
          <p:cNvPr id="12" name="Shape 9"/>
          <p:cNvSpPr/>
          <p:nvPr/>
        </p:nvSpPr>
        <p:spPr>
          <a:xfrm>
            <a:off x="16918305" y="1216342"/>
            <a:ext cx="426720" cy="426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16880205" y="1216342"/>
            <a:ext cx="502920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65" b="1" dirty="0">
                <a:solidFill>
                  <a:srgbClr val="006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</a:t>
            </a:r>
            <a:endParaRPr lang="en-US" sz="1365" dirty="0"/>
          </a:p>
        </p:txBody>
      </p:sp>
      <p:sp>
        <p:nvSpPr>
          <p:cNvPr id="14" name="Shape 11"/>
          <p:cNvSpPr/>
          <p:nvPr/>
        </p:nvSpPr>
        <p:spPr>
          <a:xfrm>
            <a:off x="942975" y="2176463"/>
            <a:ext cx="16402050" cy="1293495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3335">
            <a:solidFill>
              <a:srgbClr val="D9D9D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23010" y="2429827"/>
            <a:ext cx="578397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4409234 · AuthDiskSystem</a:t>
            </a:r>
            <a:endParaRPr lang="en-US" sz="1260" dirty="0"/>
          </a:p>
        </p:txBody>
      </p:sp>
      <p:sp>
        <p:nvSpPr>
          <p:cNvPr id="16" name="Text 13"/>
          <p:cNvSpPr/>
          <p:nvPr/>
        </p:nvSpPr>
        <p:spPr>
          <a:xfrm>
            <a:off x="1223010" y="2629852"/>
            <a:ext cx="5783973" cy="344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Investigation — High write latency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1223010" y="2989897"/>
            <a:ext cx="5783973" cy="26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65" dirty="0">
                <a:solidFill>
                  <a:srgbClr val="006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⟳ Investigation in progress · started automatically on alert receipt</a:t>
            </a:r>
            <a:endParaRPr lang="en-US" sz="1365" dirty="0"/>
          </a:p>
        </p:txBody>
      </p:sp>
      <p:sp>
        <p:nvSpPr>
          <p:cNvPr id="18" name="Shape 15"/>
          <p:cNvSpPr/>
          <p:nvPr/>
        </p:nvSpPr>
        <p:spPr>
          <a:xfrm>
            <a:off x="14945559" y="2503170"/>
            <a:ext cx="2119431" cy="640080"/>
          </a:xfrm>
          <a:prstGeom prst="roundRect">
            <a:avLst>
              <a:gd name="adj" fmla="val 16667"/>
            </a:avLst>
          </a:prstGeom>
          <a:solidFill>
            <a:srgbClr val="006FCF"/>
          </a:solidFill>
          <a:ln/>
        </p:spPr>
      </p:sp>
      <p:sp>
        <p:nvSpPr>
          <p:cNvPr id="19" name="Text 16"/>
          <p:cNvSpPr/>
          <p:nvPr/>
        </p:nvSpPr>
        <p:spPr>
          <a:xfrm>
            <a:off x="15214164" y="2649855"/>
            <a:ext cx="1582221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6316"/>
              </a:lnSpc>
              <a:buNone/>
            </a:pPr>
            <a:r>
              <a:rPr lang="en-US" sz="168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Create Incident</a:t>
            </a:r>
            <a:endParaRPr lang="en-US" sz="1680" dirty="0"/>
          </a:p>
        </p:txBody>
      </p:sp>
      <p:sp>
        <p:nvSpPr>
          <p:cNvPr id="20" name="Shape 17"/>
          <p:cNvSpPr/>
          <p:nvPr/>
        </p:nvSpPr>
        <p:spPr>
          <a:xfrm>
            <a:off x="942975" y="4203382"/>
            <a:ext cx="16402050" cy="13335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1" name="Shape 18"/>
          <p:cNvSpPr/>
          <p:nvPr/>
        </p:nvSpPr>
        <p:spPr>
          <a:xfrm>
            <a:off x="942975" y="4176712"/>
            <a:ext cx="1571655" cy="26670"/>
          </a:xfrm>
          <a:prstGeom prst="rect">
            <a:avLst/>
          </a:prstGeom>
          <a:solidFill>
            <a:srgbClr val="006FCF"/>
          </a:solidFill>
          <a:ln/>
        </p:spPr>
      </p:sp>
      <p:sp>
        <p:nvSpPr>
          <p:cNvPr id="22" name="Text 19"/>
          <p:cNvSpPr/>
          <p:nvPr/>
        </p:nvSpPr>
        <p:spPr>
          <a:xfrm>
            <a:off x="1156335" y="3816667"/>
            <a:ext cx="1221135" cy="26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70" b="1" dirty="0">
                <a:solidFill>
                  <a:srgbClr val="006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470" dirty="0"/>
          </a:p>
        </p:txBody>
      </p:sp>
      <p:sp>
        <p:nvSpPr>
          <p:cNvPr id="23" name="Text 20"/>
          <p:cNvSpPr/>
          <p:nvPr/>
        </p:nvSpPr>
        <p:spPr>
          <a:xfrm>
            <a:off x="2781330" y="3816667"/>
            <a:ext cx="448121" cy="291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RCA</a:t>
            </a:r>
            <a:endParaRPr lang="en-US" sz="1470" dirty="0"/>
          </a:p>
        </p:txBody>
      </p:sp>
      <p:sp>
        <p:nvSpPr>
          <p:cNvPr id="24" name="Text 21"/>
          <p:cNvSpPr/>
          <p:nvPr/>
        </p:nvSpPr>
        <p:spPr>
          <a:xfrm>
            <a:off x="3633311" y="3816667"/>
            <a:ext cx="1580138" cy="291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1470" dirty="0"/>
          </a:p>
        </p:txBody>
      </p:sp>
      <p:sp>
        <p:nvSpPr>
          <p:cNvPr id="25" name="Text 22"/>
          <p:cNvSpPr/>
          <p:nvPr/>
        </p:nvSpPr>
        <p:spPr>
          <a:xfrm>
            <a:off x="5617309" y="3816667"/>
            <a:ext cx="1230094" cy="291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Evidence</a:t>
            </a:r>
            <a:endParaRPr lang="en-US" sz="1470" dirty="0"/>
          </a:p>
        </p:txBody>
      </p:sp>
      <p:sp>
        <p:nvSpPr>
          <p:cNvPr id="26" name="Text 23"/>
          <p:cNvSpPr/>
          <p:nvPr/>
        </p:nvSpPr>
        <p:spPr>
          <a:xfrm>
            <a:off x="7251264" y="3816667"/>
            <a:ext cx="1716405" cy="291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Status</a:t>
            </a:r>
            <a:endParaRPr lang="en-US" sz="1470" dirty="0"/>
          </a:p>
        </p:txBody>
      </p:sp>
      <p:sp>
        <p:nvSpPr>
          <p:cNvPr id="27" name="Shape 24"/>
          <p:cNvSpPr/>
          <p:nvPr/>
        </p:nvSpPr>
        <p:spPr>
          <a:xfrm>
            <a:off x="942975" y="4430077"/>
            <a:ext cx="16402050" cy="101346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3335">
            <a:solidFill>
              <a:srgbClr val="D9D9D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196340" y="4683442"/>
            <a:ext cx="269557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006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680" dirty="0"/>
          </a:p>
        </p:txBody>
      </p:sp>
      <p:sp>
        <p:nvSpPr>
          <p:cNvPr id="29" name="Text 26"/>
          <p:cNvSpPr/>
          <p:nvPr/>
        </p:nvSpPr>
        <p:spPr>
          <a:xfrm>
            <a:off x="1549717" y="4696777"/>
            <a:ext cx="7488957" cy="26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7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latency on AuthDiskSystem crossed 412ms, 2x the 200ms threshold</a:t>
            </a:r>
            <a:endParaRPr lang="en-US" sz="1470" dirty="0"/>
          </a:p>
        </p:txBody>
      </p:sp>
      <p:sp>
        <p:nvSpPr>
          <p:cNvPr id="30" name="Text 27"/>
          <p:cNvSpPr/>
          <p:nvPr/>
        </p:nvSpPr>
        <p:spPr>
          <a:xfrm>
            <a:off x="1549717" y="4976813"/>
            <a:ext cx="7488957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65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Sustained for 90 seconds across host auth-disk-03</a:t>
            </a:r>
            <a:endParaRPr lang="en-US" sz="1365" dirty="0"/>
          </a:p>
        </p:txBody>
      </p:sp>
      <p:sp>
        <p:nvSpPr>
          <p:cNvPr id="31" name="Shape 28"/>
          <p:cNvSpPr/>
          <p:nvPr/>
        </p:nvSpPr>
        <p:spPr>
          <a:xfrm>
            <a:off x="942975" y="5603557"/>
            <a:ext cx="16402050" cy="101346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3335">
            <a:solidFill>
              <a:srgbClr val="D9D9D9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196340" y="5856923"/>
            <a:ext cx="269557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006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680" dirty="0"/>
          </a:p>
        </p:txBody>
      </p:sp>
      <p:sp>
        <p:nvSpPr>
          <p:cNvPr id="33" name="Text 30"/>
          <p:cNvSpPr/>
          <p:nvPr/>
        </p:nvSpPr>
        <p:spPr>
          <a:xfrm>
            <a:off x="1549717" y="5870258"/>
            <a:ext cx="6288432" cy="26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7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Correlates with deploy #4489 to auth-service, 6 minutes prior</a:t>
            </a:r>
            <a:endParaRPr lang="en-US" sz="1470" dirty="0"/>
          </a:p>
        </p:txBody>
      </p:sp>
      <p:sp>
        <p:nvSpPr>
          <p:cNvPr id="34" name="Text 31"/>
          <p:cNvSpPr/>
          <p:nvPr/>
        </p:nvSpPr>
        <p:spPr>
          <a:xfrm>
            <a:off x="1549717" y="6150292"/>
            <a:ext cx="6288431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65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touched disk I/O batching config</a:t>
            </a:r>
            <a:endParaRPr lang="en-US" sz="1365" dirty="0"/>
          </a:p>
        </p:txBody>
      </p:sp>
      <p:sp>
        <p:nvSpPr>
          <p:cNvPr id="35" name="Shape 32"/>
          <p:cNvSpPr/>
          <p:nvPr/>
        </p:nvSpPr>
        <p:spPr>
          <a:xfrm>
            <a:off x="942975" y="6777038"/>
            <a:ext cx="16402050" cy="101346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3335">
            <a:solidFill>
              <a:srgbClr val="D9D9D9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196340" y="7030402"/>
            <a:ext cx="269557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006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680" dirty="0"/>
          </a:p>
        </p:txBody>
      </p:sp>
      <p:sp>
        <p:nvSpPr>
          <p:cNvPr id="37" name="Text 34"/>
          <p:cNvSpPr/>
          <p:nvPr/>
        </p:nvSpPr>
        <p:spPr>
          <a:xfrm>
            <a:off x="1549717" y="7043738"/>
            <a:ext cx="3707692" cy="26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7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similar pattern in the last 30 days</a:t>
            </a:r>
            <a:endParaRPr lang="en-US" sz="1470" dirty="0"/>
          </a:p>
        </p:txBody>
      </p:sp>
      <p:sp>
        <p:nvSpPr>
          <p:cNvPr id="38" name="Text 35"/>
          <p:cNvSpPr/>
          <p:nvPr/>
        </p:nvSpPr>
        <p:spPr>
          <a:xfrm>
            <a:off x="1549717" y="7323773"/>
            <a:ext cx="3707693" cy="2514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65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Ruled out as recurring/known issue</a:t>
            </a:r>
            <a:endParaRPr lang="en-US" sz="1365" dirty="0"/>
          </a:p>
        </p:txBody>
      </p:sp>
      <p:sp>
        <p:nvSpPr>
          <p:cNvPr id="39" name="Shape 36"/>
          <p:cNvSpPr/>
          <p:nvPr/>
        </p:nvSpPr>
        <p:spPr>
          <a:xfrm>
            <a:off x="942975" y="7950517"/>
            <a:ext cx="16402050" cy="101346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3335">
            <a:solidFill>
              <a:srgbClr val="D9D9D9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196340" y="8203882"/>
            <a:ext cx="269557" cy="27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006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680" dirty="0"/>
          </a:p>
        </p:txBody>
      </p:sp>
      <p:sp>
        <p:nvSpPr>
          <p:cNvPr id="41" name="Text 38"/>
          <p:cNvSpPr/>
          <p:nvPr/>
        </p:nvSpPr>
        <p:spPr>
          <a:xfrm>
            <a:off x="1549717" y="8217217"/>
            <a:ext cx="6326478" cy="26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7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Affects auth-service only; no downstream impact detected yet</a:t>
            </a:r>
            <a:endParaRPr lang="en-US" sz="1470" dirty="0"/>
          </a:p>
        </p:txBody>
      </p:sp>
      <p:sp>
        <p:nvSpPr>
          <p:cNvPr id="42" name="Text 39"/>
          <p:cNvSpPr/>
          <p:nvPr/>
        </p:nvSpPr>
        <p:spPr>
          <a:xfrm>
            <a:off x="1549717" y="8497252"/>
            <a:ext cx="6326478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65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checkout-svc and payments-api unaffected</a:t>
            </a:r>
            <a:endParaRPr lang="en-US" sz="136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67200" y="1013460"/>
            <a:ext cx="9753600" cy="8260080"/>
          </a:xfrm>
          <a:prstGeom prst="roundRect">
            <a:avLst>
              <a:gd name="adj" fmla="val 1476"/>
            </a:avLst>
          </a:prstGeom>
          <a:solidFill>
            <a:srgbClr val="FFFFFF"/>
          </a:solidFill>
          <a:ln w="15240">
            <a:solidFill>
              <a:srgbClr val="D9D9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09160" y="1394460"/>
            <a:ext cx="9756649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incident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709160" y="2019300"/>
            <a:ext cx="97155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560" dirty="0"/>
          </a:p>
        </p:txBody>
      </p:sp>
      <p:sp>
        <p:nvSpPr>
          <p:cNvPr id="5" name="Text 3"/>
          <p:cNvSpPr/>
          <p:nvPr/>
        </p:nvSpPr>
        <p:spPr>
          <a:xfrm>
            <a:off x="12482751" y="2019300"/>
            <a:ext cx="117229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60" dirty="0">
                <a:solidFill>
                  <a:srgbClr val="006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 ▾</a:t>
            </a:r>
            <a:endParaRPr lang="en-US" sz="1560" dirty="0"/>
          </a:p>
        </p:txBody>
      </p:sp>
      <p:sp>
        <p:nvSpPr>
          <p:cNvPr id="6" name="Shape 4"/>
          <p:cNvSpPr/>
          <p:nvPr/>
        </p:nvSpPr>
        <p:spPr>
          <a:xfrm>
            <a:off x="4709160" y="2385060"/>
            <a:ext cx="8869681" cy="9144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240">
            <a:solidFill>
              <a:srgbClr val="006F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2583180"/>
            <a:ext cx="8678571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write latency on AuthDiskSystem following deploy #4489, causing degraded auth-service response times.</a:t>
            </a:r>
            <a:endParaRPr lang="en-US" sz="1680" dirty="0"/>
          </a:p>
        </p:txBody>
      </p:sp>
      <p:sp>
        <p:nvSpPr>
          <p:cNvPr id="8" name="Text 6"/>
          <p:cNvSpPr/>
          <p:nvPr/>
        </p:nvSpPr>
        <p:spPr>
          <a:xfrm>
            <a:off x="4709160" y="3459480"/>
            <a:ext cx="247292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4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by AIR AI · 👍 👎</a:t>
            </a:r>
            <a:endParaRPr lang="en-US" sz="1440" dirty="0"/>
          </a:p>
        </p:txBody>
      </p:sp>
      <p:sp>
        <p:nvSpPr>
          <p:cNvPr id="9" name="Shape 7"/>
          <p:cNvSpPr/>
          <p:nvPr/>
        </p:nvSpPr>
        <p:spPr>
          <a:xfrm>
            <a:off x="12442745" y="3421380"/>
            <a:ext cx="1136096" cy="38100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1524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610385" y="3497580"/>
            <a:ext cx="87701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4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Undo ▾</a:t>
            </a:r>
            <a:endParaRPr lang="en-US" sz="1440" dirty="0"/>
          </a:p>
        </p:txBody>
      </p:sp>
      <p:sp>
        <p:nvSpPr>
          <p:cNvPr id="11" name="Text 9"/>
          <p:cNvSpPr/>
          <p:nvPr/>
        </p:nvSpPr>
        <p:spPr>
          <a:xfrm>
            <a:off x="4709160" y="4076700"/>
            <a:ext cx="9756649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560" dirty="0"/>
          </a:p>
        </p:txBody>
      </p:sp>
      <p:sp>
        <p:nvSpPr>
          <p:cNvPr id="12" name="Shape 10"/>
          <p:cNvSpPr/>
          <p:nvPr/>
        </p:nvSpPr>
        <p:spPr>
          <a:xfrm>
            <a:off x="5251132" y="4472940"/>
            <a:ext cx="182880" cy="182880"/>
          </a:xfrm>
          <a:prstGeom prst="ellipse">
            <a:avLst/>
          </a:prstGeom>
          <a:solidFill>
            <a:srgbClr val="006FCF"/>
          </a:solidFill>
          <a:ln/>
        </p:spPr>
      </p:sp>
      <p:sp>
        <p:nvSpPr>
          <p:cNvPr id="13" name="Text 11"/>
          <p:cNvSpPr/>
          <p:nvPr/>
        </p:nvSpPr>
        <p:spPr>
          <a:xfrm>
            <a:off x="4758928" y="4747260"/>
            <a:ext cx="124348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006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Investigating</a:t>
            </a:r>
            <a:endParaRPr lang="en-US" sz="1440" dirty="0"/>
          </a:p>
        </p:txBody>
      </p:sp>
      <p:sp>
        <p:nvSpPr>
          <p:cNvPr id="14" name="Shape 12"/>
          <p:cNvSpPr/>
          <p:nvPr/>
        </p:nvSpPr>
        <p:spPr>
          <a:xfrm>
            <a:off x="5976223" y="4709160"/>
            <a:ext cx="1267301" cy="3048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5" name="Shape 13"/>
          <p:cNvSpPr/>
          <p:nvPr/>
        </p:nvSpPr>
        <p:spPr>
          <a:xfrm>
            <a:off x="7785497" y="4472940"/>
            <a:ext cx="182880" cy="182880"/>
          </a:xfrm>
          <a:prstGeom prst="ellipse">
            <a:avLst/>
          </a:prstGeom>
          <a:ln w="30480">
            <a:solidFill>
              <a:srgbClr val="D9D9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70934" y="4747260"/>
            <a:ext cx="88844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4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</a:t>
            </a:r>
            <a:endParaRPr lang="en-US" sz="1440" dirty="0"/>
          </a:p>
        </p:txBody>
      </p:sp>
      <p:sp>
        <p:nvSpPr>
          <p:cNvPr id="17" name="Shape 15"/>
          <p:cNvSpPr/>
          <p:nvPr/>
        </p:nvSpPr>
        <p:spPr>
          <a:xfrm>
            <a:off x="8510588" y="4709160"/>
            <a:ext cx="1267063" cy="3048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8" name="Shape 16"/>
          <p:cNvSpPr/>
          <p:nvPr/>
        </p:nvSpPr>
        <p:spPr>
          <a:xfrm>
            <a:off x="10319624" y="4472940"/>
            <a:ext cx="182880" cy="182880"/>
          </a:xfrm>
          <a:prstGeom prst="ellipse">
            <a:avLst/>
          </a:prstGeom>
          <a:ln w="30480">
            <a:solidFill>
              <a:srgbClr val="D9D9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48149" y="4747260"/>
            <a:ext cx="100226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4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1440" dirty="0"/>
          </a:p>
        </p:txBody>
      </p:sp>
      <p:sp>
        <p:nvSpPr>
          <p:cNvPr id="20" name="Shape 18"/>
          <p:cNvSpPr/>
          <p:nvPr/>
        </p:nvSpPr>
        <p:spPr>
          <a:xfrm>
            <a:off x="11044714" y="4709160"/>
            <a:ext cx="1267062" cy="3048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1" name="Shape 19"/>
          <p:cNvSpPr/>
          <p:nvPr/>
        </p:nvSpPr>
        <p:spPr>
          <a:xfrm>
            <a:off x="12853750" y="4472940"/>
            <a:ext cx="182880" cy="182880"/>
          </a:xfrm>
          <a:prstGeom prst="ellipse">
            <a:avLst/>
          </a:prstGeom>
          <a:ln w="30480">
            <a:solidFill>
              <a:srgbClr val="D9D9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553473" y="4747260"/>
            <a:ext cx="85987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4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</a:t>
            </a:r>
            <a:endParaRPr lang="en-US" sz="1440" dirty="0"/>
          </a:p>
        </p:txBody>
      </p:sp>
      <p:sp>
        <p:nvSpPr>
          <p:cNvPr id="23" name="Text 21"/>
          <p:cNvSpPr/>
          <p:nvPr/>
        </p:nvSpPr>
        <p:spPr>
          <a:xfrm>
            <a:off x="4709160" y="5250180"/>
            <a:ext cx="9756649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Affected services</a:t>
            </a:r>
            <a:endParaRPr lang="en-US" sz="1560" dirty="0"/>
          </a:p>
        </p:txBody>
      </p:sp>
      <p:sp>
        <p:nvSpPr>
          <p:cNvPr id="24" name="Shape 22"/>
          <p:cNvSpPr/>
          <p:nvPr/>
        </p:nvSpPr>
        <p:spPr>
          <a:xfrm>
            <a:off x="4709160" y="6179820"/>
            <a:ext cx="8869681" cy="1524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5" name="Text 23"/>
          <p:cNvSpPr/>
          <p:nvPr/>
        </p:nvSpPr>
        <p:spPr>
          <a:xfrm>
            <a:off x="4709160" y="5768340"/>
            <a:ext cx="1368362" cy="2971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auth-service</a:t>
            </a:r>
            <a:endParaRPr lang="en-US" sz="1680" dirty="0"/>
          </a:p>
        </p:txBody>
      </p:sp>
      <p:sp>
        <p:nvSpPr>
          <p:cNvPr id="26" name="Text 24"/>
          <p:cNvSpPr/>
          <p:nvPr/>
        </p:nvSpPr>
        <p:spPr>
          <a:xfrm>
            <a:off x="11974354" y="5775960"/>
            <a:ext cx="1764936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60" dirty="0">
                <a:solidFill>
                  <a:srgbClr val="C4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Major outage ▾</a:t>
            </a:r>
            <a:endParaRPr lang="en-US" sz="1560" dirty="0"/>
          </a:p>
        </p:txBody>
      </p:sp>
      <p:sp>
        <p:nvSpPr>
          <p:cNvPr id="27" name="Shape 25"/>
          <p:cNvSpPr/>
          <p:nvPr/>
        </p:nvSpPr>
        <p:spPr>
          <a:xfrm>
            <a:off x="4709160" y="6477000"/>
            <a:ext cx="243840" cy="243840"/>
          </a:xfrm>
          <a:prstGeom prst="roundRect">
            <a:avLst>
              <a:gd name="adj" fmla="val 18750"/>
            </a:avLst>
          </a:prstGeom>
          <a:solidFill>
            <a:srgbClr val="006FCF"/>
          </a:solidFill>
          <a:ln/>
        </p:spPr>
      </p:sp>
      <p:sp>
        <p:nvSpPr>
          <p:cNvPr id="28" name="Text 26"/>
          <p:cNvSpPr/>
          <p:nvPr/>
        </p:nvSpPr>
        <p:spPr>
          <a:xfrm>
            <a:off x="5074920" y="6469380"/>
            <a:ext cx="4054007" cy="2971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Notify subscribers about this incident</a:t>
            </a:r>
            <a:endParaRPr lang="en-US" sz="1680" dirty="0"/>
          </a:p>
        </p:txBody>
      </p:sp>
      <p:sp>
        <p:nvSpPr>
          <p:cNvPr id="29" name="Shape 27"/>
          <p:cNvSpPr/>
          <p:nvPr/>
        </p:nvSpPr>
        <p:spPr>
          <a:xfrm>
            <a:off x="4709160" y="7002780"/>
            <a:ext cx="2946083" cy="731520"/>
          </a:xfrm>
          <a:prstGeom prst="roundRect">
            <a:avLst>
              <a:gd name="adj" fmla="val 16667"/>
            </a:avLst>
          </a:prstGeom>
          <a:solidFill>
            <a:srgbClr val="006FCF"/>
          </a:solidFill>
          <a:ln/>
        </p:spPr>
      </p:sp>
      <p:sp>
        <p:nvSpPr>
          <p:cNvPr id="30" name="Text 28"/>
          <p:cNvSpPr/>
          <p:nvPr/>
        </p:nvSpPr>
        <p:spPr>
          <a:xfrm>
            <a:off x="5015489" y="7170420"/>
            <a:ext cx="2333425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6316"/>
              </a:lnSpc>
              <a:buNone/>
            </a:pPr>
            <a:r>
              <a:rPr lang="en-US" sz="19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Create new incident</a:t>
            </a:r>
            <a:endParaRPr lang="en-US" sz="1920" dirty="0"/>
          </a:p>
        </p:txBody>
      </p:sp>
      <p:sp>
        <p:nvSpPr>
          <p:cNvPr id="31" name="Shape 29"/>
          <p:cNvSpPr/>
          <p:nvPr/>
        </p:nvSpPr>
        <p:spPr>
          <a:xfrm>
            <a:off x="7807643" y="7002780"/>
            <a:ext cx="1513046" cy="731520"/>
          </a:xfrm>
          <a:prstGeom prst="roundRect">
            <a:avLst>
              <a:gd name="adj" fmla="val 8333"/>
            </a:avLst>
          </a:prstGeom>
          <a:ln w="15240">
            <a:solidFill>
              <a:srgbClr val="006FC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35303" y="7185660"/>
            <a:ext cx="857726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6316"/>
              </a:lnSpc>
              <a:buNone/>
            </a:pPr>
            <a:r>
              <a:rPr lang="en-US" sz="1920" dirty="0">
                <a:solidFill>
                  <a:srgbClr val="006FC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Cancel</a:t>
            </a:r>
            <a:endParaRPr lang="en-US" sz="1920" dirty="0"/>
          </a:p>
        </p:txBody>
      </p:sp>
      <p:sp>
        <p:nvSpPr>
          <p:cNvPr id="33" name="Shape 31"/>
          <p:cNvSpPr/>
          <p:nvPr/>
        </p:nvSpPr>
        <p:spPr>
          <a:xfrm>
            <a:off x="4709160" y="8008620"/>
            <a:ext cx="8869681" cy="883919"/>
          </a:xfrm>
          <a:prstGeom prst="roundRect">
            <a:avLst>
              <a:gd name="adj" fmla="val 13793"/>
            </a:avLst>
          </a:prstGeom>
          <a:solidFill>
            <a:srgbClr val="E6F2FA"/>
          </a:solidFill>
          <a:ln w="15240">
            <a:solidFill>
              <a:srgbClr val="D9D9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8206740"/>
            <a:ext cx="8678571" cy="52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60" dirty="0">
                <a:solidFill>
                  <a:srgbClr val="5E5E5E"/>
                </a:solidFill>
                <a:highlight>
                  <a:srgbClr val="E6F2F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ⓘ This incident will be posted as </a:t>
            </a:r>
            <a:pPr algn="l" indent="0" marL="0">
              <a:buNone/>
            </a:pPr>
            <a:r>
              <a:rPr lang="en-US" sz="156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INC-CASE-2323223 </a:t>
            </a:r>
            <a:pPr algn="l" indent="0" marL="0">
              <a:buNone/>
            </a:pPr>
            <a:r>
              <a:rPr lang="en-US" sz="1560" dirty="0">
                <a:solidFill>
                  <a:srgbClr val="5E5E5E"/>
                </a:solidFill>
                <a:highlight>
                  <a:srgbClr val="E6F2F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and notify subscribed on-call engineers.</a:t>
            </a:r>
            <a:endParaRPr lang="en-US" sz="15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429828"/>
            <a:ext cx="17068800" cy="5427345"/>
          </a:xfrm>
          <a:prstGeom prst="roundRect">
            <a:avLst>
              <a:gd name="adj" fmla="val 1966"/>
            </a:avLst>
          </a:prstGeom>
          <a:solidFill>
            <a:srgbClr val="FFFFFF"/>
          </a:solidFill>
          <a:ln w="13335">
            <a:solidFill>
              <a:srgbClr val="D9D9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2935" y="2443163"/>
            <a:ext cx="17042130" cy="853440"/>
          </a:xfrm>
          <a:prstGeom prst="rect">
            <a:avLst/>
          </a:prstGeom>
          <a:solidFill>
            <a:srgbClr val="006FCF"/>
          </a:solidFill>
          <a:ln/>
        </p:spPr>
      </p:sp>
      <p:sp>
        <p:nvSpPr>
          <p:cNvPr id="4" name="Text 2"/>
          <p:cNvSpPr/>
          <p:nvPr/>
        </p:nvSpPr>
        <p:spPr>
          <a:xfrm>
            <a:off x="942975" y="2749868"/>
            <a:ext cx="2124373" cy="278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AMERICAN EXPRESS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3097827" y="2749868"/>
            <a:ext cx="122039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0" kern="0" dirty="0">
                <a:solidFill>
                  <a:srgbClr val="FFFFFF">
                    <a:alpha val="5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|</a:t>
            </a:r>
            <a:endParaRPr lang="en-US" sz="157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50347" y="2749868"/>
            <a:ext cx="240030" cy="2400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597057" y="2749868"/>
            <a:ext cx="420826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1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AIR</a:t>
            </a:r>
            <a:endParaRPr lang="en-US" sz="1575" dirty="0"/>
          </a:p>
        </p:txBody>
      </p:sp>
      <p:sp>
        <p:nvSpPr>
          <p:cNvPr id="8" name="Text 5"/>
          <p:cNvSpPr/>
          <p:nvPr/>
        </p:nvSpPr>
        <p:spPr>
          <a:xfrm>
            <a:off x="4475083" y="2736533"/>
            <a:ext cx="58730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FFFFFF">
                    <a:alpha val="7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Alerts</a:t>
            </a:r>
            <a:endParaRPr lang="en-US" sz="1575" dirty="0"/>
          </a:p>
        </p:txBody>
      </p:sp>
      <p:sp>
        <p:nvSpPr>
          <p:cNvPr id="9" name="Text 6"/>
          <p:cNvSpPr/>
          <p:nvPr/>
        </p:nvSpPr>
        <p:spPr>
          <a:xfrm>
            <a:off x="5359569" y="2736533"/>
            <a:ext cx="105819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FFFFFF">
                    <a:alpha val="7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Dashboard</a:t>
            </a:r>
            <a:endParaRPr lang="en-US" sz="1575" dirty="0"/>
          </a:p>
        </p:txBody>
      </p:sp>
      <p:sp>
        <p:nvSpPr>
          <p:cNvPr id="10" name="Shape 7"/>
          <p:cNvSpPr/>
          <p:nvPr/>
        </p:nvSpPr>
        <p:spPr>
          <a:xfrm>
            <a:off x="6554926" y="3083242"/>
            <a:ext cx="1197650" cy="2667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6714946" y="2736533"/>
            <a:ext cx="953810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Incidents</a:t>
            </a:r>
            <a:endParaRPr lang="en-US" sz="1575" dirty="0"/>
          </a:p>
        </p:txBody>
      </p:sp>
      <p:sp>
        <p:nvSpPr>
          <p:cNvPr id="12" name="Text 9"/>
          <p:cNvSpPr/>
          <p:nvPr/>
        </p:nvSpPr>
        <p:spPr>
          <a:xfrm>
            <a:off x="7965936" y="2736533"/>
            <a:ext cx="104298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FFFFFF">
                    <a:alpha val="7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Alert Rules</a:t>
            </a:r>
            <a:endParaRPr lang="en-US" sz="1575" dirty="0"/>
          </a:p>
        </p:txBody>
      </p:sp>
      <p:sp>
        <p:nvSpPr>
          <p:cNvPr id="13" name="Text 10"/>
          <p:cNvSpPr/>
          <p:nvPr/>
        </p:nvSpPr>
        <p:spPr>
          <a:xfrm>
            <a:off x="9306104" y="2736533"/>
            <a:ext cx="883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FFFFFF">
                    <a:alpha val="7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Analytics</a:t>
            </a:r>
            <a:endParaRPr lang="en-US" sz="1575" dirty="0"/>
          </a:p>
        </p:txBody>
      </p:sp>
      <p:sp>
        <p:nvSpPr>
          <p:cNvPr id="14" name="Text 11"/>
          <p:cNvSpPr/>
          <p:nvPr/>
        </p:nvSpPr>
        <p:spPr>
          <a:xfrm>
            <a:off x="10487085" y="2736533"/>
            <a:ext cx="113195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FFFFFF">
                    <a:alpha val="7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Integrations</a:t>
            </a:r>
            <a:endParaRPr lang="en-US" sz="1575" dirty="0"/>
          </a:p>
        </p:txBody>
      </p:sp>
      <p:sp>
        <p:nvSpPr>
          <p:cNvPr id="15" name="Text 12"/>
          <p:cNvSpPr/>
          <p:nvPr/>
        </p:nvSpPr>
        <p:spPr>
          <a:xfrm>
            <a:off x="11916221" y="2736533"/>
            <a:ext cx="80983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FFFFFF">
                    <a:alpha val="7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Settings</a:t>
            </a:r>
            <a:endParaRPr lang="en-US" sz="1575" dirty="0"/>
          </a:p>
        </p:txBody>
      </p:sp>
      <p:sp>
        <p:nvSpPr>
          <p:cNvPr id="16" name="Shape 13"/>
          <p:cNvSpPr/>
          <p:nvPr/>
        </p:nvSpPr>
        <p:spPr>
          <a:xfrm>
            <a:off x="16918305" y="2656522"/>
            <a:ext cx="426720" cy="426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16880205" y="2656522"/>
            <a:ext cx="502920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65" b="1" dirty="0">
                <a:solidFill>
                  <a:srgbClr val="006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</a:t>
            </a:r>
            <a:endParaRPr lang="en-US" sz="1365" dirty="0"/>
          </a:p>
        </p:txBody>
      </p:sp>
      <p:sp>
        <p:nvSpPr>
          <p:cNvPr id="18" name="Shape 15"/>
          <p:cNvSpPr/>
          <p:nvPr/>
        </p:nvSpPr>
        <p:spPr>
          <a:xfrm>
            <a:off x="942975" y="3616643"/>
            <a:ext cx="16402050" cy="3080385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13335">
            <a:solidFill>
              <a:srgbClr val="D9D9D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56310" y="4163378"/>
            <a:ext cx="16375380" cy="13335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0" name="Text 17"/>
          <p:cNvSpPr/>
          <p:nvPr/>
        </p:nvSpPr>
        <p:spPr>
          <a:xfrm>
            <a:off x="1169670" y="3789998"/>
            <a:ext cx="742950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65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</a:t>
            </a:r>
            <a:endParaRPr lang="en-US" sz="1365" dirty="0"/>
          </a:p>
        </p:txBody>
      </p:sp>
      <p:sp>
        <p:nvSpPr>
          <p:cNvPr id="21" name="Text 18"/>
          <p:cNvSpPr/>
          <p:nvPr/>
        </p:nvSpPr>
        <p:spPr>
          <a:xfrm>
            <a:off x="2023110" y="3789998"/>
            <a:ext cx="6317311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65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1365" dirty="0"/>
          </a:p>
        </p:txBody>
      </p:sp>
      <p:sp>
        <p:nvSpPr>
          <p:cNvPr id="22" name="Text 19"/>
          <p:cNvSpPr/>
          <p:nvPr/>
        </p:nvSpPr>
        <p:spPr>
          <a:xfrm>
            <a:off x="7952809" y="3789998"/>
            <a:ext cx="3158541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65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1365" dirty="0"/>
          </a:p>
        </p:txBody>
      </p:sp>
      <p:sp>
        <p:nvSpPr>
          <p:cNvPr id="23" name="Text 20"/>
          <p:cNvSpPr/>
          <p:nvPr/>
        </p:nvSpPr>
        <p:spPr>
          <a:xfrm>
            <a:off x="11010900" y="3789998"/>
            <a:ext cx="1760220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65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by</a:t>
            </a:r>
            <a:endParaRPr lang="en-US" sz="1365" dirty="0"/>
          </a:p>
        </p:txBody>
      </p:sp>
      <p:sp>
        <p:nvSpPr>
          <p:cNvPr id="24" name="Text 21"/>
          <p:cNvSpPr/>
          <p:nvPr/>
        </p:nvSpPr>
        <p:spPr>
          <a:xfrm>
            <a:off x="12797790" y="3789998"/>
            <a:ext cx="2053590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65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365" dirty="0"/>
          </a:p>
        </p:txBody>
      </p:sp>
      <p:sp>
        <p:nvSpPr>
          <p:cNvPr id="25" name="Text 22"/>
          <p:cNvSpPr/>
          <p:nvPr/>
        </p:nvSpPr>
        <p:spPr>
          <a:xfrm>
            <a:off x="14851380" y="3789998"/>
            <a:ext cx="249364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65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 channel</a:t>
            </a:r>
            <a:endParaRPr lang="en-US" sz="1365" dirty="0"/>
          </a:p>
        </p:txBody>
      </p:sp>
      <p:sp>
        <p:nvSpPr>
          <p:cNvPr id="26" name="Shape 23"/>
          <p:cNvSpPr/>
          <p:nvPr/>
        </p:nvSpPr>
        <p:spPr>
          <a:xfrm>
            <a:off x="956310" y="4950142"/>
            <a:ext cx="16375380" cy="13335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7" name="Text 24"/>
          <p:cNvSpPr/>
          <p:nvPr/>
        </p:nvSpPr>
        <p:spPr>
          <a:xfrm>
            <a:off x="1169670" y="4450080"/>
            <a:ext cx="742950" cy="26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70" b="1" dirty="0">
                <a:solidFill>
                  <a:srgbClr val="C4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470" dirty="0"/>
          </a:p>
        </p:txBody>
      </p:sp>
      <p:sp>
        <p:nvSpPr>
          <p:cNvPr id="28" name="Text 25"/>
          <p:cNvSpPr/>
          <p:nvPr/>
        </p:nvSpPr>
        <p:spPr>
          <a:xfrm>
            <a:off x="2023110" y="4450080"/>
            <a:ext cx="6317311" cy="26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 errors spiking 8x baseline · INC-CASE-2323223</a:t>
            </a:r>
            <a:endParaRPr lang="en-US" sz="1470" dirty="0"/>
          </a:p>
        </p:txBody>
      </p:sp>
      <p:sp>
        <p:nvSpPr>
          <p:cNvPr id="29" name="Text 26"/>
          <p:cNvSpPr/>
          <p:nvPr/>
        </p:nvSpPr>
        <p:spPr>
          <a:xfrm>
            <a:off x="7952809" y="4450080"/>
            <a:ext cx="3158541" cy="26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checkout-svc</a:t>
            </a:r>
            <a:endParaRPr lang="en-US" sz="1470" dirty="0"/>
          </a:p>
        </p:txBody>
      </p:sp>
      <p:sp>
        <p:nvSpPr>
          <p:cNvPr id="30" name="Text 27"/>
          <p:cNvSpPr/>
          <p:nvPr/>
        </p:nvSpPr>
        <p:spPr>
          <a:xfrm>
            <a:off x="11010900" y="4450080"/>
            <a:ext cx="1760220" cy="26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ArunKumar K</a:t>
            </a:r>
            <a:endParaRPr lang="en-US" sz="1470" dirty="0"/>
          </a:p>
        </p:txBody>
      </p:sp>
      <p:sp>
        <p:nvSpPr>
          <p:cNvPr id="31" name="Shape 28"/>
          <p:cNvSpPr/>
          <p:nvPr/>
        </p:nvSpPr>
        <p:spPr>
          <a:xfrm>
            <a:off x="12797790" y="4363403"/>
            <a:ext cx="1866900" cy="40005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3335">
            <a:solidFill>
              <a:srgbClr val="D9D9D9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2944475" y="4456748"/>
            <a:ext cx="1106537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65" dirty="0">
                <a:solidFill>
                  <a:srgbClr val="006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Investigating</a:t>
            </a:r>
            <a:endParaRPr lang="en-US" sz="1365" dirty="0"/>
          </a:p>
        </p:txBody>
      </p:sp>
      <p:sp>
        <p:nvSpPr>
          <p:cNvPr id="33" name="Text 30"/>
          <p:cNvSpPr/>
          <p:nvPr/>
        </p:nvSpPr>
        <p:spPr>
          <a:xfrm>
            <a:off x="14437162" y="4456748"/>
            <a:ext cx="157043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65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▾</a:t>
            </a:r>
            <a:endParaRPr lang="en-US" sz="1365" dirty="0"/>
          </a:p>
        </p:txBody>
      </p:sp>
      <p:sp>
        <p:nvSpPr>
          <p:cNvPr id="34" name="Text 31"/>
          <p:cNvSpPr/>
          <p:nvPr/>
        </p:nvSpPr>
        <p:spPr>
          <a:xfrm>
            <a:off x="14851380" y="4423410"/>
            <a:ext cx="2493645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65" dirty="0">
                <a:solidFill>
                  <a:srgbClr val="0087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#inc-case-2323223</a:t>
            </a:r>
            <a:endParaRPr lang="en-US" sz="1365" dirty="0"/>
          </a:p>
        </p:txBody>
      </p:sp>
      <p:sp>
        <p:nvSpPr>
          <p:cNvPr id="35" name="Shape 32"/>
          <p:cNvSpPr/>
          <p:nvPr/>
        </p:nvSpPr>
        <p:spPr>
          <a:xfrm>
            <a:off x="956310" y="5763578"/>
            <a:ext cx="16375380" cy="13335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36" name="Text 33"/>
          <p:cNvSpPr/>
          <p:nvPr/>
        </p:nvSpPr>
        <p:spPr>
          <a:xfrm>
            <a:off x="1169670" y="5250180"/>
            <a:ext cx="742950" cy="26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7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470" dirty="0"/>
          </a:p>
        </p:txBody>
      </p:sp>
      <p:sp>
        <p:nvSpPr>
          <p:cNvPr id="37" name="Text 34"/>
          <p:cNvSpPr/>
          <p:nvPr/>
        </p:nvSpPr>
        <p:spPr>
          <a:xfrm>
            <a:off x="2023110" y="5250180"/>
            <a:ext cx="6317311" cy="26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 API p99 latency &gt; 4s · INC-CASE-2323198</a:t>
            </a:r>
            <a:endParaRPr lang="en-US" sz="1470" dirty="0"/>
          </a:p>
        </p:txBody>
      </p:sp>
      <p:sp>
        <p:nvSpPr>
          <p:cNvPr id="38" name="Text 35"/>
          <p:cNvSpPr/>
          <p:nvPr/>
        </p:nvSpPr>
        <p:spPr>
          <a:xfrm>
            <a:off x="7952809" y="5250180"/>
            <a:ext cx="3158541" cy="26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payments-api</a:t>
            </a:r>
            <a:endParaRPr lang="en-US" sz="1470" dirty="0"/>
          </a:p>
        </p:txBody>
      </p:sp>
      <p:sp>
        <p:nvSpPr>
          <p:cNvPr id="39" name="Text 36"/>
          <p:cNvSpPr/>
          <p:nvPr/>
        </p:nvSpPr>
        <p:spPr>
          <a:xfrm>
            <a:off x="11010900" y="5250180"/>
            <a:ext cx="1760220" cy="26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Chen</a:t>
            </a:r>
            <a:endParaRPr lang="en-US" sz="1470" dirty="0"/>
          </a:p>
        </p:txBody>
      </p:sp>
      <p:sp>
        <p:nvSpPr>
          <p:cNvPr id="40" name="Shape 37"/>
          <p:cNvSpPr/>
          <p:nvPr/>
        </p:nvSpPr>
        <p:spPr>
          <a:xfrm>
            <a:off x="12797790" y="5163502"/>
            <a:ext cx="1866900" cy="40005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3335">
            <a:solidFill>
              <a:srgbClr val="D9D9D9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2944475" y="5256848"/>
            <a:ext cx="83608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65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</a:t>
            </a:r>
            <a:endParaRPr lang="en-US" sz="1365" dirty="0"/>
          </a:p>
        </p:txBody>
      </p:sp>
      <p:sp>
        <p:nvSpPr>
          <p:cNvPr id="42" name="Text 39"/>
          <p:cNvSpPr/>
          <p:nvPr/>
        </p:nvSpPr>
        <p:spPr>
          <a:xfrm>
            <a:off x="14437162" y="5256848"/>
            <a:ext cx="157043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65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▾</a:t>
            </a:r>
            <a:endParaRPr lang="en-US" sz="1365" dirty="0"/>
          </a:p>
        </p:txBody>
      </p:sp>
      <p:sp>
        <p:nvSpPr>
          <p:cNvPr id="43" name="Shape 40"/>
          <p:cNvSpPr/>
          <p:nvPr/>
        </p:nvSpPr>
        <p:spPr>
          <a:xfrm>
            <a:off x="14851380" y="5150168"/>
            <a:ext cx="2266950" cy="640080"/>
          </a:xfrm>
          <a:prstGeom prst="roundRect">
            <a:avLst>
              <a:gd name="adj" fmla="val 8333"/>
            </a:avLst>
          </a:prstGeom>
          <a:ln w="13335">
            <a:solidFill>
              <a:srgbClr val="006FCF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5133320" y="5310188"/>
            <a:ext cx="170307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6316"/>
              </a:lnSpc>
              <a:buNone/>
            </a:pPr>
            <a:r>
              <a:rPr lang="en-US" sz="1680" dirty="0">
                <a:solidFill>
                  <a:srgbClr val="006FC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Create Slack channel</a:t>
            </a:r>
            <a:endParaRPr lang="en-US" sz="1680" dirty="0"/>
          </a:p>
        </p:txBody>
      </p:sp>
      <p:sp>
        <p:nvSpPr>
          <p:cNvPr id="45" name="Text 42"/>
          <p:cNvSpPr/>
          <p:nvPr/>
        </p:nvSpPr>
        <p:spPr>
          <a:xfrm>
            <a:off x="1169670" y="6116955"/>
            <a:ext cx="742950" cy="26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470" dirty="0"/>
          </a:p>
        </p:txBody>
      </p:sp>
      <p:sp>
        <p:nvSpPr>
          <p:cNvPr id="46" name="Text 43"/>
          <p:cNvSpPr/>
          <p:nvPr/>
        </p:nvSpPr>
        <p:spPr>
          <a:xfrm>
            <a:off x="2023110" y="6116955"/>
            <a:ext cx="6317311" cy="26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indexing lag · INC-CASE-2318802</a:t>
            </a:r>
            <a:endParaRPr lang="en-US" sz="1470" dirty="0"/>
          </a:p>
        </p:txBody>
      </p:sp>
      <p:sp>
        <p:nvSpPr>
          <p:cNvPr id="47" name="Text 44"/>
          <p:cNvSpPr/>
          <p:nvPr/>
        </p:nvSpPr>
        <p:spPr>
          <a:xfrm>
            <a:off x="7952809" y="6116955"/>
            <a:ext cx="3158541" cy="26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search-svc</a:t>
            </a:r>
            <a:endParaRPr lang="en-US" sz="1470" dirty="0"/>
          </a:p>
        </p:txBody>
      </p:sp>
      <p:sp>
        <p:nvSpPr>
          <p:cNvPr id="48" name="Text 45"/>
          <p:cNvSpPr/>
          <p:nvPr/>
        </p:nvSpPr>
        <p:spPr>
          <a:xfrm>
            <a:off x="11010900" y="6116955"/>
            <a:ext cx="1760220" cy="26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 Nair</a:t>
            </a:r>
            <a:endParaRPr lang="en-US" sz="1470" dirty="0"/>
          </a:p>
        </p:txBody>
      </p:sp>
      <p:sp>
        <p:nvSpPr>
          <p:cNvPr id="49" name="Text 46"/>
          <p:cNvSpPr/>
          <p:nvPr/>
        </p:nvSpPr>
        <p:spPr>
          <a:xfrm>
            <a:off x="12797790" y="6116955"/>
            <a:ext cx="2053590" cy="26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0087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Resolved</a:t>
            </a:r>
            <a:endParaRPr lang="en-US" sz="1470" dirty="0"/>
          </a:p>
        </p:txBody>
      </p:sp>
      <p:sp>
        <p:nvSpPr>
          <p:cNvPr id="50" name="Text 47"/>
          <p:cNvSpPr/>
          <p:nvPr/>
        </p:nvSpPr>
        <p:spPr>
          <a:xfrm>
            <a:off x="14851380" y="5963602"/>
            <a:ext cx="234315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#inc-case-2318802 (archived)</a:t>
            </a:r>
            <a:endParaRPr lang="en-US" sz="1470" dirty="0"/>
          </a:p>
        </p:txBody>
      </p:sp>
      <p:sp>
        <p:nvSpPr>
          <p:cNvPr id="51" name="Shape 48"/>
          <p:cNvSpPr/>
          <p:nvPr/>
        </p:nvSpPr>
        <p:spPr>
          <a:xfrm>
            <a:off x="942975" y="6910388"/>
            <a:ext cx="16402050" cy="61341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3335">
            <a:solidFill>
              <a:srgbClr val="D9D9D9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1169670" y="7110413"/>
            <a:ext cx="16440722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65" dirty="0">
                <a:solidFill>
                  <a:srgbClr val="5E5E5E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Status is owned by the SRE Engineer who created the incident — updated here or with </a:t>
            </a:r>
            <a:pPr algn="l" indent="0" marL="0">
              <a:buNone/>
            </a:pPr>
            <a:r>
              <a:rPr lang="en-US" sz="1365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/incident-status </a:t>
            </a:r>
            <a:pPr algn="l" indent="0" marL="0">
              <a:buNone/>
            </a:pPr>
            <a:r>
              <a:rPr lang="en-US" sz="1365" dirty="0">
                <a:solidFill>
                  <a:srgbClr val="5E5E5E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in the incident's Slack channel. Marking Resolved auto-starts its Retrospective.</a:t>
            </a:r>
            <a:endParaRPr lang="en-US" sz="136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1856422"/>
            <a:ext cx="17068800" cy="6574155"/>
          </a:xfrm>
          <a:prstGeom prst="roundRect">
            <a:avLst>
              <a:gd name="adj" fmla="val 1623"/>
            </a:avLst>
          </a:prstGeom>
          <a:solidFill>
            <a:srgbClr val="FFFFFF"/>
          </a:solidFill>
          <a:ln w="13335">
            <a:solidFill>
              <a:srgbClr val="D9D9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2935" y="1869757"/>
            <a:ext cx="17042130" cy="853440"/>
          </a:xfrm>
          <a:prstGeom prst="rect">
            <a:avLst/>
          </a:prstGeom>
          <a:solidFill>
            <a:srgbClr val="006FCF"/>
          </a:solidFill>
          <a:ln/>
        </p:spPr>
      </p:sp>
      <p:sp>
        <p:nvSpPr>
          <p:cNvPr id="4" name="Text 2"/>
          <p:cNvSpPr/>
          <p:nvPr/>
        </p:nvSpPr>
        <p:spPr>
          <a:xfrm>
            <a:off x="942975" y="2176463"/>
            <a:ext cx="2124373" cy="278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AMERICAN EXPRESS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3097827" y="2176463"/>
            <a:ext cx="122039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0" kern="0" dirty="0">
                <a:solidFill>
                  <a:srgbClr val="FFFFFF">
                    <a:alpha val="5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|</a:t>
            </a:r>
            <a:endParaRPr lang="en-US" sz="157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50347" y="2176463"/>
            <a:ext cx="240030" cy="2400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597057" y="2176463"/>
            <a:ext cx="420826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1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AIR</a:t>
            </a:r>
            <a:endParaRPr lang="en-US" sz="1575" dirty="0"/>
          </a:p>
        </p:txBody>
      </p:sp>
      <p:sp>
        <p:nvSpPr>
          <p:cNvPr id="8" name="Text 5"/>
          <p:cNvSpPr/>
          <p:nvPr/>
        </p:nvSpPr>
        <p:spPr>
          <a:xfrm>
            <a:off x="4475083" y="2163127"/>
            <a:ext cx="58730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FFFFFF">
                    <a:alpha val="7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Alerts</a:t>
            </a:r>
            <a:endParaRPr lang="en-US" sz="1575" dirty="0"/>
          </a:p>
        </p:txBody>
      </p:sp>
      <p:sp>
        <p:nvSpPr>
          <p:cNvPr id="9" name="Text 6"/>
          <p:cNvSpPr/>
          <p:nvPr/>
        </p:nvSpPr>
        <p:spPr>
          <a:xfrm>
            <a:off x="5359569" y="2163127"/>
            <a:ext cx="105819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FFFFFF">
                    <a:alpha val="7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Dashboard</a:t>
            </a:r>
            <a:endParaRPr lang="en-US" sz="1575" dirty="0"/>
          </a:p>
        </p:txBody>
      </p:sp>
      <p:sp>
        <p:nvSpPr>
          <p:cNvPr id="10" name="Shape 7"/>
          <p:cNvSpPr/>
          <p:nvPr/>
        </p:nvSpPr>
        <p:spPr>
          <a:xfrm>
            <a:off x="6554926" y="2509837"/>
            <a:ext cx="1197650" cy="2667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6714946" y="2163127"/>
            <a:ext cx="953810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Incidents</a:t>
            </a:r>
            <a:endParaRPr lang="en-US" sz="1575" dirty="0"/>
          </a:p>
        </p:txBody>
      </p:sp>
      <p:sp>
        <p:nvSpPr>
          <p:cNvPr id="12" name="Text 9"/>
          <p:cNvSpPr/>
          <p:nvPr/>
        </p:nvSpPr>
        <p:spPr>
          <a:xfrm>
            <a:off x="7965936" y="2163127"/>
            <a:ext cx="104298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FFFFFF">
                    <a:alpha val="7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Alert Rules</a:t>
            </a:r>
            <a:endParaRPr lang="en-US" sz="1575" dirty="0"/>
          </a:p>
        </p:txBody>
      </p:sp>
      <p:sp>
        <p:nvSpPr>
          <p:cNvPr id="13" name="Text 10"/>
          <p:cNvSpPr/>
          <p:nvPr/>
        </p:nvSpPr>
        <p:spPr>
          <a:xfrm>
            <a:off x="9306104" y="2163127"/>
            <a:ext cx="883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FFFFFF">
                    <a:alpha val="7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Analytics</a:t>
            </a:r>
            <a:endParaRPr lang="en-US" sz="1575" dirty="0"/>
          </a:p>
        </p:txBody>
      </p:sp>
      <p:sp>
        <p:nvSpPr>
          <p:cNvPr id="14" name="Text 11"/>
          <p:cNvSpPr/>
          <p:nvPr/>
        </p:nvSpPr>
        <p:spPr>
          <a:xfrm>
            <a:off x="10487085" y="2163127"/>
            <a:ext cx="113195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FFFFFF">
                    <a:alpha val="7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Integrations</a:t>
            </a:r>
            <a:endParaRPr lang="en-US" sz="1575" dirty="0"/>
          </a:p>
        </p:txBody>
      </p:sp>
      <p:sp>
        <p:nvSpPr>
          <p:cNvPr id="15" name="Text 12"/>
          <p:cNvSpPr/>
          <p:nvPr/>
        </p:nvSpPr>
        <p:spPr>
          <a:xfrm>
            <a:off x="11916221" y="2163127"/>
            <a:ext cx="80983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FFFFFF">
                    <a:alpha val="7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Settings</a:t>
            </a:r>
            <a:endParaRPr lang="en-US" sz="1575" dirty="0"/>
          </a:p>
        </p:txBody>
      </p:sp>
      <p:sp>
        <p:nvSpPr>
          <p:cNvPr id="16" name="Shape 13"/>
          <p:cNvSpPr/>
          <p:nvPr/>
        </p:nvSpPr>
        <p:spPr>
          <a:xfrm>
            <a:off x="16918305" y="2083117"/>
            <a:ext cx="426720" cy="426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16880205" y="2083117"/>
            <a:ext cx="502920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65" b="1" dirty="0">
                <a:solidFill>
                  <a:srgbClr val="006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</a:t>
            </a:r>
            <a:endParaRPr lang="en-US" sz="1365" dirty="0"/>
          </a:p>
        </p:txBody>
      </p:sp>
      <p:sp>
        <p:nvSpPr>
          <p:cNvPr id="18" name="Shape 15"/>
          <p:cNvSpPr/>
          <p:nvPr/>
        </p:nvSpPr>
        <p:spPr>
          <a:xfrm>
            <a:off x="942975" y="3043238"/>
            <a:ext cx="16402050" cy="117348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3335">
            <a:solidFill>
              <a:srgbClr val="D9D9D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23010" y="3323272"/>
            <a:ext cx="5397321" cy="344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— Checkout errors spiking 8x baseline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16207591" y="3323272"/>
            <a:ext cx="933599" cy="344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70" b="1" dirty="0">
                <a:solidFill>
                  <a:srgbClr val="C4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470" dirty="0"/>
          </a:p>
        </p:txBody>
      </p:sp>
      <p:sp>
        <p:nvSpPr>
          <p:cNvPr id="21" name="Text 18"/>
          <p:cNvSpPr/>
          <p:nvPr/>
        </p:nvSpPr>
        <p:spPr>
          <a:xfrm>
            <a:off x="1223010" y="3709988"/>
            <a:ext cx="17426177" cy="26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checkout-svc · opened 6m ago · owner: SRE on-call</a:t>
            </a:r>
            <a:endParaRPr lang="en-US" sz="1470" dirty="0"/>
          </a:p>
        </p:txBody>
      </p:sp>
      <p:sp>
        <p:nvSpPr>
          <p:cNvPr id="22" name="Shape 19"/>
          <p:cNvSpPr/>
          <p:nvPr/>
        </p:nvSpPr>
        <p:spPr>
          <a:xfrm>
            <a:off x="942975" y="4950142"/>
            <a:ext cx="16402050" cy="13335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3" name="Shape 20"/>
          <p:cNvSpPr/>
          <p:nvPr/>
        </p:nvSpPr>
        <p:spPr>
          <a:xfrm>
            <a:off x="942975" y="4923472"/>
            <a:ext cx="1268700" cy="26670"/>
          </a:xfrm>
          <a:prstGeom prst="rect">
            <a:avLst/>
          </a:prstGeom>
          <a:solidFill>
            <a:srgbClr val="006FCF"/>
          </a:solidFill>
          <a:ln/>
        </p:spPr>
      </p:sp>
      <p:sp>
        <p:nvSpPr>
          <p:cNvPr id="24" name="Text 21"/>
          <p:cNvSpPr/>
          <p:nvPr/>
        </p:nvSpPr>
        <p:spPr>
          <a:xfrm>
            <a:off x="1156335" y="4563427"/>
            <a:ext cx="918180" cy="26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70" b="1" dirty="0">
                <a:solidFill>
                  <a:srgbClr val="006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470" dirty="0"/>
          </a:p>
        </p:txBody>
      </p:sp>
      <p:sp>
        <p:nvSpPr>
          <p:cNvPr id="25" name="Text 22"/>
          <p:cNvSpPr/>
          <p:nvPr/>
        </p:nvSpPr>
        <p:spPr>
          <a:xfrm>
            <a:off x="2478375" y="4563427"/>
            <a:ext cx="1082159" cy="291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Factors</a:t>
            </a:r>
            <a:endParaRPr lang="en-US" sz="1470" dirty="0"/>
          </a:p>
        </p:txBody>
      </p:sp>
      <p:sp>
        <p:nvSpPr>
          <p:cNvPr id="26" name="Text 23"/>
          <p:cNvSpPr/>
          <p:nvPr/>
        </p:nvSpPr>
        <p:spPr>
          <a:xfrm>
            <a:off x="3964394" y="4563427"/>
            <a:ext cx="2379093" cy="291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RCA and Recommendation</a:t>
            </a:r>
            <a:endParaRPr lang="en-US" sz="1470" dirty="0"/>
          </a:p>
        </p:txBody>
      </p:sp>
      <p:sp>
        <p:nvSpPr>
          <p:cNvPr id="27" name="Text 24"/>
          <p:cNvSpPr/>
          <p:nvPr/>
        </p:nvSpPr>
        <p:spPr>
          <a:xfrm>
            <a:off x="6741825" y="4563427"/>
            <a:ext cx="800874" cy="291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</a:t>
            </a:r>
            <a:endParaRPr lang="en-US" sz="1470" dirty="0"/>
          </a:p>
        </p:txBody>
      </p:sp>
      <p:sp>
        <p:nvSpPr>
          <p:cNvPr id="28" name="Shape 25"/>
          <p:cNvSpPr/>
          <p:nvPr/>
        </p:nvSpPr>
        <p:spPr>
          <a:xfrm>
            <a:off x="942975" y="5176838"/>
            <a:ext cx="10792390" cy="14668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3335">
            <a:solidFill>
              <a:srgbClr val="D9D9D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223010" y="5456873"/>
            <a:ext cx="11255552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summary</a:t>
            </a:r>
            <a:endParaRPr lang="en-US" sz="1680" dirty="0"/>
          </a:p>
        </p:txBody>
      </p:sp>
      <p:sp>
        <p:nvSpPr>
          <p:cNvPr id="30" name="Text 27"/>
          <p:cNvSpPr/>
          <p:nvPr/>
        </p:nvSpPr>
        <p:spPr>
          <a:xfrm>
            <a:off x="1223010" y="5803582"/>
            <a:ext cx="10539289" cy="598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147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rate on /checkout jumped after 14:02 deploy. Correlates with DB connection pool exhaustion on checkout-db-primary. Confidence 82%.</a:t>
            </a:r>
            <a:endParaRPr lang="en-US" sz="1470" dirty="0"/>
          </a:p>
        </p:txBody>
      </p:sp>
      <p:sp>
        <p:nvSpPr>
          <p:cNvPr id="31" name="Shape 28"/>
          <p:cNvSpPr/>
          <p:nvPr/>
        </p:nvSpPr>
        <p:spPr>
          <a:xfrm>
            <a:off x="942975" y="6830377"/>
            <a:ext cx="10792390" cy="1133475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3335">
            <a:solidFill>
              <a:srgbClr val="D9D9D9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223010" y="7110413"/>
            <a:ext cx="11255552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680" dirty="0"/>
          </a:p>
        </p:txBody>
      </p:sp>
      <p:sp>
        <p:nvSpPr>
          <p:cNvPr id="33" name="Text 30"/>
          <p:cNvSpPr/>
          <p:nvPr/>
        </p:nvSpPr>
        <p:spPr>
          <a:xfrm>
            <a:off x="1223010" y="7457123"/>
            <a:ext cx="11255552" cy="2647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~14,000 customers affected · $8.2K revenue/min · SLA at risk in 12m</a:t>
            </a:r>
            <a:endParaRPr lang="en-US" sz="1470" dirty="0"/>
          </a:p>
        </p:txBody>
      </p:sp>
      <p:sp>
        <p:nvSpPr>
          <p:cNvPr id="34" name="Shape 31"/>
          <p:cNvSpPr/>
          <p:nvPr/>
        </p:nvSpPr>
        <p:spPr>
          <a:xfrm>
            <a:off x="11948725" y="5176838"/>
            <a:ext cx="5396092" cy="2920365"/>
          </a:xfrm>
          <a:prstGeom prst="roundRect">
            <a:avLst>
              <a:gd name="adj" fmla="val 3653"/>
            </a:avLst>
          </a:prstGeom>
          <a:solidFill>
            <a:srgbClr val="FFFFFF"/>
          </a:solidFill>
          <a:ln w="13335">
            <a:solidFill>
              <a:srgbClr val="D9D9D9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2228761" y="5456873"/>
            <a:ext cx="5319623" cy="2647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Investigation timeline</a:t>
            </a:r>
            <a:endParaRPr lang="en-US" sz="1470" dirty="0"/>
          </a:p>
        </p:txBody>
      </p:sp>
      <p:sp>
        <p:nvSpPr>
          <p:cNvPr id="36" name="Text 33"/>
          <p:cNvSpPr/>
          <p:nvPr/>
        </p:nvSpPr>
        <p:spPr>
          <a:xfrm>
            <a:off x="12228761" y="5843588"/>
            <a:ext cx="235595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65" dirty="0">
                <a:solidFill>
                  <a:srgbClr val="006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365" dirty="0"/>
          </a:p>
        </p:txBody>
      </p:sp>
      <p:sp>
        <p:nvSpPr>
          <p:cNvPr id="37" name="Text 34"/>
          <p:cNvSpPr/>
          <p:nvPr/>
        </p:nvSpPr>
        <p:spPr>
          <a:xfrm>
            <a:off x="12521505" y="5843588"/>
            <a:ext cx="116779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65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 Agent</a:t>
            </a:r>
            <a:endParaRPr lang="en-US" sz="1365" dirty="0"/>
          </a:p>
        </p:txBody>
      </p:sp>
      <p:sp>
        <p:nvSpPr>
          <p:cNvPr id="38" name="Text 35"/>
          <p:cNvSpPr/>
          <p:nvPr/>
        </p:nvSpPr>
        <p:spPr>
          <a:xfrm>
            <a:off x="13660814" y="5843588"/>
            <a:ext cx="124238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6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parsed alert</a:t>
            </a:r>
            <a:endParaRPr lang="en-US" sz="1365" dirty="0"/>
          </a:p>
        </p:txBody>
      </p:sp>
      <p:sp>
        <p:nvSpPr>
          <p:cNvPr id="39" name="Text 36"/>
          <p:cNvSpPr/>
          <p:nvPr/>
        </p:nvSpPr>
        <p:spPr>
          <a:xfrm>
            <a:off x="12521505" y="6056948"/>
            <a:ext cx="2536046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65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14:03:02</a:t>
            </a:r>
            <a:endParaRPr lang="en-US" sz="1365" dirty="0"/>
          </a:p>
        </p:txBody>
      </p:sp>
      <p:sp>
        <p:nvSpPr>
          <p:cNvPr id="40" name="Text 37"/>
          <p:cNvSpPr/>
          <p:nvPr/>
        </p:nvSpPr>
        <p:spPr>
          <a:xfrm>
            <a:off x="12228761" y="6430327"/>
            <a:ext cx="235595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65" dirty="0">
                <a:solidFill>
                  <a:srgbClr val="006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365" dirty="0"/>
          </a:p>
        </p:txBody>
      </p:sp>
      <p:sp>
        <p:nvSpPr>
          <p:cNvPr id="41" name="Text 38"/>
          <p:cNvSpPr/>
          <p:nvPr/>
        </p:nvSpPr>
        <p:spPr>
          <a:xfrm>
            <a:off x="12521505" y="6430327"/>
            <a:ext cx="1808351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65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Analysis Agent</a:t>
            </a:r>
            <a:endParaRPr lang="en-US" sz="1365" dirty="0"/>
          </a:p>
        </p:txBody>
      </p:sp>
      <p:sp>
        <p:nvSpPr>
          <p:cNvPr id="42" name="Text 39"/>
          <p:cNvSpPr/>
          <p:nvPr/>
        </p:nvSpPr>
        <p:spPr>
          <a:xfrm>
            <a:off x="14213175" y="6430327"/>
            <a:ext cx="2041237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6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340 pool errors found</a:t>
            </a:r>
            <a:endParaRPr lang="en-US" sz="1365" dirty="0"/>
          </a:p>
        </p:txBody>
      </p:sp>
      <p:sp>
        <p:nvSpPr>
          <p:cNvPr id="43" name="Text 40"/>
          <p:cNvSpPr/>
          <p:nvPr/>
        </p:nvSpPr>
        <p:spPr>
          <a:xfrm>
            <a:off x="12521505" y="6643688"/>
            <a:ext cx="4022378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65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14:03:18</a:t>
            </a:r>
            <a:endParaRPr lang="en-US" sz="1365" dirty="0"/>
          </a:p>
        </p:txBody>
      </p:sp>
      <p:sp>
        <p:nvSpPr>
          <p:cNvPr id="44" name="Text 41"/>
          <p:cNvSpPr/>
          <p:nvPr/>
        </p:nvSpPr>
        <p:spPr>
          <a:xfrm>
            <a:off x="12228761" y="7017067"/>
            <a:ext cx="235595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65" dirty="0">
                <a:solidFill>
                  <a:srgbClr val="006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365" dirty="0"/>
          </a:p>
        </p:txBody>
      </p:sp>
      <p:sp>
        <p:nvSpPr>
          <p:cNvPr id="45" name="Text 42"/>
          <p:cNvSpPr/>
          <p:nvPr/>
        </p:nvSpPr>
        <p:spPr>
          <a:xfrm>
            <a:off x="12521505" y="7017067"/>
            <a:ext cx="1002149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65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RCA Agent</a:t>
            </a:r>
            <a:endParaRPr lang="en-US" sz="1365" dirty="0"/>
          </a:p>
        </p:txBody>
      </p:sp>
      <p:sp>
        <p:nvSpPr>
          <p:cNvPr id="46" name="Text 43"/>
          <p:cNvSpPr/>
          <p:nvPr/>
        </p:nvSpPr>
        <p:spPr>
          <a:xfrm>
            <a:off x="13495168" y="7017067"/>
            <a:ext cx="159368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6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82% confidence</a:t>
            </a:r>
            <a:endParaRPr lang="en-US" sz="1365" dirty="0"/>
          </a:p>
        </p:txBody>
      </p:sp>
      <p:sp>
        <p:nvSpPr>
          <p:cNvPr id="47" name="Text 44"/>
          <p:cNvSpPr/>
          <p:nvPr/>
        </p:nvSpPr>
        <p:spPr>
          <a:xfrm>
            <a:off x="12521505" y="7230427"/>
            <a:ext cx="2740259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65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14:04:01</a:t>
            </a:r>
            <a:endParaRPr lang="en-US" sz="1365" dirty="0"/>
          </a:p>
        </p:txBody>
      </p:sp>
      <p:sp>
        <p:nvSpPr>
          <p:cNvPr id="48" name="Text 45"/>
          <p:cNvSpPr/>
          <p:nvPr/>
        </p:nvSpPr>
        <p:spPr>
          <a:xfrm>
            <a:off x="12228761" y="7603807"/>
            <a:ext cx="236011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65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365" dirty="0"/>
          </a:p>
        </p:txBody>
      </p:sp>
      <p:sp>
        <p:nvSpPr>
          <p:cNvPr id="49" name="Text 46"/>
          <p:cNvSpPr/>
          <p:nvPr/>
        </p:nvSpPr>
        <p:spPr>
          <a:xfrm>
            <a:off x="12521922" y="7603807"/>
            <a:ext cx="3620828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65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Agent — estimating blast radius…</a:t>
            </a:r>
            <a:endParaRPr lang="en-US" sz="136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9625" y="959644"/>
            <a:ext cx="16668750" cy="8367712"/>
          </a:xfrm>
          <a:prstGeom prst="roundRect">
            <a:avLst>
              <a:gd name="adj" fmla="val 1594"/>
            </a:avLst>
          </a:prstGeom>
          <a:solidFill>
            <a:srgbClr val="FFFFFF"/>
          </a:solidFill>
          <a:ln w="16669">
            <a:solidFill>
              <a:srgbClr val="D9D9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6294" y="976312"/>
            <a:ext cx="16635412" cy="1066800"/>
          </a:xfrm>
          <a:prstGeom prst="rect">
            <a:avLst/>
          </a:prstGeom>
          <a:solidFill>
            <a:srgbClr val="006FCF"/>
          </a:solidFill>
          <a:ln/>
        </p:spPr>
      </p:sp>
      <p:sp>
        <p:nvSpPr>
          <p:cNvPr id="4" name="Text 2"/>
          <p:cNvSpPr/>
          <p:nvPr/>
        </p:nvSpPr>
        <p:spPr>
          <a:xfrm>
            <a:off x="1226344" y="1359694"/>
            <a:ext cx="2637022" cy="338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69" spc="13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AMERICAN EXPRESS</a:t>
            </a:r>
            <a:endParaRPr lang="en-US" sz="1969" dirty="0"/>
          </a:p>
        </p:txBody>
      </p:sp>
      <p:sp>
        <p:nvSpPr>
          <p:cNvPr id="5" name="Text 3"/>
          <p:cNvSpPr/>
          <p:nvPr/>
        </p:nvSpPr>
        <p:spPr>
          <a:xfrm>
            <a:off x="3919910" y="1359694"/>
            <a:ext cx="133499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69" spc="13" kern="0" dirty="0">
                <a:solidFill>
                  <a:srgbClr val="FFFFFF">
                    <a:alpha val="5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|</a:t>
            </a:r>
            <a:endParaRPr lang="en-US" sz="1969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10558" y="1359694"/>
            <a:ext cx="300038" cy="3000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43946" y="1359694"/>
            <a:ext cx="50698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69" b="1" spc="13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AIR</a:t>
            </a:r>
            <a:endParaRPr lang="en-US" sz="1969" dirty="0"/>
          </a:p>
        </p:txBody>
      </p:sp>
      <p:sp>
        <p:nvSpPr>
          <p:cNvPr id="8" name="Text 5"/>
          <p:cNvSpPr/>
          <p:nvPr/>
        </p:nvSpPr>
        <p:spPr>
          <a:xfrm>
            <a:off x="5641479" y="1343025"/>
            <a:ext cx="71508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69" dirty="0">
                <a:solidFill>
                  <a:srgbClr val="FFFFFF">
                    <a:alpha val="7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Alerts</a:t>
            </a:r>
            <a:endParaRPr lang="en-US" sz="1969" dirty="0"/>
          </a:p>
        </p:txBody>
      </p:sp>
      <p:sp>
        <p:nvSpPr>
          <p:cNvPr id="9" name="Text 6"/>
          <p:cNvSpPr/>
          <p:nvPr/>
        </p:nvSpPr>
        <p:spPr>
          <a:xfrm>
            <a:off x="6747086" y="1343025"/>
            <a:ext cx="130369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69" dirty="0">
                <a:solidFill>
                  <a:srgbClr val="FFFFFF">
                    <a:alpha val="7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Dashboard</a:t>
            </a:r>
            <a:endParaRPr lang="en-US" sz="1969" dirty="0"/>
          </a:p>
        </p:txBody>
      </p:sp>
      <p:sp>
        <p:nvSpPr>
          <p:cNvPr id="10" name="Shape 7"/>
          <p:cNvSpPr/>
          <p:nvPr/>
        </p:nvSpPr>
        <p:spPr>
          <a:xfrm>
            <a:off x="8241283" y="1776413"/>
            <a:ext cx="1497062" cy="333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8441308" y="1343025"/>
            <a:ext cx="1173212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69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Incidents</a:t>
            </a:r>
            <a:endParaRPr lang="en-US" sz="1969" dirty="0"/>
          </a:p>
        </p:txBody>
      </p:sp>
      <p:sp>
        <p:nvSpPr>
          <p:cNvPr id="12" name="Shape 9"/>
          <p:cNvSpPr/>
          <p:nvPr/>
        </p:nvSpPr>
        <p:spPr>
          <a:xfrm>
            <a:off x="16528256" y="1243013"/>
            <a:ext cx="533400" cy="5334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16490156" y="1243013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706" b="1" dirty="0">
                <a:solidFill>
                  <a:srgbClr val="006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</a:t>
            </a:r>
            <a:endParaRPr lang="en-US" sz="1706" dirty="0"/>
          </a:p>
        </p:txBody>
      </p:sp>
      <p:sp>
        <p:nvSpPr>
          <p:cNvPr id="14" name="Text 11"/>
          <p:cNvSpPr/>
          <p:nvPr/>
        </p:nvSpPr>
        <p:spPr>
          <a:xfrm>
            <a:off x="1226344" y="2443163"/>
            <a:ext cx="17418844" cy="4214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 hypotheses — checkout-svc P1</a:t>
            </a:r>
            <a:endParaRPr lang="en-US" sz="2625" dirty="0"/>
          </a:p>
        </p:txBody>
      </p:sp>
      <p:sp>
        <p:nvSpPr>
          <p:cNvPr id="15" name="Shape 12"/>
          <p:cNvSpPr/>
          <p:nvPr/>
        </p:nvSpPr>
        <p:spPr>
          <a:xfrm>
            <a:off x="1226344" y="3093244"/>
            <a:ext cx="15835312" cy="1783556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33338">
            <a:solidFill>
              <a:srgbClr val="006FC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593056" y="3459956"/>
            <a:ext cx="695521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69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DB connection pool exhaustion after 14:02 deploy</a:t>
            </a:r>
            <a:endParaRPr lang="en-US" sz="1969" dirty="0"/>
          </a:p>
        </p:txBody>
      </p:sp>
      <p:sp>
        <p:nvSpPr>
          <p:cNvPr id="17" name="Text 14"/>
          <p:cNvSpPr/>
          <p:nvPr/>
        </p:nvSpPr>
        <p:spPr>
          <a:xfrm>
            <a:off x="14573324" y="3459956"/>
            <a:ext cx="233378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6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 confidence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1593056" y="3926681"/>
            <a:ext cx="15101888" cy="133350"/>
          </a:xfrm>
          <a:prstGeom prst="roundRect">
            <a:avLst>
              <a:gd name="adj" fmla="val 50000"/>
            </a:avLst>
          </a:prstGeom>
          <a:solidFill>
            <a:srgbClr val="F2F3F3"/>
          </a:solidFill>
          <a:ln w="16669">
            <a:solidFill>
              <a:srgbClr val="D9D9D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609725" y="3943350"/>
            <a:ext cx="12355971" cy="100013"/>
          </a:xfrm>
          <a:prstGeom prst="rect">
            <a:avLst/>
          </a:prstGeom>
          <a:solidFill>
            <a:srgbClr val="006FCF"/>
          </a:solidFill>
          <a:ln/>
        </p:spPr>
      </p:sp>
      <p:sp>
        <p:nvSpPr>
          <p:cNvPr id="20" name="Text 17"/>
          <p:cNvSpPr/>
          <p:nvPr/>
        </p:nvSpPr>
        <p:spPr>
          <a:xfrm>
            <a:off x="1593056" y="4226719"/>
            <a:ext cx="16612076" cy="321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38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340 pool-exhaustion log entries · deploy diff shows max-connections lowered 200→50 · matches incident #INC-2291 (Mar 2026)</a:t>
            </a:r>
            <a:endParaRPr lang="en-US" sz="1838" dirty="0"/>
          </a:p>
        </p:txBody>
      </p:sp>
      <p:sp>
        <p:nvSpPr>
          <p:cNvPr id="21" name="Shape 18"/>
          <p:cNvSpPr/>
          <p:nvPr/>
        </p:nvSpPr>
        <p:spPr>
          <a:xfrm>
            <a:off x="1226344" y="5143500"/>
            <a:ext cx="15835312" cy="1750219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6669">
            <a:solidFill>
              <a:srgbClr val="D9D9D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576388" y="5493544"/>
            <a:ext cx="8060799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69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Downstream dependency (payments-api) slow responses</a:t>
            </a:r>
            <a:endParaRPr lang="en-US" sz="1969" dirty="0"/>
          </a:p>
        </p:txBody>
      </p:sp>
      <p:sp>
        <p:nvSpPr>
          <p:cNvPr id="23" name="Text 20"/>
          <p:cNvSpPr/>
          <p:nvPr/>
        </p:nvSpPr>
        <p:spPr>
          <a:xfrm>
            <a:off x="14673597" y="5493544"/>
            <a:ext cx="2241817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 confidence</a:t>
            </a:r>
            <a:endParaRPr lang="en-US" sz="2100" dirty="0"/>
          </a:p>
        </p:txBody>
      </p:sp>
      <p:sp>
        <p:nvSpPr>
          <p:cNvPr id="24" name="Shape 21"/>
          <p:cNvSpPr/>
          <p:nvPr/>
        </p:nvSpPr>
        <p:spPr>
          <a:xfrm>
            <a:off x="1576388" y="5960269"/>
            <a:ext cx="15135225" cy="133350"/>
          </a:xfrm>
          <a:prstGeom prst="roundRect">
            <a:avLst>
              <a:gd name="adj" fmla="val 50000"/>
            </a:avLst>
          </a:prstGeom>
          <a:solidFill>
            <a:srgbClr val="F2F3F3"/>
          </a:solidFill>
          <a:ln w="16669">
            <a:solidFill>
              <a:srgbClr val="D9D9D9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593056" y="5976938"/>
            <a:ext cx="1661145" cy="100013"/>
          </a:xfrm>
          <a:prstGeom prst="rect">
            <a:avLst/>
          </a:prstGeom>
          <a:solidFill>
            <a:srgbClr val="8B8B8B"/>
          </a:solidFill>
          <a:ln/>
        </p:spPr>
      </p:sp>
      <p:sp>
        <p:nvSpPr>
          <p:cNvPr id="26" name="Text 23"/>
          <p:cNvSpPr/>
          <p:nvPr/>
        </p:nvSpPr>
        <p:spPr>
          <a:xfrm>
            <a:off x="1576388" y="6260306"/>
            <a:ext cx="16648748" cy="321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38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minor p99 latency increase on payments-api, timing doesn't align with error spike</a:t>
            </a:r>
            <a:endParaRPr lang="en-US" sz="1838" dirty="0"/>
          </a:p>
        </p:txBody>
      </p:sp>
      <p:sp>
        <p:nvSpPr>
          <p:cNvPr id="27" name="Shape 24"/>
          <p:cNvSpPr/>
          <p:nvPr/>
        </p:nvSpPr>
        <p:spPr>
          <a:xfrm>
            <a:off x="1226344" y="7160419"/>
            <a:ext cx="15835312" cy="1750219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6669">
            <a:solidFill>
              <a:srgbClr val="D9D9D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576388" y="7510462"/>
            <a:ext cx="431718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69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Traffic surge beyond capacity</a:t>
            </a:r>
            <a:endParaRPr lang="en-US" sz="1969" dirty="0"/>
          </a:p>
        </p:txBody>
      </p:sp>
      <p:sp>
        <p:nvSpPr>
          <p:cNvPr id="29" name="Text 26"/>
          <p:cNvSpPr/>
          <p:nvPr/>
        </p:nvSpPr>
        <p:spPr>
          <a:xfrm>
            <a:off x="14780121" y="7510462"/>
            <a:ext cx="212464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 confidence</a:t>
            </a:r>
            <a:endParaRPr lang="en-US" sz="2100" dirty="0"/>
          </a:p>
        </p:txBody>
      </p:sp>
      <p:sp>
        <p:nvSpPr>
          <p:cNvPr id="30" name="Shape 27"/>
          <p:cNvSpPr/>
          <p:nvPr/>
        </p:nvSpPr>
        <p:spPr>
          <a:xfrm>
            <a:off x="1576388" y="7977188"/>
            <a:ext cx="15135225" cy="133350"/>
          </a:xfrm>
          <a:prstGeom prst="roundRect">
            <a:avLst>
              <a:gd name="adj" fmla="val 50000"/>
            </a:avLst>
          </a:prstGeom>
          <a:solidFill>
            <a:srgbClr val="F2F3F3"/>
          </a:solidFill>
          <a:ln w="16669">
            <a:solidFill>
              <a:srgbClr val="D9D9D9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593056" y="7993856"/>
            <a:ext cx="1056903" cy="100013"/>
          </a:xfrm>
          <a:prstGeom prst="rect">
            <a:avLst/>
          </a:prstGeom>
          <a:solidFill>
            <a:srgbClr val="8B8B8B"/>
          </a:solidFill>
          <a:ln/>
        </p:spPr>
      </p:sp>
      <p:sp>
        <p:nvSpPr>
          <p:cNvPr id="32" name="Text 29"/>
          <p:cNvSpPr/>
          <p:nvPr/>
        </p:nvSpPr>
        <p:spPr>
          <a:xfrm>
            <a:off x="1576388" y="8277225"/>
            <a:ext cx="16648748" cy="321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38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traffic within normal range for time of day</a:t>
            </a:r>
            <a:endParaRPr lang="en-US" sz="1838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9625" y="1409700"/>
            <a:ext cx="16668750" cy="746760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6669">
            <a:solidFill>
              <a:srgbClr val="D9D9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6294" y="1426369"/>
            <a:ext cx="16635412" cy="1066800"/>
          </a:xfrm>
          <a:prstGeom prst="rect">
            <a:avLst/>
          </a:prstGeom>
          <a:solidFill>
            <a:srgbClr val="006FCF"/>
          </a:solidFill>
          <a:ln/>
        </p:spPr>
      </p:sp>
      <p:sp>
        <p:nvSpPr>
          <p:cNvPr id="4" name="Text 2"/>
          <p:cNvSpPr/>
          <p:nvPr/>
        </p:nvSpPr>
        <p:spPr>
          <a:xfrm>
            <a:off x="1226344" y="1809750"/>
            <a:ext cx="2637022" cy="338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69" spc="13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AMERICAN EXPRESS</a:t>
            </a:r>
            <a:endParaRPr lang="en-US" sz="1969" dirty="0"/>
          </a:p>
        </p:txBody>
      </p:sp>
      <p:sp>
        <p:nvSpPr>
          <p:cNvPr id="5" name="Text 3"/>
          <p:cNvSpPr/>
          <p:nvPr/>
        </p:nvSpPr>
        <p:spPr>
          <a:xfrm>
            <a:off x="3919910" y="1809750"/>
            <a:ext cx="133499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69" spc="13" kern="0" dirty="0">
                <a:solidFill>
                  <a:srgbClr val="FFFFFF">
                    <a:alpha val="5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|</a:t>
            </a:r>
            <a:endParaRPr lang="en-US" sz="1969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10558" y="1809750"/>
            <a:ext cx="300038" cy="3000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43946" y="1809750"/>
            <a:ext cx="50698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69" b="1" spc="13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AIR</a:t>
            </a:r>
            <a:endParaRPr lang="en-US" sz="1969" dirty="0"/>
          </a:p>
        </p:txBody>
      </p:sp>
      <p:sp>
        <p:nvSpPr>
          <p:cNvPr id="8" name="Text 5"/>
          <p:cNvSpPr/>
          <p:nvPr/>
        </p:nvSpPr>
        <p:spPr>
          <a:xfrm>
            <a:off x="5641479" y="1793081"/>
            <a:ext cx="71508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69" dirty="0">
                <a:solidFill>
                  <a:srgbClr val="FFFFFF">
                    <a:alpha val="7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Alerts</a:t>
            </a:r>
            <a:endParaRPr lang="en-US" sz="1969" dirty="0"/>
          </a:p>
        </p:txBody>
      </p:sp>
      <p:sp>
        <p:nvSpPr>
          <p:cNvPr id="9" name="Text 6"/>
          <p:cNvSpPr/>
          <p:nvPr/>
        </p:nvSpPr>
        <p:spPr>
          <a:xfrm>
            <a:off x="6747086" y="1793081"/>
            <a:ext cx="130369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69" dirty="0">
                <a:solidFill>
                  <a:srgbClr val="FFFFFF">
                    <a:alpha val="7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Dashboard</a:t>
            </a:r>
            <a:endParaRPr lang="en-US" sz="1969" dirty="0"/>
          </a:p>
        </p:txBody>
      </p:sp>
      <p:sp>
        <p:nvSpPr>
          <p:cNvPr id="10" name="Shape 7"/>
          <p:cNvSpPr/>
          <p:nvPr/>
        </p:nvSpPr>
        <p:spPr>
          <a:xfrm>
            <a:off x="8241283" y="2226469"/>
            <a:ext cx="1497062" cy="333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8441308" y="1793081"/>
            <a:ext cx="1173212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69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Incidents</a:t>
            </a:r>
            <a:endParaRPr lang="en-US" sz="1969" dirty="0"/>
          </a:p>
        </p:txBody>
      </p:sp>
      <p:sp>
        <p:nvSpPr>
          <p:cNvPr id="12" name="Shape 9"/>
          <p:cNvSpPr/>
          <p:nvPr/>
        </p:nvSpPr>
        <p:spPr>
          <a:xfrm>
            <a:off x="16528256" y="1693069"/>
            <a:ext cx="533400" cy="5334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16490156" y="1693069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706" b="1" dirty="0">
                <a:solidFill>
                  <a:srgbClr val="006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</a:t>
            </a:r>
            <a:endParaRPr lang="en-US" sz="1706" dirty="0"/>
          </a:p>
        </p:txBody>
      </p:sp>
      <p:sp>
        <p:nvSpPr>
          <p:cNvPr id="14" name="Text 11"/>
          <p:cNvSpPr/>
          <p:nvPr/>
        </p:nvSpPr>
        <p:spPr>
          <a:xfrm>
            <a:off x="1226344" y="2893219"/>
            <a:ext cx="17418844" cy="4214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remediation — checkout-svc P1</a:t>
            </a:r>
            <a:endParaRPr lang="en-US" sz="2625" dirty="0"/>
          </a:p>
        </p:txBody>
      </p:sp>
      <p:sp>
        <p:nvSpPr>
          <p:cNvPr id="15" name="Shape 12"/>
          <p:cNvSpPr/>
          <p:nvPr/>
        </p:nvSpPr>
        <p:spPr>
          <a:xfrm>
            <a:off x="1226344" y="3543300"/>
            <a:ext cx="15835312" cy="1483519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33338">
            <a:solidFill>
              <a:srgbClr val="006FC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593056" y="3910013"/>
            <a:ext cx="3037411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69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 deploy #4471</a:t>
            </a:r>
            <a:endParaRPr lang="en-US" sz="1969" dirty="0"/>
          </a:p>
        </p:txBody>
      </p:sp>
      <p:sp>
        <p:nvSpPr>
          <p:cNvPr id="17" name="Shape 14"/>
          <p:cNvSpPr/>
          <p:nvPr/>
        </p:nvSpPr>
        <p:spPr>
          <a:xfrm>
            <a:off x="15534122" y="3910013"/>
            <a:ext cx="1160822" cy="366713"/>
          </a:xfrm>
          <a:prstGeom prst="roundRect">
            <a:avLst>
              <a:gd name="adj" fmla="val 50000"/>
            </a:avLst>
          </a:prstGeom>
          <a:solidFill>
            <a:srgbClr val="E6F2FA"/>
          </a:solidFill>
          <a:ln/>
        </p:spPr>
      </p:sp>
      <p:sp>
        <p:nvSpPr>
          <p:cNvPr id="18" name="Text 15"/>
          <p:cNvSpPr/>
          <p:nvPr/>
        </p:nvSpPr>
        <p:spPr>
          <a:xfrm>
            <a:off x="15700809" y="3960019"/>
            <a:ext cx="90364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06" dirty="0">
                <a:solidFill>
                  <a:srgbClr val="006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risk</a:t>
            </a:r>
            <a:endParaRPr lang="en-US" sz="1706" dirty="0"/>
          </a:p>
        </p:txBody>
      </p:sp>
      <p:sp>
        <p:nvSpPr>
          <p:cNvPr id="19" name="Text 16"/>
          <p:cNvSpPr/>
          <p:nvPr/>
        </p:nvSpPr>
        <p:spPr>
          <a:xfrm>
            <a:off x="1593056" y="4376738"/>
            <a:ext cx="16612076" cy="321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38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Restores max-connections to 200. Est. resolution: 4 min. Confidence: 82%</a:t>
            </a:r>
            <a:endParaRPr lang="en-US" sz="1838" dirty="0"/>
          </a:p>
        </p:txBody>
      </p:sp>
      <p:sp>
        <p:nvSpPr>
          <p:cNvPr id="20" name="Shape 17"/>
          <p:cNvSpPr/>
          <p:nvPr/>
        </p:nvSpPr>
        <p:spPr>
          <a:xfrm>
            <a:off x="1226344" y="5293519"/>
            <a:ext cx="15835312" cy="1450181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16669">
            <a:solidFill>
              <a:srgbClr val="D9D9D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576388" y="5643563"/>
            <a:ext cx="4582474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69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checkout-db pool 200→400</a:t>
            </a:r>
            <a:endParaRPr lang="en-US" sz="1969" dirty="0"/>
          </a:p>
        </p:txBody>
      </p:sp>
      <p:sp>
        <p:nvSpPr>
          <p:cNvPr id="22" name="Shape 19"/>
          <p:cNvSpPr/>
          <p:nvPr/>
        </p:nvSpPr>
        <p:spPr>
          <a:xfrm>
            <a:off x="15149178" y="5643563"/>
            <a:ext cx="1562435" cy="366713"/>
          </a:xfrm>
          <a:prstGeom prst="roundRect">
            <a:avLst>
              <a:gd name="adj" fmla="val 50000"/>
            </a:avLst>
          </a:prstGeom>
          <a:solidFill>
            <a:srgbClr val="F5A623">
              <a:alpha val="15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15315865" y="5693569"/>
            <a:ext cx="13052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06" dirty="0">
                <a:solidFill>
                  <a:srgbClr val="8A5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risk</a:t>
            </a:r>
            <a:endParaRPr lang="en-US" sz="1706" dirty="0"/>
          </a:p>
        </p:txBody>
      </p:sp>
      <p:sp>
        <p:nvSpPr>
          <p:cNvPr id="24" name="Text 21"/>
          <p:cNvSpPr/>
          <p:nvPr/>
        </p:nvSpPr>
        <p:spPr>
          <a:xfrm>
            <a:off x="1576388" y="6110288"/>
            <a:ext cx="16648748" cy="321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38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Mitigates without rollback but doesn't fix root cause. Confidence: 45%</a:t>
            </a:r>
            <a:endParaRPr lang="en-US" sz="1838" dirty="0"/>
          </a:p>
        </p:txBody>
      </p:sp>
      <p:sp>
        <p:nvSpPr>
          <p:cNvPr id="25" name="Shape 22"/>
          <p:cNvSpPr/>
          <p:nvPr/>
        </p:nvSpPr>
        <p:spPr>
          <a:xfrm>
            <a:off x="1226344" y="7010400"/>
            <a:ext cx="15835312" cy="1450181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16669">
            <a:solidFill>
              <a:srgbClr val="D9D9D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576388" y="7360444"/>
            <a:ext cx="3610399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69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Restart checkout-svc pods</a:t>
            </a:r>
            <a:endParaRPr lang="en-US" sz="1969" dirty="0"/>
          </a:p>
        </p:txBody>
      </p:sp>
      <p:sp>
        <p:nvSpPr>
          <p:cNvPr id="27" name="Shape 24"/>
          <p:cNvSpPr/>
          <p:nvPr/>
        </p:nvSpPr>
        <p:spPr>
          <a:xfrm>
            <a:off x="14498836" y="7360444"/>
            <a:ext cx="2212777" cy="366713"/>
          </a:xfrm>
          <a:prstGeom prst="roundRect">
            <a:avLst>
              <a:gd name="adj" fmla="val 50000"/>
            </a:avLst>
          </a:prstGeom>
          <a:solidFill>
            <a:srgbClr val="C40000">
              <a:alpha val="10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14665523" y="7410450"/>
            <a:ext cx="195560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06" dirty="0">
                <a:solidFill>
                  <a:srgbClr val="C4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recommended</a:t>
            </a:r>
            <a:endParaRPr lang="en-US" sz="1706" dirty="0"/>
          </a:p>
        </p:txBody>
      </p:sp>
      <p:sp>
        <p:nvSpPr>
          <p:cNvPr id="29" name="Text 26"/>
          <p:cNvSpPr/>
          <p:nvPr/>
        </p:nvSpPr>
        <p:spPr>
          <a:xfrm>
            <a:off x="1576388" y="7827169"/>
            <a:ext cx="16648748" cy="321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38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Temporary relief only, pool will exhaust again in ~10 min. Confidence: 20%</a:t>
            </a:r>
            <a:endParaRPr lang="en-US" sz="1838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14438" y="1539954"/>
            <a:ext cx="15859125" cy="7207091"/>
          </a:xfrm>
          <a:prstGeom prst="roundRect">
            <a:avLst>
              <a:gd name="adj" fmla="val 1956"/>
            </a:avLst>
          </a:prstGeom>
          <a:solidFill>
            <a:srgbClr val="FFFFFF"/>
          </a:solidFill>
          <a:ln w="17621">
            <a:solidFill>
              <a:srgbClr val="D9D9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32059" y="1557576"/>
            <a:ext cx="15823883" cy="1127760"/>
          </a:xfrm>
          <a:prstGeom prst="rect">
            <a:avLst/>
          </a:prstGeom>
          <a:solidFill>
            <a:srgbClr val="006FCF"/>
          </a:solidFill>
          <a:ln/>
        </p:spPr>
      </p:sp>
      <p:sp>
        <p:nvSpPr>
          <p:cNvPr id="4" name="Text 2"/>
          <p:cNvSpPr/>
          <p:nvPr/>
        </p:nvSpPr>
        <p:spPr>
          <a:xfrm>
            <a:off x="1654969" y="1962864"/>
            <a:ext cx="2787709" cy="3552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81" spc="14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AMERICAN EXPRESS</a:t>
            </a:r>
            <a:endParaRPr lang="en-US" sz="2081" dirty="0"/>
          </a:p>
        </p:txBody>
      </p:sp>
      <p:sp>
        <p:nvSpPr>
          <p:cNvPr id="5" name="Text 3"/>
          <p:cNvSpPr/>
          <p:nvPr/>
        </p:nvSpPr>
        <p:spPr>
          <a:xfrm>
            <a:off x="4502453" y="1962864"/>
            <a:ext cx="136773" cy="355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81" spc="14" kern="0" dirty="0">
                <a:solidFill>
                  <a:srgbClr val="FFFFFF">
                    <a:alpha val="5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|</a:t>
            </a:r>
            <a:endParaRPr lang="en-US" sz="2081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03996" y="1962864"/>
            <a:ext cx="317183" cy="3171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162148" y="1962864"/>
            <a:ext cx="531600" cy="355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81" b="1" spc="14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AIR</a:t>
            </a:r>
            <a:endParaRPr lang="en-US" sz="2081" dirty="0"/>
          </a:p>
        </p:txBody>
      </p:sp>
      <p:sp>
        <p:nvSpPr>
          <p:cNvPr id="8" name="Text 5"/>
          <p:cNvSpPr/>
          <p:nvPr/>
        </p:nvSpPr>
        <p:spPr>
          <a:xfrm>
            <a:off x="6322398" y="1945243"/>
            <a:ext cx="75158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81" dirty="0">
                <a:solidFill>
                  <a:srgbClr val="FFFFFF">
                    <a:alpha val="7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Alerts</a:t>
            </a:r>
            <a:endParaRPr lang="en-US" sz="2081" dirty="0"/>
          </a:p>
        </p:txBody>
      </p:sp>
      <p:sp>
        <p:nvSpPr>
          <p:cNvPr id="9" name="Text 6"/>
          <p:cNvSpPr/>
          <p:nvPr/>
        </p:nvSpPr>
        <p:spPr>
          <a:xfrm>
            <a:off x="7491182" y="1945243"/>
            <a:ext cx="137384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81" dirty="0">
                <a:solidFill>
                  <a:srgbClr val="FFFFFF">
                    <a:alpha val="7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Dashboard</a:t>
            </a:r>
            <a:endParaRPr lang="en-US" sz="2081" dirty="0"/>
          </a:p>
        </p:txBody>
      </p:sp>
      <p:sp>
        <p:nvSpPr>
          <p:cNvPr id="10" name="Shape 7"/>
          <p:cNvSpPr/>
          <p:nvPr/>
        </p:nvSpPr>
        <p:spPr>
          <a:xfrm>
            <a:off x="9070762" y="2403396"/>
            <a:ext cx="1582609" cy="3524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9282217" y="1945243"/>
            <a:ext cx="1235899" cy="355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81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Incidents</a:t>
            </a:r>
            <a:endParaRPr lang="en-US" sz="2081" dirty="0"/>
          </a:p>
        </p:txBody>
      </p:sp>
      <p:sp>
        <p:nvSpPr>
          <p:cNvPr id="12" name="Shape 9"/>
          <p:cNvSpPr/>
          <p:nvPr/>
        </p:nvSpPr>
        <p:spPr>
          <a:xfrm>
            <a:off x="16069152" y="1839515"/>
            <a:ext cx="563880" cy="563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16031052" y="1839515"/>
            <a:ext cx="640080" cy="60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4" b="1" dirty="0">
                <a:solidFill>
                  <a:srgbClr val="006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</a:t>
            </a:r>
            <a:endParaRPr lang="en-US" sz="1804" dirty="0"/>
          </a:p>
        </p:txBody>
      </p:sp>
      <p:sp>
        <p:nvSpPr>
          <p:cNvPr id="14" name="Text 11"/>
          <p:cNvSpPr/>
          <p:nvPr/>
        </p:nvSpPr>
        <p:spPr>
          <a:xfrm>
            <a:off x="1654969" y="3117056"/>
            <a:ext cx="7978682" cy="4433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Runbook: DB pool exhaustion — checkout-svc</a:t>
            </a:r>
            <a:endParaRPr lang="en-US" sz="2775" dirty="0"/>
          </a:p>
        </p:txBody>
      </p:sp>
      <p:sp>
        <p:nvSpPr>
          <p:cNvPr id="15" name="Shape 12"/>
          <p:cNvSpPr/>
          <p:nvPr/>
        </p:nvSpPr>
        <p:spPr>
          <a:xfrm>
            <a:off x="13202394" y="3108246"/>
            <a:ext cx="3430637" cy="422910"/>
          </a:xfrm>
          <a:prstGeom prst="roundRect">
            <a:avLst>
              <a:gd name="adj" fmla="val 50000"/>
            </a:avLst>
          </a:prstGeom>
          <a:solidFill>
            <a:srgbClr val="F2F3F3"/>
          </a:solidFill>
          <a:ln/>
        </p:spPr>
      </p:sp>
      <p:sp>
        <p:nvSpPr>
          <p:cNvPr id="16" name="Text 13"/>
          <p:cNvSpPr/>
          <p:nvPr/>
        </p:nvSpPr>
        <p:spPr>
          <a:xfrm>
            <a:off x="13413849" y="3178731"/>
            <a:ext cx="311064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4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execution — Phase 1</a:t>
            </a:r>
            <a:endParaRPr lang="en-US" sz="1804" dirty="0"/>
          </a:p>
        </p:txBody>
      </p:sp>
      <p:sp>
        <p:nvSpPr>
          <p:cNvPr id="17" name="Shape 14"/>
          <p:cNvSpPr/>
          <p:nvPr/>
        </p:nvSpPr>
        <p:spPr>
          <a:xfrm>
            <a:off x="1795939" y="3813096"/>
            <a:ext cx="17621" cy="4493419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8" name="Shape 15"/>
          <p:cNvSpPr/>
          <p:nvPr/>
        </p:nvSpPr>
        <p:spPr>
          <a:xfrm>
            <a:off x="2165985" y="4923234"/>
            <a:ext cx="14467046" cy="17621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9" name="Shape 16"/>
          <p:cNvSpPr/>
          <p:nvPr/>
        </p:nvSpPr>
        <p:spPr>
          <a:xfrm>
            <a:off x="2165985" y="4059793"/>
            <a:ext cx="422910" cy="42291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7621">
            <a:solidFill>
              <a:srgbClr val="D9D9D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145506" y="4077414"/>
            <a:ext cx="463867" cy="425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4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4" dirty="0"/>
          </a:p>
        </p:txBody>
      </p:sp>
      <p:sp>
        <p:nvSpPr>
          <p:cNvPr id="21" name="Text 18"/>
          <p:cNvSpPr/>
          <p:nvPr/>
        </p:nvSpPr>
        <p:spPr>
          <a:xfrm>
            <a:off x="2800350" y="4077414"/>
            <a:ext cx="3892425" cy="337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43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current pool utilization</a:t>
            </a:r>
            <a:endParaRPr lang="en-US" sz="1943" dirty="0"/>
          </a:p>
        </p:txBody>
      </p:sp>
      <p:sp>
        <p:nvSpPr>
          <p:cNvPr id="22" name="Text 19"/>
          <p:cNvSpPr/>
          <p:nvPr/>
        </p:nvSpPr>
        <p:spPr>
          <a:xfrm>
            <a:off x="2800350" y="4376976"/>
            <a:ext cx="8190384" cy="337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43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kubectl exec into checkout-db-primary, check active connections</a:t>
            </a:r>
            <a:endParaRPr lang="en-US" sz="1943" dirty="0"/>
          </a:p>
        </p:txBody>
      </p:sp>
      <p:sp>
        <p:nvSpPr>
          <p:cNvPr id="23" name="Shape 20"/>
          <p:cNvSpPr/>
          <p:nvPr/>
        </p:nvSpPr>
        <p:spPr>
          <a:xfrm>
            <a:off x="2165985" y="6050994"/>
            <a:ext cx="14467046" cy="17621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4" name="Shape 21"/>
          <p:cNvSpPr/>
          <p:nvPr/>
        </p:nvSpPr>
        <p:spPr>
          <a:xfrm>
            <a:off x="2165985" y="5187553"/>
            <a:ext cx="422910" cy="42291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7621">
            <a:solidFill>
              <a:srgbClr val="D9D9D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145506" y="5205174"/>
            <a:ext cx="463867" cy="4257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4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4" dirty="0"/>
          </a:p>
        </p:txBody>
      </p:sp>
      <p:sp>
        <p:nvSpPr>
          <p:cNvPr id="26" name="Text 23"/>
          <p:cNvSpPr/>
          <p:nvPr/>
        </p:nvSpPr>
        <p:spPr>
          <a:xfrm>
            <a:off x="2800350" y="5205174"/>
            <a:ext cx="2692472" cy="337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43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Revert config #4471</a:t>
            </a:r>
            <a:endParaRPr lang="en-US" sz="1943" dirty="0"/>
          </a:p>
        </p:txBody>
      </p:sp>
      <p:sp>
        <p:nvSpPr>
          <p:cNvPr id="27" name="Text 24"/>
          <p:cNvSpPr/>
          <p:nvPr/>
        </p:nvSpPr>
        <p:spPr>
          <a:xfrm>
            <a:off x="2800350" y="5504736"/>
            <a:ext cx="4165306" cy="337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43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restores max-connections to 200</a:t>
            </a:r>
            <a:endParaRPr lang="en-US" sz="1943" dirty="0"/>
          </a:p>
        </p:txBody>
      </p:sp>
      <p:sp>
        <p:nvSpPr>
          <p:cNvPr id="28" name="Shape 25"/>
          <p:cNvSpPr/>
          <p:nvPr/>
        </p:nvSpPr>
        <p:spPr>
          <a:xfrm>
            <a:off x="2165985" y="7178755"/>
            <a:ext cx="14467046" cy="17621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9" name="Shape 26"/>
          <p:cNvSpPr/>
          <p:nvPr/>
        </p:nvSpPr>
        <p:spPr>
          <a:xfrm>
            <a:off x="2165985" y="6315313"/>
            <a:ext cx="422910" cy="42291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7621">
            <a:solidFill>
              <a:srgbClr val="D9D9D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145506" y="6332935"/>
            <a:ext cx="463867" cy="425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4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4" dirty="0"/>
          </a:p>
        </p:txBody>
      </p:sp>
      <p:sp>
        <p:nvSpPr>
          <p:cNvPr id="31" name="Text 28"/>
          <p:cNvSpPr/>
          <p:nvPr/>
        </p:nvSpPr>
        <p:spPr>
          <a:xfrm>
            <a:off x="2800350" y="6332934"/>
            <a:ext cx="3190382" cy="337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43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Restart connection pool</a:t>
            </a:r>
            <a:endParaRPr lang="en-US" sz="1943" dirty="0"/>
          </a:p>
        </p:txBody>
      </p:sp>
      <p:sp>
        <p:nvSpPr>
          <p:cNvPr id="32" name="Text 29"/>
          <p:cNvSpPr/>
          <p:nvPr/>
        </p:nvSpPr>
        <p:spPr>
          <a:xfrm>
            <a:off x="2800350" y="6632496"/>
            <a:ext cx="3921802" cy="337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43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graceful restart, zero downtime</a:t>
            </a:r>
            <a:endParaRPr lang="en-US" sz="1943" dirty="0"/>
          </a:p>
        </p:txBody>
      </p:sp>
      <p:sp>
        <p:nvSpPr>
          <p:cNvPr id="33" name="Shape 30"/>
          <p:cNvSpPr/>
          <p:nvPr/>
        </p:nvSpPr>
        <p:spPr>
          <a:xfrm>
            <a:off x="2165985" y="7443073"/>
            <a:ext cx="422910" cy="42291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7621">
            <a:solidFill>
              <a:srgbClr val="D9D9D9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145506" y="7460694"/>
            <a:ext cx="463867" cy="4257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4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4" dirty="0"/>
          </a:p>
        </p:txBody>
      </p:sp>
      <p:sp>
        <p:nvSpPr>
          <p:cNvPr id="35" name="Text 32"/>
          <p:cNvSpPr/>
          <p:nvPr/>
        </p:nvSpPr>
        <p:spPr>
          <a:xfrm>
            <a:off x="2800350" y="7460694"/>
            <a:ext cx="4116545" cy="337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43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error rate &lt; 1% for 5 min</a:t>
            </a:r>
            <a:endParaRPr lang="en-US" sz="1943" dirty="0"/>
          </a:p>
        </p:txBody>
      </p:sp>
      <p:sp>
        <p:nvSpPr>
          <p:cNvPr id="36" name="Text 33"/>
          <p:cNvSpPr/>
          <p:nvPr/>
        </p:nvSpPr>
        <p:spPr>
          <a:xfrm>
            <a:off x="2800350" y="7760255"/>
            <a:ext cx="4116544" cy="337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43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sign-off required</a:t>
            </a:r>
            <a:endParaRPr lang="en-US" sz="1943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3950" y="2844165"/>
            <a:ext cx="8420100" cy="459867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6192">
            <a:solidFill>
              <a:srgbClr val="D9D9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950143" y="2860357"/>
            <a:ext cx="8387715" cy="1020127"/>
          </a:xfrm>
          <a:prstGeom prst="rect">
            <a:avLst/>
          </a:prstGeom>
          <a:solidFill>
            <a:srgbClr val="3F0E40"/>
          </a:solidFill>
          <a:ln/>
        </p:spPr>
      </p:sp>
      <p:sp>
        <p:nvSpPr>
          <p:cNvPr id="4" name="Text 2"/>
          <p:cNvSpPr/>
          <p:nvPr/>
        </p:nvSpPr>
        <p:spPr>
          <a:xfrm>
            <a:off x="5241607" y="3087052"/>
            <a:ext cx="8585263" cy="3295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1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inc-case-2323223</a:t>
            </a:r>
            <a:endParaRPr lang="en-US" sz="1913" dirty="0"/>
          </a:p>
        </p:txBody>
      </p:sp>
      <p:sp>
        <p:nvSpPr>
          <p:cNvPr id="5" name="Text 3"/>
          <p:cNvSpPr/>
          <p:nvPr/>
        </p:nvSpPr>
        <p:spPr>
          <a:xfrm>
            <a:off x="5241607" y="3410902"/>
            <a:ext cx="8585263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30" dirty="0">
                <a:solidFill>
                  <a:srgbClr val="CBB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 bot · checkout-svc P1</a:t>
            </a:r>
            <a:endParaRPr lang="en-US" sz="1530" dirty="0"/>
          </a:p>
        </p:txBody>
      </p:sp>
      <p:sp>
        <p:nvSpPr>
          <p:cNvPr id="6" name="Shape 4"/>
          <p:cNvSpPr/>
          <p:nvPr/>
        </p:nvSpPr>
        <p:spPr>
          <a:xfrm>
            <a:off x="4950143" y="3880485"/>
            <a:ext cx="8387715" cy="354615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5241607" y="4171950"/>
            <a:ext cx="393427" cy="5181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5203507" y="4171950"/>
            <a:ext cx="469627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8" b="1" dirty="0">
                <a:solidFill>
                  <a:srgbClr val="006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658" dirty="0"/>
          </a:p>
        </p:txBody>
      </p:sp>
      <p:sp>
        <p:nvSpPr>
          <p:cNvPr id="9" name="Shape 7"/>
          <p:cNvSpPr/>
          <p:nvPr/>
        </p:nvSpPr>
        <p:spPr>
          <a:xfrm>
            <a:off x="5796960" y="4171950"/>
            <a:ext cx="7249433" cy="939165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6192">
            <a:solidFill>
              <a:srgbClr val="D9D9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9847" y="4382453"/>
            <a:ext cx="6981140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8" dirty="0">
                <a:solidFill>
                  <a:srgbClr val="333333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Incident </a:t>
            </a:r>
            <a:pPr algn="l" indent="0" marL="0">
              <a:buNone/>
            </a:pPr>
            <a:r>
              <a:rPr lang="en-US" sz="1658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INC-CASE-2323223 </a:t>
            </a:r>
            <a:pPr algn="l" indent="0" marL="0">
              <a:buNone/>
            </a:pPr>
            <a:r>
              <a:rPr lang="en-US" sz="1658" dirty="0">
                <a:solidFill>
                  <a:srgbClr val="333333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created from AI Investigation. Current status: </a:t>
            </a:r>
            <a:pPr algn="l" indent="0" marL="0">
              <a:buNone/>
            </a:pPr>
            <a:r>
              <a:rPr lang="en-US" sz="1658" b="1" dirty="0">
                <a:solidFill>
                  <a:srgbClr val="006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Investigating</a:t>
            </a:r>
            <a:pPr algn="l" indent="0" marL="0">
              <a:buNone/>
            </a:pPr>
            <a:r>
              <a:rPr lang="en-US" sz="1658" dirty="0">
                <a:solidFill>
                  <a:srgbClr val="333333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58" dirty="0"/>
          </a:p>
        </p:txBody>
      </p:sp>
      <p:sp>
        <p:nvSpPr>
          <p:cNvPr id="11" name="Shape 9"/>
          <p:cNvSpPr/>
          <p:nvPr/>
        </p:nvSpPr>
        <p:spPr>
          <a:xfrm>
            <a:off x="5241607" y="5337810"/>
            <a:ext cx="518160" cy="518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203507" y="5337810"/>
            <a:ext cx="594360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8" b="1" dirty="0">
                <a:solidFill>
                  <a:srgbClr val="006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1658" dirty="0"/>
          </a:p>
        </p:txBody>
      </p:sp>
      <p:sp>
        <p:nvSpPr>
          <p:cNvPr id="13" name="Text 11"/>
          <p:cNvSpPr/>
          <p:nvPr/>
        </p:nvSpPr>
        <p:spPr>
          <a:xfrm>
            <a:off x="5921693" y="5337810"/>
            <a:ext cx="493830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8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ArunKumar K </a:t>
            </a:r>
            <a:pPr algn="l" indent="0" marL="0">
              <a:buNone/>
            </a:pPr>
            <a:r>
              <a:rPr lang="en-US" sz="153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10:42 AM</a:t>
            </a:r>
            <a:endParaRPr lang="en-US" sz="1658" dirty="0"/>
          </a:p>
        </p:txBody>
      </p:sp>
      <p:sp>
        <p:nvSpPr>
          <p:cNvPr id="14" name="Text 12"/>
          <p:cNvSpPr/>
          <p:nvPr/>
        </p:nvSpPr>
        <p:spPr>
          <a:xfrm>
            <a:off x="5921693" y="5629275"/>
            <a:ext cx="493830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8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/incident-status resolved INC-CASE-2323223</a:t>
            </a:r>
            <a:endParaRPr lang="en-US" sz="1658" dirty="0"/>
          </a:p>
        </p:txBody>
      </p:sp>
      <p:sp>
        <p:nvSpPr>
          <p:cNvPr id="15" name="Shape 13"/>
          <p:cNvSpPr/>
          <p:nvPr/>
        </p:nvSpPr>
        <p:spPr>
          <a:xfrm>
            <a:off x="5241607" y="6115050"/>
            <a:ext cx="518160" cy="5181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5203507" y="6115050"/>
            <a:ext cx="594360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8" b="1" dirty="0">
                <a:solidFill>
                  <a:srgbClr val="006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658" dirty="0"/>
          </a:p>
        </p:txBody>
      </p:sp>
      <p:sp>
        <p:nvSpPr>
          <p:cNvPr id="17" name="Shape 15"/>
          <p:cNvSpPr/>
          <p:nvPr/>
        </p:nvSpPr>
        <p:spPr>
          <a:xfrm>
            <a:off x="5921693" y="6115050"/>
            <a:ext cx="6168330" cy="1020127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6192">
            <a:solidFill>
              <a:srgbClr val="D9D9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64580" y="6325553"/>
            <a:ext cx="5867605" cy="637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8" dirty="0">
                <a:solidFill>
                  <a:srgbClr val="333333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✅ Status updated to </a:t>
            </a:r>
            <a:pPr algn="l" indent="0" marL="0">
              <a:buNone/>
            </a:pPr>
            <a:r>
              <a:rPr lang="en-US" sz="1658" b="1" dirty="0">
                <a:solidFill>
                  <a:srgbClr val="0087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 </a:t>
            </a:r>
            <a:pPr algn="l" indent="0" marL="0">
              <a:buNone/>
            </a:pPr>
            <a:r>
              <a:rPr lang="en-US" sz="1658" dirty="0">
                <a:solidFill>
                  <a:srgbClr val="333333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by ArunKumar K. Starting Retrospective generation for INC-CASE-2323223</a:t>
            </a:r>
            <a:endParaRPr lang="en-US" sz="1658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67200" y="1448038"/>
            <a:ext cx="9753600" cy="7390923"/>
          </a:xfrm>
          <a:prstGeom prst="roundRect">
            <a:avLst>
              <a:gd name="adj" fmla="val 1650"/>
            </a:avLst>
          </a:prstGeom>
          <a:solidFill>
            <a:srgbClr val="FFFFFF"/>
          </a:solidFill>
          <a:ln w="15240">
            <a:solidFill>
              <a:srgbClr val="D9D9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09160" y="1829038"/>
            <a:ext cx="5425773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Retrospective using AIR AI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794081" y="1859518"/>
            <a:ext cx="680561" cy="289560"/>
          </a:xfrm>
          <a:prstGeom prst="roundRect">
            <a:avLst>
              <a:gd name="adj" fmla="val 21053"/>
            </a:avLst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9916001" y="1905238"/>
            <a:ext cx="512921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4709160" y="2423398"/>
            <a:ext cx="9135771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168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 gathers all relevant information from the incident, its linked alerts, and the conversation from its Slack channel, and structures it into a retrospective with the following sections:</a:t>
            </a:r>
            <a:endParaRPr lang="en-US" sz="1680" dirty="0"/>
          </a:p>
        </p:txBody>
      </p:sp>
      <p:sp>
        <p:nvSpPr>
          <p:cNvPr id="7" name="Text 5"/>
          <p:cNvSpPr/>
          <p:nvPr/>
        </p:nvSpPr>
        <p:spPr>
          <a:xfrm>
            <a:off x="4831080" y="3627358"/>
            <a:ext cx="9013851" cy="2064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625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Key information 2. Timeline 3. Impact 4. Root cause analysis 5. Action items</a:t>
            </a:r>
            <a:endParaRPr lang="en-US" sz="1680" dirty="0"/>
          </a:p>
        </p:txBody>
      </p:sp>
      <p:sp>
        <p:nvSpPr>
          <p:cNvPr id="8" name="Text 6"/>
          <p:cNvSpPr/>
          <p:nvPr/>
        </p:nvSpPr>
        <p:spPr>
          <a:xfrm>
            <a:off x="4709160" y="5897642"/>
            <a:ext cx="9756649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alerts should we take into account?</a:t>
            </a:r>
            <a:endParaRPr lang="en-US" sz="1560" dirty="0"/>
          </a:p>
        </p:txBody>
      </p:sp>
      <p:sp>
        <p:nvSpPr>
          <p:cNvPr id="9" name="Shape 7"/>
          <p:cNvSpPr/>
          <p:nvPr/>
        </p:nvSpPr>
        <p:spPr>
          <a:xfrm>
            <a:off x="4709160" y="6271022"/>
            <a:ext cx="243840" cy="243840"/>
          </a:xfrm>
          <a:prstGeom prst="roundRect">
            <a:avLst>
              <a:gd name="adj" fmla="val 18750"/>
            </a:avLst>
          </a:prstGeom>
          <a:solidFill>
            <a:srgbClr val="006FCF"/>
          </a:solidFill>
          <a:ln/>
        </p:spPr>
      </p:sp>
      <p:sp>
        <p:nvSpPr>
          <p:cNvPr id="10" name="Text 8"/>
          <p:cNvSpPr/>
          <p:nvPr/>
        </p:nvSpPr>
        <p:spPr>
          <a:xfrm>
            <a:off x="5074920" y="6263402"/>
            <a:ext cx="4573036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4409231 — Checkout error_rate &gt; 5% for 2m</a:t>
            </a:r>
            <a:endParaRPr lang="en-US" sz="1680" dirty="0"/>
          </a:p>
        </p:txBody>
      </p:sp>
      <p:sp>
        <p:nvSpPr>
          <p:cNvPr id="11" name="Text 9"/>
          <p:cNvSpPr/>
          <p:nvPr/>
        </p:nvSpPr>
        <p:spPr>
          <a:xfrm>
            <a:off x="4709160" y="6766322"/>
            <a:ext cx="9756649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chat channels should we analyze?</a:t>
            </a:r>
            <a:endParaRPr lang="en-US" sz="1560" dirty="0"/>
          </a:p>
        </p:txBody>
      </p:sp>
      <p:sp>
        <p:nvSpPr>
          <p:cNvPr id="12" name="Shape 10"/>
          <p:cNvSpPr/>
          <p:nvPr/>
        </p:nvSpPr>
        <p:spPr>
          <a:xfrm>
            <a:off x="4709160" y="7185422"/>
            <a:ext cx="243840" cy="243840"/>
          </a:xfrm>
          <a:prstGeom prst="roundRect">
            <a:avLst>
              <a:gd name="adj" fmla="val 18750"/>
            </a:avLst>
          </a:prstGeom>
          <a:solidFill>
            <a:srgbClr val="006FCF"/>
          </a:solidFill>
          <a:ln/>
        </p:spPr>
      </p:sp>
      <p:sp>
        <p:nvSpPr>
          <p:cNvPr id="13" name="Text 11"/>
          <p:cNvSpPr/>
          <p:nvPr/>
        </p:nvSpPr>
        <p:spPr>
          <a:xfrm>
            <a:off x="5074920" y="7193042"/>
            <a:ext cx="2388632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#inc-case-2323223</a:t>
            </a:r>
            <a:endParaRPr lang="en-US" sz="1680" dirty="0"/>
          </a:p>
        </p:txBody>
      </p:sp>
      <p:sp>
        <p:nvSpPr>
          <p:cNvPr id="14" name="Shape 12"/>
          <p:cNvSpPr/>
          <p:nvPr/>
        </p:nvSpPr>
        <p:spPr>
          <a:xfrm>
            <a:off x="4709160" y="7726442"/>
            <a:ext cx="3366611" cy="731519"/>
          </a:xfrm>
          <a:prstGeom prst="roundRect">
            <a:avLst>
              <a:gd name="adj" fmla="val 16667"/>
            </a:avLst>
          </a:prstGeom>
          <a:solidFill>
            <a:srgbClr val="006FCF"/>
          </a:solidFill>
          <a:ln/>
        </p:spPr>
      </p:sp>
      <p:sp>
        <p:nvSpPr>
          <p:cNvPr id="15" name="Text 13"/>
          <p:cNvSpPr/>
          <p:nvPr/>
        </p:nvSpPr>
        <p:spPr>
          <a:xfrm>
            <a:off x="5009181" y="7894082"/>
            <a:ext cx="2766569" cy="434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6316"/>
              </a:lnSpc>
              <a:buNone/>
            </a:pPr>
            <a:r>
              <a:rPr lang="en-US" sz="19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Generate Retrospective</a:t>
            </a:r>
            <a:endParaRPr lang="en-US" sz="1920" dirty="0"/>
          </a:p>
        </p:txBody>
      </p:sp>
      <p:sp>
        <p:nvSpPr>
          <p:cNvPr id="16" name="Shape 14"/>
          <p:cNvSpPr/>
          <p:nvPr/>
        </p:nvSpPr>
        <p:spPr>
          <a:xfrm>
            <a:off x="8228171" y="7726442"/>
            <a:ext cx="1513047" cy="731519"/>
          </a:xfrm>
          <a:prstGeom prst="roundRect">
            <a:avLst>
              <a:gd name="adj" fmla="val 8333"/>
            </a:avLst>
          </a:prstGeom>
          <a:ln w="15240">
            <a:solidFill>
              <a:srgbClr val="006F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55831" y="7909322"/>
            <a:ext cx="857727" cy="4038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6316"/>
              </a:lnSpc>
              <a:buNone/>
            </a:pPr>
            <a:r>
              <a:rPr lang="en-US" sz="1920" dirty="0">
                <a:solidFill>
                  <a:srgbClr val="006FC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Cancel</a:t>
            </a:r>
            <a:endParaRPr lang="en-US" sz="19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1126569"/>
            <a:ext cx="16764000" cy="8033861"/>
          </a:xfrm>
          <a:prstGeom prst="roundRect">
            <a:avLst>
              <a:gd name="adj" fmla="val 1518"/>
            </a:avLst>
          </a:prstGeom>
          <a:solidFill>
            <a:srgbClr val="FFFFFF"/>
          </a:solidFill>
          <a:ln w="15240">
            <a:solidFill>
              <a:srgbClr val="D9D9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64920" y="1568529"/>
            <a:ext cx="17333976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Retrospective: </a:t>
            </a:r>
            <a:pPr algn="l" indent="0" marL="0">
              <a:buNone/>
            </a:pPr>
            <a:r>
              <a:rPr lang="en-US" sz="2640" dirty="0">
                <a:solidFill>
                  <a:srgbClr val="006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 errors spiking 8x baseline</a:t>
            </a:r>
            <a:endParaRPr lang="en-US" sz="2640" dirty="0"/>
          </a:p>
        </p:txBody>
      </p:sp>
      <p:sp>
        <p:nvSpPr>
          <p:cNvPr id="4" name="Text 2"/>
          <p:cNvSpPr/>
          <p:nvPr/>
        </p:nvSpPr>
        <p:spPr>
          <a:xfrm>
            <a:off x="1264920" y="2056209"/>
            <a:ext cx="17333976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6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by AIR AI on 2026-07-12 · INC-CASE-2323223</a:t>
            </a:r>
            <a:endParaRPr lang="en-US" sz="1560" dirty="0"/>
          </a:p>
        </p:txBody>
      </p:sp>
      <p:sp>
        <p:nvSpPr>
          <p:cNvPr id="5" name="Text 3"/>
          <p:cNvSpPr/>
          <p:nvPr/>
        </p:nvSpPr>
        <p:spPr>
          <a:xfrm>
            <a:off x="1264920" y="2604849"/>
            <a:ext cx="846582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information</a:t>
            </a:r>
            <a:endParaRPr lang="en-US" sz="1920" dirty="0"/>
          </a:p>
        </p:txBody>
      </p:sp>
      <p:sp>
        <p:nvSpPr>
          <p:cNvPr id="6" name="Shape 4"/>
          <p:cNvSpPr/>
          <p:nvPr/>
        </p:nvSpPr>
        <p:spPr>
          <a:xfrm>
            <a:off x="1264920" y="3031569"/>
            <a:ext cx="7696200" cy="2834640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5240">
            <a:solidFill>
              <a:srgbClr val="D9D9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3595449"/>
            <a:ext cx="7665720" cy="1524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8" name="Shape 6"/>
          <p:cNvSpPr/>
          <p:nvPr/>
        </p:nvSpPr>
        <p:spPr>
          <a:xfrm>
            <a:off x="1280160" y="3046809"/>
            <a:ext cx="2438400" cy="548640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3199209"/>
            <a:ext cx="214884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6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Affected services</a:t>
            </a:r>
            <a:endParaRPr lang="en-US" sz="1560" dirty="0"/>
          </a:p>
        </p:txBody>
      </p:sp>
      <p:sp>
        <p:nvSpPr>
          <p:cNvPr id="10" name="Text 8"/>
          <p:cNvSpPr/>
          <p:nvPr/>
        </p:nvSpPr>
        <p:spPr>
          <a:xfrm>
            <a:off x="3901440" y="3199209"/>
            <a:ext cx="241166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checkout-svc (CRITICAL)</a:t>
            </a:r>
            <a:endParaRPr lang="en-US" sz="1560" dirty="0"/>
          </a:p>
        </p:txBody>
      </p:sp>
      <p:sp>
        <p:nvSpPr>
          <p:cNvPr id="11" name="Shape 9"/>
          <p:cNvSpPr/>
          <p:nvPr/>
        </p:nvSpPr>
        <p:spPr>
          <a:xfrm>
            <a:off x="1280160" y="4159329"/>
            <a:ext cx="7665720" cy="1524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2" name="Shape 10"/>
          <p:cNvSpPr/>
          <p:nvPr/>
        </p:nvSpPr>
        <p:spPr>
          <a:xfrm>
            <a:off x="1280160" y="3610689"/>
            <a:ext cx="2438400" cy="548640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13" name="Text 11"/>
          <p:cNvSpPr/>
          <p:nvPr/>
        </p:nvSpPr>
        <p:spPr>
          <a:xfrm>
            <a:off x="1463040" y="3763089"/>
            <a:ext cx="214884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6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at</a:t>
            </a:r>
            <a:endParaRPr lang="en-US" sz="1560" dirty="0"/>
          </a:p>
        </p:txBody>
      </p:sp>
      <p:sp>
        <p:nvSpPr>
          <p:cNvPr id="14" name="Text 12"/>
          <p:cNvSpPr/>
          <p:nvPr/>
        </p:nvSpPr>
        <p:spPr>
          <a:xfrm>
            <a:off x="3901440" y="3763089"/>
            <a:ext cx="900827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14:02:40</a:t>
            </a:r>
            <a:endParaRPr lang="en-US" sz="1560" dirty="0"/>
          </a:p>
        </p:txBody>
      </p:sp>
      <p:sp>
        <p:nvSpPr>
          <p:cNvPr id="15" name="Shape 13"/>
          <p:cNvSpPr/>
          <p:nvPr/>
        </p:nvSpPr>
        <p:spPr>
          <a:xfrm>
            <a:off x="1280160" y="4723209"/>
            <a:ext cx="7665720" cy="1524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6" name="Shape 14"/>
          <p:cNvSpPr/>
          <p:nvPr/>
        </p:nvSpPr>
        <p:spPr>
          <a:xfrm>
            <a:off x="1280160" y="4174569"/>
            <a:ext cx="2438400" cy="548640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17" name="Text 15"/>
          <p:cNvSpPr/>
          <p:nvPr/>
        </p:nvSpPr>
        <p:spPr>
          <a:xfrm>
            <a:off x="1463040" y="4326969"/>
            <a:ext cx="214884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6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 at</a:t>
            </a:r>
            <a:endParaRPr lang="en-US" sz="1560" dirty="0"/>
          </a:p>
        </p:txBody>
      </p:sp>
      <p:sp>
        <p:nvSpPr>
          <p:cNvPr id="18" name="Text 16"/>
          <p:cNvSpPr/>
          <p:nvPr/>
        </p:nvSpPr>
        <p:spPr>
          <a:xfrm>
            <a:off x="3901440" y="4326969"/>
            <a:ext cx="871776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14:19:00</a:t>
            </a:r>
            <a:endParaRPr lang="en-US" sz="1560" dirty="0"/>
          </a:p>
        </p:txBody>
      </p:sp>
      <p:sp>
        <p:nvSpPr>
          <p:cNvPr id="19" name="Shape 17"/>
          <p:cNvSpPr/>
          <p:nvPr/>
        </p:nvSpPr>
        <p:spPr>
          <a:xfrm>
            <a:off x="1280160" y="5287089"/>
            <a:ext cx="7665720" cy="1524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0" name="Shape 18"/>
          <p:cNvSpPr/>
          <p:nvPr/>
        </p:nvSpPr>
        <p:spPr>
          <a:xfrm>
            <a:off x="1280160" y="4738449"/>
            <a:ext cx="2438400" cy="548640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21" name="Text 19"/>
          <p:cNvSpPr/>
          <p:nvPr/>
        </p:nvSpPr>
        <p:spPr>
          <a:xfrm>
            <a:off x="1463040" y="4890849"/>
            <a:ext cx="214884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6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by</a:t>
            </a:r>
            <a:endParaRPr lang="en-US" sz="1560" dirty="0"/>
          </a:p>
        </p:txBody>
      </p:sp>
      <p:sp>
        <p:nvSpPr>
          <p:cNvPr id="22" name="Text 20"/>
          <p:cNvSpPr/>
          <p:nvPr/>
        </p:nvSpPr>
        <p:spPr>
          <a:xfrm>
            <a:off x="3901440" y="4890849"/>
            <a:ext cx="2740324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ArunKumar K (SRE Engineer)</a:t>
            </a:r>
            <a:endParaRPr lang="en-US" sz="1560" dirty="0"/>
          </a:p>
        </p:txBody>
      </p:sp>
      <p:sp>
        <p:nvSpPr>
          <p:cNvPr id="23" name="Shape 21"/>
          <p:cNvSpPr/>
          <p:nvPr/>
        </p:nvSpPr>
        <p:spPr>
          <a:xfrm>
            <a:off x="1280160" y="5302329"/>
            <a:ext cx="2438400" cy="548640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24" name="Text 22"/>
          <p:cNvSpPr/>
          <p:nvPr/>
        </p:nvSpPr>
        <p:spPr>
          <a:xfrm>
            <a:off x="1463040" y="5454729"/>
            <a:ext cx="214884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6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 channel</a:t>
            </a:r>
            <a:endParaRPr lang="en-US" sz="1560" dirty="0"/>
          </a:p>
        </p:txBody>
      </p:sp>
      <p:sp>
        <p:nvSpPr>
          <p:cNvPr id="25" name="Text 23"/>
          <p:cNvSpPr/>
          <p:nvPr/>
        </p:nvSpPr>
        <p:spPr>
          <a:xfrm>
            <a:off x="3901440" y="5454729"/>
            <a:ext cx="193167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60" dirty="0">
                <a:solidFill>
                  <a:srgbClr val="006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#inc-case-2323223</a:t>
            </a:r>
            <a:endParaRPr lang="en-US" sz="1560" dirty="0"/>
          </a:p>
        </p:txBody>
      </p:sp>
      <p:sp>
        <p:nvSpPr>
          <p:cNvPr id="26" name="Text 24"/>
          <p:cNvSpPr/>
          <p:nvPr/>
        </p:nvSpPr>
        <p:spPr>
          <a:xfrm>
            <a:off x="9326880" y="2604849"/>
            <a:ext cx="846582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timeline</a:t>
            </a:r>
            <a:endParaRPr lang="en-US" sz="1920" dirty="0"/>
          </a:p>
        </p:txBody>
      </p:sp>
      <p:sp>
        <p:nvSpPr>
          <p:cNvPr id="27" name="Text 25"/>
          <p:cNvSpPr/>
          <p:nvPr/>
        </p:nvSpPr>
        <p:spPr>
          <a:xfrm>
            <a:off x="9326880" y="3031569"/>
            <a:ext cx="7927087" cy="154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4667"/>
              </a:lnSpc>
              <a:buNone/>
            </a:pPr>
            <a:r>
              <a:rPr lang="en-US" sz="156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14:02:40 </a:t>
            </a:r>
            <a:pPr algn="l" indent="0" marL="0">
              <a:lnSpc>
                <a:spcPct val="164667"/>
              </a:lnSpc>
              <a:buNone/>
            </a:pPr>
            <a:r>
              <a:rPr lang="en-US" sz="15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Error rate alert fired </a:t>
            </a:r>
            <a:pPr algn="l" indent="0" marL="0">
              <a:lnSpc>
                <a:spcPct val="164667"/>
              </a:lnSpc>
              <a:buNone/>
            </a:pPr>
            <a:r>
              <a:rPr lang="en-US" sz="156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14:04:01 </a:t>
            </a:r>
            <a:pPr algn="l" indent="0" marL="0">
              <a:lnSpc>
                <a:spcPct val="164667"/>
              </a:lnSpc>
              <a:buNone/>
            </a:pPr>
            <a:r>
              <a:rPr lang="en-US" sz="15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RCA agent identified root cause, 82% confidence </a:t>
            </a:r>
            <a:pPr algn="l" indent="0" marL="0">
              <a:lnSpc>
                <a:spcPct val="164667"/>
              </a:lnSpc>
              <a:buNone/>
            </a:pPr>
            <a:r>
              <a:rPr lang="en-US" sz="156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14:07:00 </a:t>
            </a:r>
            <a:pPr algn="l" indent="0" marL="0">
              <a:lnSpc>
                <a:spcPct val="164667"/>
              </a:lnSpc>
              <a:buNone/>
            </a:pPr>
            <a:r>
              <a:rPr lang="en-US" sz="15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Rollback assigned to on-call engineer </a:t>
            </a:r>
            <a:pPr algn="l" indent="0" marL="0">
              <a:lnSpc>
                <a:spcPct val="164667"/>
              </a:lnSpc>
              <a:buNone/>
            </a:pPr>
            <a:r>
              <a:rPr lang="en-US" sz="156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14:19:00 </a:t>
            </a:r>
            <a:pPr algn="l" indent="0" marL="0">
              <a:lnSpc>
                <a:spcPct val="164667"/>
              </a:lnSpc>
              <a:buNone/>
            </a:pPr>
            <a:r>
              <a:rPr lang="en-US" sz="15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Error rate normalized, incident resolved</a:t>
            </a:r>
            <a:endParaRPr lang="en-US" sz="1560" dirty="0"/>
          </a:p>
        </p:txBody>
      </p:sp>
      <p:sp>
        <p:nvSpPr>
          <p:cNvPr id="28" name="Text 26"/>
          <p:cNvSpPr/>
          <p:nvPr/>
        </p:nvSpPr>
        <p:spPr>
          <a:xfrm>
            <a:off x="1264920" y="6171009"/>
            <a:ext cx="846582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920" dirty="0"/>
          </a:p>
        </p:txBody>
      </p:sp>
      <p:sp>
        <p:nvSpPr>
          <p:cNvPr id="29" name="Text 27"/>
          <p:cNvSpPr/>
          <p:nvPr/>
        </p:nvSpPr>
        <p:spPr>
          <a:xfrm>
            <a:off x="1264920" y="6567249"/>
            <a:ext cx="7927086" cy="7205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~14,000 customers affected · $8.2K revenue/min · checkout-svc degraded for 16 minutes.</a:t>
            </a:r>
            <a:endParaRPr lang="en-US" sz="1680" dirty="0"/>
          </a:p>
        </p:txBody>
      </p:sp>
      <p:sp>
        <p:nvSpPr>
          <p:cNvPr id="30" name="Text 28"/>
          <p:cNvSpPr/>
          <p:nvPr/>
        </p:nvSpPr>
        <p:spPr>
          <a:xfrm>
            <a:off x="9326880" y="6171009"/>
            <a:ext cx="846582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 analysis</a:t>
            </a:r>
            <a:endParaRPr lang="en-US" sz="1920" dirty="0"/>
          </a:p>
        </p:txBody>
      </p:sp>
      <p:sp>
        <p:nvSpPr>
          <p:cNvPr id="31" name="Text 29"/>
          <p:cNvSpPr/>
          <p:nvPr/>
        </p:nvSpPr>
        <p:spPr>
          <a:xfrm>
            <a:off x="9326880" y="6567249"/>
            <a:ext cx="7927087" cy="7205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#4471 lowered checkout-db max-connections from 200 to 50, causing pool exhaustion under normal traffic.</a:t>
            </a:r>
            <a:endParaRPr lang="en-US" sz="1680" dirty="0"/>
          </a:p>
        </p:txBody>
      </p:sp>
      <p:sp>
        <p:nvSpPr>
          <p:cNvPr id="32" name="Text 30"/>
          <p:cNvSpPr/>
          <p:nvPr/>
        </p:nvSpPr>
        <p:spPr>
          <a:xfrm>
            <a:off x="1264920" y="7554516"/>
            <a:ext cx="1733397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items</a:t>
            </a:r>
            <a:endParaRPr lang="en-US" sz="1920" dirty="0"/>
          </a:p>
        </p:txBody>
      </p:sp>
      <p:sp>
        <p:nvSpPr>
          <p:cNvPr id="33" name="Text 31"/>
          <p:cNvSpPr/>
          <p:nvPr/>
        </p:nvSpPr>
        <p:spPr>
          <a:xfrm>
            <a:off x="1264920" y="7950755"/>
            <a:ext cx="16230905" cy="805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75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Add pre-deploy config-diff guardrail for DB pool settings (Owner: Platform team) ☐ Alert on pool utilization &gt; 80%, not just error rate (Owner: SRE team)</a:t>
            </a:r>
            <a:endParaRPr lang="en-US" sz="16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2415540"/>
            <a:ext cx="16764000" cy="5455920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5240">
            <a:solidFill>
              <a:srgbClr val="D9D9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2430780"/>
            <a:ext cx="16733520" cy="975360"/>
          </a:xfrm>
          <a:prstGeom prst="rect">
            <a:avLst/>
          </a:prstGeom>
          <a:solidFill>
            <a:srgbClr val="006FCF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2781300"/>
            <a:ext cx="2416969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2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AMERICAN EXPRESS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05689" y="2781300"/>
            <a:ext cx="12858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2" kern="0" dirty="0">
                <a:solidFill>
                  <a:srgbClr val="FFFFFF">
                    <a:alpha val="5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|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79996" y="27813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76236" y="2781300"/>
            <a:ext cx="47005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2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179695" y="2766060"/>
            <a:ext cx="66032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Alerts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190536" y="2766060"/>
            <a:ext cx="119848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Dashboard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739539" y="2766060"/>
            <a:ext cx="100774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Incidents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8914924" y="3162300"/>
            <a:ext cx="1559243" cy="30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9097804" y="2766060"/>
            <a:ext cx="126968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Alert Rules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718007" y="2766060"/>
            <a:ext cx="99917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Analytics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2067699" y="2766060"/>
            <a:ext cx="12827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Integrations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3700998" y="2766060"/>
            <a:ext cx="91463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Settings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16657320" y="2674620"/>
            <a:ext cx="487680" cy="4876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16619220" y="2674620"/>
            <a:ext cx="563880" cy="52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006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</a:t>
            </a:r>
            <a:endParaRPr lang="en-US" sz="1560" dirty="0"/>
          </a:p>
        </p:txBody>
      </p:sp>
      <p:sp>
        <p:nvSpPr>
          <p:cNvPr id="18" name="Text 15"/>
          <p:cNvSpPr/>
          <p:nvPr/>
        </p:nvSpPr>
        <p:spPr>
          <a:xfrm>
            <a:off x="1143000" y="3962400"/>
            <a:ext cx="1539669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rules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454551" y="3771900"/>
            <a:ext cx="1690449" cy="731520"/>
          </a:xfrm>
          <a:prstGeom prst="roundRect">
            <a:avLst>
              <a:gd name="adj" fmla="val 16667"/>
            </a:avLst>
          </a:prstGeom>
          <a:solidFill>
            <a:srgbClr val="006FCF"/>
          </a:solidFill>
          <a:ln/>
        </p:spPr>
      </p:sp>
      <p:sp>
        <p:nvSpPr>
          <p:cNvPr id="20" name="Text 17"/>
          <p:cNvSpPr/>
          <p:nvPr/>
        </p:nvSpPr>
        <p:spPr>
          <a:xfrm>
            <a:off x="15766971" y="3939540"/>
            <a:ext cx="1065609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6316"/>
              </a:lnSpc>
              <a:buNone/>
            </a:pPr>
            <a:r>
              <a:rPr lang="en-US" sz="19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New rule</a:t>
            </a:r>
            <a:endParaRPr lang="en-US" sz="1920" dirty="0"/>
          </a:p>
        </p:txBody>
      </p:sp>
      <p:sp>
        <p:nvSpPr>
          <p:cNvPr id="21" name="Shape 18"/>
          <p:cNvSpPr/>
          <p:nvPr/>
        </p:nvSpPr>
        <p:spPr>
          <a:xfrm>
            <a:off x="1143000" y="4747260"/>
            <a:ext cx="16002000" cy="27432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240">
            <a:solidFill>
              <a:srgbClr val="D9D9D9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158240" y="5372100"/>
            <a:ext cx="15971520" cy="1524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3" name="Text 20"/>
          <p:cNvSpPr/>
          <p:nvPr/>
        </p:nvSpPr>
        <p:spPr>
          <a:xfrm>
            <a:off x="1402080" y="4945380"/>
            <a:ext cx="7823287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6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</a:t>
            </a:r>
            <a:endParaRPr lang="en-US" sz="1560" dirty="0"/>
          </a:p>
        </p:txBody>
      </p:sp>
      <p:sp>
        <p:nvSpPr>
          <p:cNvPr id="24" name="Text 21"/>
          <p:cNvSpPr/>
          <p:nvPr/>
        </p:nvSpPr>
        <p:spPr>
          <a:xfrm>
            <a:off x="8727520" y="4945380"/>
            <a:ext cx="391151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6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1560" dirty="0"/>
          </a:p>
        </p:txBody>
      </p:sp>
      <p:sp>
        <p:nvSpPr>
          <p:cNvPr id="25" name="Text 22"/>
          <p:cNvSpPr/>
          <p:nvPr/>
        </p:nvSpPr>
        <p:spPr>
          <a:xfrm>
            <a:off x="12496800" y="4945380"/>
            <a:ext cx="15087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6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</a:t>
            </a:r>
            <a:endParaRPr lang="en-US" sz="1560" dirty="0"/>
          </a:p>
        </p:txBody>
      </p:sp>
      <p:sp>
        <p:nvSpPr>
          <p:cNvPr id="26" name="Text 23"/>
          <p:cNvSpPr/>
          <p:nvPr/>
        </p:nvSpPr>
        <p:spPr>
          <a:xfrm>
            <a:off x="14081760" y="4945380"/>
            <a:ext cx="167640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6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</a:t>
            </a:r>
            <a:endParaRPr lang="en-US" sz="1560" dirty="0"/>
          </a:p>
        </p:txBody>
      </p:sp>
      <p:sp>
        <p:nvSpPr>
          <p:cNvPr id="27" name="Text 24"/>
          <p:cNvSpPr/>
          <p:nvPr/>
        </p:nvSpPr>
        <p:spPr>
          <a:xfrm>
            <a:off x="15819120" y="4945380"/>
            <a:ext cx="114300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6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Enabled</a:t>
            </a:r>
            <a:endParaRPr lang="en-US" sz="1560" dirty="0"/>
          </a:p>
        </p:txBody>
      </p:sp>
      <p:sp>
        <p:nvSpPr>
          <p:cNvPr id="28" name="Shape 25"/>
          <p:cNvSpPr/>
          <p:nvPr/>
        </p:nvSpPr>
        <p:spPr>
          <a:xfrm>
            <a:off x="1158240" y="6073140"/>
            <a:ext cx="15971520" cy="1524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9" name="Text 26"/>
          <p:cNvSpPr/>
          <p:nvPr/>
        </p:nvSpPr>
        <p:spPr>
          <a:xfrm>
            <a:off x="1402080" y="5600700"/>
            <a:ext cx="7823287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error_rate &gt; 5% for 2m</a:t>
            </a:r>
            <a:endParaRPr lang="en-US" sz="1680" dirty="0"/>
          </a:p>
        </p:txBody>
      </p:sp>
      <p:sp>
        <p:nvSpPr>
          <p:cNvPr id="30" name="Text 27"/>
          <p:cNvSpPr/>
          <p:nvPr/>
        </p:nvSpPr>
        <p:spPr>
          <a:xfrm>
            <a:off x="8727520" y="5600700"/>
            <a:ext cx="3911512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checkout-svc</a:t>
            </a:r>
            <a:endParaRPr lang="en-US" sz="1680" dirty="0"/>
          </a:p>
        </p:txBody>
      </p:sp>
      <p:sp>
        <p:nvSpPr>
          <p:cNvPr id="31" name="Text 28"/>
          <p:cNvSpPr/>
          <p:nvPr/>
        </p:nvSpPr>
        <p:spPr>
          <a:xfrm>
            <a:off x="12496800" y="5600700"/>
            <a:ext cx="150876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C4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680" dirty="0"/>
          </a:p>
        </p:txBody>
      </p:sp>
      <p:sp>
        <p:nvSpPr>
          <p:cNvPr id="32" name="Text 29"/>
          <p:cNvSpPr/>
          <p:nvPr/>
        </p:nvSpPr>
        <p:spPr>
          <a:xfrm>
            <a:off x="14081760" y="5600700"/>
            <a:ext cx="16764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680" dirty="0"/>
          </a:p>
        </p:txBody>
      </p:sp>
      <p:sp>
        <p:nvSpPr>
          <p:cNvPr id="33" name="Text 30"/>
          <p:cNvSpPr/>
          <p:nvPr/>
        </p:nvSpPr>
        <p:spPr>
          <a:xfrm>
            <a:off x="15819120" y="5600700"/>
            <a:ext cx="11430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006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</a:t>
            </a:r>
            <a:endParaRPr lang="en-US" sz="1680" dirty="0"/>
          </a:p>
        </p:txBody>
      </p:sp>
      <p:sp>
        <p:nvSpPr>
          <p:cNvPr id="34" name="Shape 31"/>
          <p:cNvSpPr/>
          <p:nvPr/>
        </p:nvSpPr>
        <p:spPr>
          <a:xfrm>
            <a:off x="1158240" y="6774180"/>
            <a:ext cx="15971520" cy="1524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35" name="Text 32"/>
          <p:cNvSpPr/>
          <p:nvPr/>
        </p:nvSpPr>
        <p:spPr>
          <a:xfrm>
            <a:off x="1402080" y="6301740"/>
            <a:ext cx="7823287" cy="2971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p99_latency &gt; 3s for 5m</a:t>
            </a:r>
            <a:endParaRPr lang="en-US" sz="1680" dirty="0"/>
          </a:p>
        </p:txBody>
      </p:sp>
      <p:sp>
        <p:nvSpPr>
          <p:cNvPr id="36" name="Text 33"/>
          <p:cNvSpPr/>
          <p:nvPr/>
        </p:nvSpPr>
        <p:spPr>
          <a:xfrm>
            <a:off x="8727520" y="6301740"/>
            <a:ext cx="3911512" cy="2971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payments-api</a:t>
            </a:r>
            <a:endParaRPr lang="en-US" sz="1680" dirty="0"/>
          </a:p>
        </p:txBody>
      </p:sp>
      <p:sp>
        <p:nvSpPr>
          <p:cNvPr id="37" name="Text 34"/>
          <p:cNvSpPr/>
          <p:nvPr/>
        </p:nvSpPr>
        <p:spPr>
          <a:xfrm>
            <a:off x="12496800" y="6301740"/>
            <a:ext cx="1508760" cy="2971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680" dirty="0"/>
          </a:p>
        </p:txBody>
      </p:sp>
      <p:sp>
        <p:nvSpPr>
          <p:cNvPr id="38" name="Text 35"/>
          <p:cNvSpPr/>
          <p:nvPr/>
        </p:nvSpPr>
        <p:spPr>
          <a:xfrm>
            <a:off x="14081760" y="6301740"/>
            <a:ext cx="1676400" cy="2971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3000ms</a:t>
            </a:r>
            <a:endParaRPr lang="en-US" sz="1680" dirty="0"/>
          </a:p>
        </p:txBody>
      </p:sp>
      <p:sp>
        <p:nvSpPr>
          <p:cNvPr id="39" name="Text 36"/>
          <p:cNvSpPr/>
          <p:nvPr/>
        </p:nvSpPr>
        <p:spPr>
          <a:xfrm>
            <a:off x="15819120" y="6301740"/>
            <a:ext cx="1143000" cy="2971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006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</a:t>
            </a:r>
            <a:endParaRPr lang="en-US" sz="1680" dirty="0"/>
          </a:p>
        </p:txBody>
      </p:sp>
      <p:sp>
        <p:nvSpPr>
          <p:cNvPr id="40" name="Text 37"/>
          <p:cNvSpPr/>
          <p:nvPr/>
        </p:nvSpPr>
        <p:spPr>
          <a:xfrm>
            <a:off x="1402080" y="7002780"/>
            <a:ext cx="7823287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pod_restarts &gt; 3 in 10m</a:t>
            </a:r>
            <a:endParaRPr lang="en-US" sz="1680" dirty="0"/>
          </a:p>
        </p:txBody>
      </p:sp>
      <p:sp>
        <p:nvSpPr>
          <p:cNvPr id="41" name="Text 38"/>
          <p:cNvSpPr/>
          <p:nvPr/>
        </p:nvSpPr>
        <p:spPr>
          <a:xfrm>
            <a:off x="8727520" y="7002780"/>
            <a:ext cx="3911512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auth-service</a:t>
            </a:r>
            <a:endParaRPr lang="en-US" sz="1680" dirty="0"/>
          </a:p>
        </p:txBody>
      </p:sp>
      <p:sp>
        <p:nvSpPr>
          <p:cNvPr id="42" name="Text 39"/>
          <p:cNvSpPr/>
          <p:nvPr/>
        </p:nvSpPr>
        <p:spPr>
          <a:xfrm>
            <a:off x="12496800" y="7002780"/>
            <a:ext cx="150876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1680" dirty="0"/>
          </a:p>
        </p:txBody>
      </p:sp>
      <p:sp>
        <p:nvSpPr>
          <p:cNvPr id="43" name="Text 40"/>
          <p:cNvSpPr/>
          <p:nvPr/>
        </p:nvSpPr>
        <p:spPr>
          <a:xfrm>
            <a:off x="14081760" y="7002780"/>
            <a:ext cx="16764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restarts</a:t>
            </a:r>
            <a:endParaRPr lang="en-US" sz="1680" dirty="0"/>
          </a:p>
        </p:txBody>
      </p:sp>
      <p:sp>
        <p:nvSpPr>
          <p:cNvPr id="44" name="Text 41"/>
          <p:cNvSpPr/>
          <p:nvPr/>
        </p:nvSpPr>
        <p:spPr>
          <a:xfrm>
            <a:off x="15819120" y="7002780"/>
            <a:ext cx="11430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</a:t>
            </a:r>
            <a:endParaRPr lang="en-US" sz="16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14438" y="1346120"/>
            <a:ext cx="15859125" cy="759476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7621">
            <a:solidFill>
              <a:srgbClr val="D9D9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32059" y="1363742"/>
            <a:ext cx="15823883" cy="1127760"/>
          </a:xfrm>
          <a:prstGeom prst="rect">
            <a:avLst/>
          </a:prstGeom>
          <a:solidFill>
            <a:srgbClr val="006FCF"/>
          </a:solidFill>
          <a:ln/>
        </p:spPr>
      </p:sp>
      <p:sp>
        <p:nvSpPr>
          <p:cNvPr id="4" name="Text 2"/>
          <p:cNvSpPr/>
          <p:nvPr/>
        </p:nvSpPr>
        <p:spPr>
          <a:xfrm>
            <a:off x="1654969" y="1769030"/>
            <a:ext cx="2787709" cy="3552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81" spc="14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AMERICAN EXPRESS</a:t>
            </a:r>
            <a:endParaRPr lang="en-US" sz="2081" dirty="0"/>
          </a:p>
        </p:txBody>
      </p:sp>
      <p:sp>
        <p:nvSpPr>
          <p:cNvPr id="5" name="Text 3"/>
          <p:cNvSpPr/>
          <p:nvPr/>
        </p:nvSpPr>
        <p:spPr>
          <a:xfrm>
            <a:off x="4502453" y="1769030"/>
            <a:ext cx="136773" cy="355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81" spc="14" kern="0" dirty="0">
                <a:solidFill>
                  <a:srgbClr val="FFFFFF">
                    <a:alpha val="5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|</a:t>
            </a:r>
            <a:endParaRPr lang="en-US" sz="2081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03996" y="1769030"/>
            <a:ext cx="317183" cy="3171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162148" y="1769030"/>
            <a:ext cx="531600" cy="355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81" b="1" spc="14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AIR</a:t>
            </a:r>
            <a:endParaRPr lang="en-US" sz="2081" dirty="0"/>
          </a:p>
        </p:txBody>
      </p:sp>
      <p:sp>
        <p:nvSpPr>
          <p:cNvPr id="8" name="Text 5"/>
          <p:cNvSpPr/>
          <p:nvPr/>
        </p:nvSpPr>
        <p:spPr>
          <a:xfrm>
            <a:off x="6322398" y="1751409"/>
            <a:ext cx="75158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81" dirty="0">
                <a:solidFill>
                  <a:srgbClr val="FFFFFF">
                    <a:alpha val="7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Alerts</a:t>
            </a:r>
            <a:endParaRPr lang="en-US" sz="2081" dirty="0"/>
          </a:p>
        </p:txBody>
      </p:sp>
      <p:sp>
        <p:nvSpPr>
          <p:cNvPr id="9" name="Text 6"/>
          <p:cNvSpPr/>
          <p:nvPr/>
        </p:nvSpPr>
        <p:spPr>
          <a:xfrm>
            <a:off x="7491182" y="1751409"/>
            <a:ext cx="137384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81" dirty="0">
                <a:solidFill>
                  <a:srgbClr val="FFFFFF">
                    <a:alpha val="7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Dashboard</a:t>
            </a:r>
            <a:endParaRPr lang="en-US" sz="2081" dirty="0"/>
          </a:p>
        </p:txBody>
      </p:sp>
      <p:sp>
        <p:nvSpPr>
          <p:cNvPr id="10" name="Text 7"/>
          <p:cNvSpPr/>
          <p:nvPr/>
        </p:nvSpPr>
        <p:spPr>
          <a:xfrm>
            <a:off x="9282217" y="1751409"/>
            <a:ext cx="115329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81" dirty="0">
                <a:solidFill>
                  <a:srgbClr val="FFFFFF">
                    <a:alpha val="7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Incidents</a:t>
            </a:r>
            <a:endParaRPr lang="en-US" sz="2081" dirty="0"/>
          </a:p>
        </p:txBody>
      </p:sp>
      <p:sp>
        <p:nvSpPr>
          <p:cNvPr id="11" name="Shape 8"/>
          <p:cNvSpPr/>
          <p:nvPr/>
        </p:nvSpPr>
        <p:spPr>
          <a:xfrm>
            <a:off x="10641255" y="2209562"/>
            <a:ext cx="1939990" cy="3524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10852710" y="1751409"/>
            <a:ext cx="1593280" cy="355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81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Integrations</a:t>
            </a:r>
            <a:endParaRPr lang="en-US" sz="2081" dirty="0"/>
          </a:p>
        </p:txBody>
      </p:sp>
      <p:sp>
        <p:nvSpPr>
          <p:cNvPr id="13" name="Text 10"/>
          <p:cNvSpPr/>
          <p:nvPr/>
        </p:nvSpPr>
        <p:spPr>
          <a:xfrm>
            <a:off x="12863185" y="1751409"/>
            <a:ext cx="104564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81" dirty="0">
                <a:solidFill>
                  <a:srgbClr val="FFFFFF">
                    <a:alpha val="7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Settings</a:t>
            </a:r>
            <a:endParaRPr lang="en-US" sz="2081" dirty="0"/>
          </a:p>
        </p:txBody>
      </p:sp>
      <p:sp>
        <p:nvSpPr>
          <p:cNvPr id="14" name="Shape 11"/>
          <p:cNvSpPr/>
          <p:nvPr/>
        </p:nvSpPr>
        <p:spPr>
          <a:xfrm>
            <a:off x="16069152" y="1645682"/>
            <a:ext cx="563880" cy="563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16031052" y="1645682"/>
            <a:ext cx="640080" cy="60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4" b="1" dirty="0">
                <a:solidFill>
                  <a:srgbClr val="006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</a:t>
            </a:r>
            <a:endParaRPr lang="en-US" sz="1804" dirty="0"/>
          </a:p>
        </p:txBody>
      </p:sp>
      <p:sp>
        <p:nvSpPr>
          <p:cNvPr id="16" name="Text 13"/>
          <p:cNvSpPr/>
          <p:nvPr/>
        </p:nvSpPr>
        <p:spPr>
          <a:xfrm>
            <a:off x="1654969" y="2914412"/>
            <a:ext cx="2080079" cy="4433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Integrations</a:t>
            </a:r>
            <a:endParaRPr lang="en-US" sz="2775" dirty="0"/>
          </a:p>
        </p:txBody>
      </p:sp>
      <p:sp>
        <p:nvSpPr>
          <p:cNvPr id="17" name="Text 14"/>
          <p:cNvSpPr/>
          <p:nvPr/>
        </p:nvSpPr>
        <p:spPr>
          <a:xfrm>
            <a:off x="3722162" y="3037761"/>
            <a:ext cx="3636200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65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Commander access only</a:t>
            </a:r>
            <a:endParaRPr lang="en-US" sz="1665" dirty="0"/>
          </a:p>
        </p:txBody>
      </p:sp>
      <p:sp>
        <p:nvSpPr>
          <p:cNvPr id="18" name="Shape 15"/>
          <p:cNvSpPr/>
          <p:nvPr/>
        </p:nvSpPr>
        <p:spPr>
          <a:xfrm>
            <a:off x="1654969" y="3531155"/>
            <a:ext cx="14978062" cy="1515427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7621">
            <a:solidFill>
              <a:srgbClr val="D9D9D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989772" y="3980497"/>
            <a:ext cx="543438" cy="355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81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ELF</a:t>
            </a:r>
            <a:endParaRPr lang="en-US" sz="2081" dirty="0"/>
          </a:p>
        </p:txBody>
      </p:sp>
      <p:sp>
        <p:nvSpPr>
          <p:cNvPr id="20" name="Text 17"/>
          <p:cNvSpPr/>
          <p:nvPr/>
        </p:nvSpPr>
        <p:spPr>
          <a:xfrm>
            <a:off x="1989772" y="4297680"/>
            <a:ext cx="4961842" cy="337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43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Log Feed — ingestion source</a:t>
            </a:r>
            <a:endParaRPr lang="en-US" sz="1943" dirty="0"/>
          </a:p>
        </p:txBody>
      </p:sp>
      <p:sp>
        <p:nvSpPr>
          <p:cNvPr id="21" name="Text 18"/>
          <p:cNvSpPr/>
          <p:nvPr/>
        </p:nvSpPr>
        <p:spPr>
          <a:xfrm>
            <a:off x="12802337" y="4147899"/>
            <a:ext cx="124526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4" dirty="0">
                <a:solidFill>
                  <a:srgbClr val="0087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</a:t>
            </a:r>
            <a:endParaRPr lang="en-US" sz="1804" dirty="0"/>
          </a:p>
        </p:txBody>
      </p:sp>
      <p:sp>
        <p:nvSpPr>
          <p:cNvPr id="22" name="Shape 19"/>
          <p:cNvSpPr/>
          <p:nvPr/>
        </p:nvSpPr>
        <p:spPr>
          <a:xfrm>
            <a:off x="14182852" y="3865959"/>
            <a:ext cx="2115376" cy="845820"/>
          </a:xfrm>
          <a:prstGeom prst="roundRect">
            <a:avLst>
              <a:gd name="adj" fmla="val 8333"/>
            </a:avLst>
          </a:prstGeom>
          <a:ln w="17621">
            <a:solidFill>
              <a:srgbClr val="006FC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4567662" y="4077414"/>
            <a:ext cx="1345756" cy="461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6316"/>
              </a:lnSpc>
              <a:buNone/>
            </a:pPr>
            <a:r>
              <a:rPr lang="en-US" sz="2220" dirty="0">
                <a:solidFill>
                  <a:srgbClr val="006FC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Configure</a:t>
            </a:r>
            <a:endParaRPr lang="en-US" sz="2220" dirty="0"/>
          </a:p>
        </p:txBody>
      </p:sp>
      <p:sp>
        <p:nvSpPr>
          <p:cNvPr id="24" name="Shape 21"/>
          <p:cNvSpPr/>
          <p:nvPr/>
        </p:nvSpPr>
        <p:spPr>
          <a:xfrm>
            <a:off x="1654969" y="5258038"/>
            <a:ext cx="14978062" cy="1515427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7621">
            <a:solidFill>
              <a:srgbClr val="D9D9D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989772" y="5707380"/>
            <a:ext cx="782427" cy="355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81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</a:t>
            </a:r>
            <a:endParaRPr lang="en-US" sz="2081" dirty="0"/>
          </a:p>
        </p:txBody>
      </p:sp>
      <p:sp>
        <p:nvSpPr>
          <p:cNvPr id="26" name="Text 23"/>
          <p:cNvSpPr/>
          <p:nvPr/>
        </p:nvSpPr>
        <p:spPr>
          <a:xfrm>
            <a:off x="1989772" y="6024563"/>
            <a:ext cx="5060878" cy="337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43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 &amp; incident channel updates</a:t>
            </a:r>
            <a:endParaRPr lang="en-US" sz="1943" dirty="0"/>
          </a:p>
        </p:txBody>
      </p:sp>
      <p:sp>
        <p:nvSpPr>
          <p:cNvPr id="27" name="Text 24"/>
          <p:cNvSpPr/>
          <p:nvPr/>
        </p:nvSpPr>
        <p:spPr>
          <a:xfrm>
            <a:off x="12802337" y="5874782"/>
            <a:ext cx="124526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4" dirty="0">
                <a:solidFill>
                  <a:srgbClr val="0087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</a:t>
            </a:r>
            <a:endParaRPr lang="en-US" sz="1804" dirty="0"/>
          </a:p>
        </p:txBody>
      </p:sp>
      <p:sp>
        <p:nvSpPr>
          <p:cNvPr id="28" name="Shape 25"/>
          <p:cNvSpPr/>
          <p:nvPr/>
        </p:nvSpPr>
        <p:spPr>
          <a:xfrm>
            <a:off x="14182852" y="5592842"/>
            <a:ext cx="2115376" cy="845820"/>
          </a:xfrm>
          <a:prstGeom prst="roundRect">
            <a:avLst>
              <a:gd name="adj" fmla="val 8333"/>
            </a:avLst>
          </a:prstGeom>
          <a:ln w="17621">
            <a:solidFill>
              <a:srgbClr val="006FC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4567662" y="5804297"/>
            <a:ext cx="1345756" cy="461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6316"/>
              </a:lnSpc>
              <a:buNone/>
            </a:pPr>
            <a:r>
              <a:rPr lang="en-US" sz="2220" dirty="0">
                <a:solidFill>
                  <a:srgbClr val="006FC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Configure</a:t>
            </a:r>
            <a:endParaRPr lang="en-US" sz="2220" dirty="0"/>
          </a:p>
        </p:txBody>
      </p:sp>
      <p:sp>
        <p:nvSpPr>
          <p:cNvPr id="30" name="Shape 27"/>
          <p:cNvSpPr/>
          <p:nvPr/>
        </p:nvSpPr>
        <p:spPr>
          <a:xfrm>
            <a:off x="1654969" y="6984920"/>
            <a:ext cx="14978062" cy="1515428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7621">
            <a:solidFill>
              <a:srgbClr val="D9D9D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989772" y="7434263"/>
            <a:ext cx="680003" cy="355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81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</a:t>
            </a:r>
            <a:endParaRPr lang="en-US" sz="2081" dirty="0"/>
          </a:p>
        </p:txBody>
      </p:sp>
      <p:sp>
        <p:nvSpPr>
          <p:cNvPr id="32" name="Text 29"/>
          <p:cNvSpPr/>
          <p:nvPr/>
        </p:nvSpPr>
        <p:spPr>
          <a:xfrm>
            <a:off x="1989772" y="7751445"/>
            <a:ext cx="4531773" cy="337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43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/ update issues automatically</a:t>
            </a:r>
            <a:endParaRPr lang="en-US" sz="1943" dirty="0"/>
          </a:p>
        </p:txBody>
      </p:sp>
      <p:sp>
        <p:nvSpPr>
          <p:cNvPr id="33" name="Text 30"/>
          <p:cNvSpPr/>
          <p:nvPr/>
        </p:nvSpPr>
        <p:spPr>
          <a:xfrm>
            <a:off x="12593360" y="7601664"/>
            <a:ext cx="1739051" cy="320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4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connected</a:t>
            </a:r>
            <a:endParaRPr lang="en-US" sz="1804" dirty="0"/>
          </a:p>
        </p:txBody>
      </p:sp>
      <p:sp>
        <p:nvSpPr>
          <p:cNvPr id="34" name="Shape 31"/>
          <p:cNvSpPr/>
          <p:nvPr/>
        </p:nvSpPr>
        <p:spPr>
          <a:xfrm>
            <a:off x="14385772" y="7319724"/>
            <a:ext cx="1912455" cy="845820"/>
          </a:xfrm>
          <a:prstGeom prst="roundRect">
            <a:avLst>
              <a:gd name="adj" fmla="val 16667"/>
            </a:avLst>
          </a:prstGeom>
          <a:solidFill>
            <a:srgbClr val="006FCF"/>
          </a:solidFill>
          <a:ln/>
        </p:spPr>
      </p:sp>
      <p:sp>
        <p:nvSpPr>
          <p:cNvPr id="35" name="Text 32"/>
          <p:cNvSpPr/>
          <p:nvPr/>
        </p:nvSpPr>
        <p:spPr>
          <a:xfrm>
            <a:off x="14752961" y="7513558"/>
            <a:ext cx="1178078" cy="4962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6316"/>
              </a:lnSpc>
              <a:buNone/>
            </a:pPr>
            <a:r>
              <a:rPr lang="en-US" sz="22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Connect</a:t>
            </a:r>
            <a:endParaRPr lang="en-US" sz="22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1021080"/>
            <a:ext cx="16764000" cy="8244841"/>
          </a:xfrm>
          <a:prstGeom prst="roundRect">
            <a:avLst>
              <a:gd name="adj" fmla="val 1479"/>
            </a:avLst>
          </a:prstGeom>
          <a:solidFill>
            <a:srgbClr val="FFFFFF"/>
          </a:solidFill>
          <a:ln w="15240">
            <a:solidFill>
              <a:srgbClr val="D9D9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1036320"/>
            <a:ext cx="16733520" cy="975360"/>
          </a:xfrm>
          <a:prstGeom prst="rect">
            <a:avLst/>
          </a:prstGeom>
          <a:solidFill>
            <a:srgbClr val="006FCF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1386840"/>
            <a:ext cx="2416969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2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AMERICAN EXPRESS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05689" y="1386840"/>
            <a:ext cx="12858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2" kern="0" dirty="0">
                <a:solidFill>
                  <a:srgbClr val="FFFFFF">
                    <a:alpha val="5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|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79996" y="13868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76236" y="1386840"/>
            <a:ext cx="47005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2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179695" y="1371600"/>
            <a:ext cx="66032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Alerts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190536" y="1371600"/>
            <a:ext cx="119848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Dashboard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739539" y="1371600"/>
            <a:ext cx="100774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Incidents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8914924" y="1767840"/>
            <a:ext cx="1360170" cy="30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9097804" y="1371600"/>
            <a:ext cx="107061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Analytics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518934" y="1371600"/>
            <a:ext cx="128277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Integrations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2152233" y="1371600"/>
            <a:ext cx="91463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Settings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6657320" y="1280160"/>
            <a:ext cx="487680" cy="4876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16619220" y="1280160"/>
            <a:ext cx="563880" cy="52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006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</a:t>
            </a:r>
            <a:endParaRPr lang="en-US" sz="1560" dirty="0"/>
          </a:p>
        </p:txBody>
      </p:sp>
      <p:sp>
        <p:nvSpPr>
          <p:cNvPr id="17" name="Shape 14"/>
          <p:cNvSpPr/>
          <p:nvPr/>
        </p:nvSpPr>
        <p:spPr>
          <a:xfrm>
            <a:off x="1143000" y="2377440"/>
            <a:ext cx="5171361" cy="1737360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5240">
            <a:solidFill>
              <a:srgbClr val="D9D9D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463040" y="2697480"/>
            <a:ext cx="4984409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6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MTTR (30d)</a:t>
            </a:r>
            <a:endParaRPr lang="en-US" sz="1560" dirty="0"/>
          </a:p>
        </p:txBody>
      </p:sp>
      <p:sp>
        <p:nvSpPr>
          <p:cNvPr id="19" name="Text 16"/>
          <p:cNvSpPr/>
          <p:nvPr/>
        </p:nvSpPr>
        <p:spPr>
          <a:xfrm>
            <a:off x="1463040" y="2941320"/>
            <a:ext cx="4984409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21m</a:t>
            </a:r>
            <a:endParaRPr lang="en-US" sz="4080" dirty="0"/>
          </a:p>
        </p:txBody>
      </p:sp>
      <p:sp>
        <p:nvSpPr>
          <p:cNvPr id="20" name="Text 17"/>
          <p:cNvSpPr/>
          <p:nvPr/>
        </p:nvSpPr>
        <p:spPr>
          <a:xfrm>
            <a:off x="1463040" y="3550920"/>
            <a:ext cx="4984409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60" dirty="0">
                <a:solidFill>
                  <a:srgbClr val="0087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47% vs. pre-AIR baseline</a:t>
            </a:r>
            <a:endParaRPr lang="en-US" sz="1560" dirty="0"/>
          </a:p>
        </p:txBody>
      </p:sp>
      <p:sp>
        <p:nvSpPr>
          <p:cNvPr id="21" name="Shape 18"/>
          <p:cNvSpPr/>
          <p:nvPr/>
        </p:nvSpPr>
        <p:spPr>
          <a:xfrm>
            <a:off x="6558201" y="2377440"/>
            <a:ext cx="5171361" cy="1737360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5240">
            <a:solidFill>
              <a:srgbClr val="D9D9D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78241" y="2697480"/>
            <a:ext cx="4984408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6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Incidents triaged</a:t>
            </a:r>
            <a:endParaRPr lang="en-US" sz="1560" dirty="0"/>
          </a:p>
        </p:txBody>
      </p:sp>
      <p:sp>
        <p:nvSpPr>
          <p:cNvPr id="23" name="Text 20"/>
          <p:cNvSpPr/>
          <p:nvPr/>
        </p:nvSpPr>
        <p:spPr>
          <a:xfrm>
            <a:off x="6878241" y="2941320"/>
            <a:ext cx="4984408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4080" dirty="0"/>
          </a:p>
        </p:txBody>
      </p:sp>
      <p:sp>
        <p:nvSpPr>
          <p:cNvPr id="24" name="Shape 21"/>
          <p:cNvSpPr/>
          <p:nvPr/>
        </p:nvSpPr>
        <p:spPr>
          <a:xfrm>
            <a:off x="11973402" y="2377440"/>
            <a:ext cx="5171598" cy="1737360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5240">
            <a:solidFill>
              <a:srgbClr val="D9D9D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2293441" y="2697480"/>
            <a:ext cx="4984671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6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compliance</a:t>
            </a:r>
            <a:endParaRPr lang="en-US" sz="1560" dirty="0"/>
          </a:p>
        </p:txBody>
      </p:sp>
      <p:sp>
        <p:nvSpPr>
          <p:cNvPr id="26" name="Text 23"/>
          <p:cNvSpPr/>
          <p:nvPr/>
        </p:nvSpPr>
        <p:spPr>
          <a:xfrm>
            <a:off x="12293441" y="2941320"/>
            <a:ext cx="4984671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99.4%</a:t>
            </a:r>
            <a:endParaRPr lang="en-US" sz="4080" dirty="0"/>
          </a:p>
        </p:txBody>
      </p:sp>
      <p:sp>
        <p:nvSpPr>
          <p:cNvPr id="27" name="Shape 24"/>
          <p:cNvSpPr/>
          <p:nvPr/>
        </p:nvSpPr>
        <p:spPr>
          <a:xfrm>
            <a:off x="1143000" y="4389120"/>
            <a:ext cx="16002000" cy="4495801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5240">
            <a:solidFill>
              <a:srgbClr val="D9D9D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463040" y="4709160"/>
            <a:ext cx="1689811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MTTR trend</a:t>
            </a:r>
            <a:endParaRPr lang="en-US" sz="2160" dirty="0"/>
          </a:p>
        </p:txBody>
      </p:sp>
      <p:sp>
        <p:nvSpPr>
          <p:cNvPr id="29" name="Shape 26"/>
          <p:cNvSpPr/>
          <p:nvPr/>
        </p:nvSpPr>
        <p:spPr>
          <a:xfrm>
            <a:off x="1463040" y="5212080"/>
            <a:ext cx="15361920" cy="3352800"/>
          </a:xfrm>
          <a:prstGeom prst="roundRect">
            <a:avLst>
              <a:gd name="adj" fmla="val 1818"/>
            </a:avLst>
          </a:prstGeom>
          <a:solidFill>
            <a:srgbClr val="F2F3F3"/>
          </a:solidFill>
          <a:ln w="15240">
            <a:solidFill>
              <a:srgbClr val="D9D9D9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722120" y="6321742"/>
            <a:ext cx="396240" cy="1984058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1" name="Shape 28"/>
          <p:cNvSpPr/>
          <p:nvPr/>
        </p:nvSpPr>
        <p:spPr>
          <a:xfrm>
            <a:off x="2270760" y="6605111"/>
            <a:ext cx="396240" cy="1700689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2" name="Shape 29"/>
          <p:cNvSpPr/>
          <p:nvPr/>
        </p:nvSpPr>
        <p:spPr>
          <a:xfrm>
            <a:off x="2819400" y="6888480"/>
            <a:ext cx="396240" cy="141732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3" name="Shape 30"/>
          <p:cNvSpPr/>
          <p:nvPr/>
        </p:nvSpPr>
        <p:spPr>
          <a:xfrm>
            <a:off x="3368040" y="7228761"/>
            <a:ext cx="396240" cy="1077039"/>
          </a:xfrm>
          <a:prstGeom prst="rect">
            <a:avLst/>
          </a:prstGeom>
          <a:solidFill>
            <a:srgbClr val="006FCF"/>
          </a:solidFill>
          <a:ln/>
        </p:spPr>
      </p:sp>
      <p:sp>
        <p:nvSpPr>
          <p:cNvPr id="34" name="Shape 31"/>
          <p:cNvSpPr/>
          <p:nvPr/>
        </p:nvSpPr>
        <p:spPr>
          <a:xfrm>
            <a:off x="3916680" y="7455455"/>
            <a:ext cx="396240" cy="850345"/>
          </a:xfrm>
          <a:prstGeom prst="rect">
            <a:avLst/>
          </a:prstGeom>
          <a:solidFill>
            <a:srgbClr val="006FCF"/>
          </a:solidFill>
          <a:ln/>
        </p:spPr>
      </p:sp>
      <p:sp>
        <p:nvSpPr>
          <p:cNvPr id="35" name="Shape 32"/>
          <p:cNvSpPr/>
          <p:nvPr/>
        </p:nvSpPr>
        <p:spPr>
          <a:xfrm>
            <a:off x="4465320" y="7625715"/>
            <a:ext cx="396240" cy="680085"/>
          </a:xfrm>
          <a:prstGeom prst="rect">
            <a:avLst/>
          </a:prstGeom>
          <a:solidFill>
            <a:srgbClr val="006FCF"/>
          </a:solidFill>
          <a:ln/>
        </p:spPr>
      </p:sp>
      <p:sp>
        <p:nvSpPr>
          <p:cNvPr id="36" name="Shape 33"/>
          <p:cNvSpPr/>
          <p:nvPr/>
        </p:nvSpPr>
        <p:spPr>
          <a:xfrm>
            <a:off x="5013960" y="7795736"/>
            <a:ext cx="396240" cy="510064"/>
          </a:xfrm>
          <a:prstGeom prst="rect">
            <a:avLst/>
          </a:prstGeom>
          <a:solidFill>
            <a:srgbClr val="006FCF"/>
          </a:solidFill>
          <a:ln/>
        </p:spPr>
      </p:sp>
      <p:sp>
        <p:nvSpPr>
          <p:cNvPr id="37" name="Text 34"/>
          <p:cNvSpPr/>
          <p:nvPr/>
        </p:nvSpPr>
        <p:spPr>
          <a:xfrm>
            <a:off x="5775960" y="6758940"/>
            <a:ext cx="1118711" cy="2971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7 weeks</a:t>
            </a:r>
            <a:endParaRPr lang="en-US" sz="16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2415540"/>
            <a:ext cx="16764000" cy="5455920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5240">
            <a:solidFill>
              <a:srgbClr val="D9D9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2430780"/>
            <a:ext cx="16733520" cy="975360"/>
          </a:xfrm>
          <a:prstGeom prst="rect">
            <a:avLst/>
          </a:prstGeom>
          <a:solidFill>
            <a:srgbClr val="006FCF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2781300"/>
            <a:ext cx="2416969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2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AMERICAN EXPRESS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05689" y="2781300"/>
            <a:ext cx="12858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2" kern="0" dirty="0">
                <a:solidFill>
                  <a:srgbClr val="FFFFFF">
                    <a:alpha val="5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|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79996" y="27813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76236" y="2781300"/>
            <a:ext cx="47005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2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179695" y="2766060"/>
            <a:ext cx="66032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Alerts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190536" y="2766060"/>
            <a:ext cx="119848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Dashboard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739539" y="2766060"/>
            <a:ext cx="100774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Incidents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8914924" y="3162300"/>
            <a:ext cx="1263253" cy="30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9097804" y="2766060"/>
            <a:ext cx="97369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Settings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16657320" y="2674620"/>
            <a:ext cx="487680" cy="4876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16619220" y="2674620"/>
            <a:ext cx="563880" cy="52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006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</a:t>
            </a:r>
            <a:endParaRPr lang="en-US" sz="1560" dirty="0"/>
          </a:p>
        </p:txBody>
      </p:sp>
      <p:sp>
        <p:nvSpPr>
          <p:cNvPr id="15" name="Text 12"/>
          <p:cNvSpPr/>
          <p:nvPr/>
        </p:nvSpPr>
        <p:spPr>
          <a:xfrm>
            <a:off x="1325880" y="3924300"/>
            <a:ext cx="245973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</a:t>
            </a:r>
            <a:endParaRPr lang="en-US" sz="1680" dirty="0"/>
          </a:p>
        </p:txBody>
      </p:sp>
      <p:sp>
        <p:nvSpPr>
          <p:cNvPr id="16" name="Shape 13"/>
          <p:cNvSpPr/>
          <p:nvPr/>
        </p:nvSpPr>
        <p:spPr>
          <a:xfrm>
            <a:off x="1143000" y="4396740"/>
            <a:ext cx="30480" cy="563880"/>
          </a:xfrm>
          <a:prstGeom prst="rect">
            <a:avLst/>
          </a:prstGeom>
          <a:solidFill>
            <a:srgbClr val="006FCF"/>
          </a:solidFill>
          <a:ln/>
        </p:spPr>
      </p:sp>
      <p:sp>
        <p:nvSpPr>
          <p:cNvPr id="17" name="Text 14"/>
          <p:cNvSpPr/>
          <p:nvPr/>
        </p:nvSpPr>
        <p:spPr>
          <a:xfrm>
            <a:off x="1356360" y="4549140"/>
            <a:ext cx="242925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006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&amp; Roles</a:t>
            </a:r>
            <a:endParaRPr lang="en-US" sz="1680" dirty="0"/>
          </a:p>
        </p:txBody>
      </p:sp>
      <p:sp>
        <p:nvSpPr>
          <p:cNvPr id="18" name="Text 15"/>
          <p:cNvSpPr/>
          <p:nvPr/>
        </p:nvSpPr>
        <p:spPr>
          <a:xfrm>
            <a:off x="1325880" y="5173980"/>
            <a:ext cx="245973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Engine</a:t>
            </a:r>
            <a:endParaRPr lang="en-US" sz="1680" dirty="0"/>
          </a:p>
        </p:txBody>
      </p:sp>
      <p:sp>
        <p:nvSpPr>
          <p:cNvPr id="19" name="Text 16"/>
          <p:cNvSpPr/>
          <p:nvPr/>
        </p:nvSpPr>
        <p:spPr>
          <a:xfrm>
            <a:off x="1325880" y="5798820"/>
            <a:ext cx="245973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</a:t>
            </a:r>
            <a:endParaRPr lang="en-US" sz="1680" dirty="0"/>
          </a:p>
        </p:txBody>
      </p:sp>
      <p:sp>
        <p:nvSpPr>
          <p:cNvPr id="20" name="Text 17"/>
          <p:cNvSpPr/>
          <p:nvPr/>
        </p:nvSpPr>
        <p:spPr>
          <a:xfrm>
            <a:off x="4130040" y="3771900"/>
            <a:ext cx="872014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5078254" y="3878580"/>
            <a:ext cx="314482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4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Commander access only</a:t>
            </a:r>
            <a:endParaRPr lang="en-US" sz="1440" dirty="0"/>
          </a:p>
        </p:txBody>
      </p:sp>
      <p:sp>
        <p:nvSpPr>
          <p:cNvPr id="22" name="Shape 19"/>
          <p:cNvSpPr/>
          <p:nvPr/>
        </p:nvSpPr>
        <p:spPr>
          <a:xfrm>
            <a:off x="15278338" y="3771900"/>
            <a:ext cx="1866662" cy="731520"/>
          </a:xfrm>
          <a:prstGeom prst="roundRect">
            <a:avLst>
              <a:gd name="adj" fmla="val 16667"/>
            </a:avLst>
          </a:prstGeom>
          <a:solidFill>
            <a:srgbClr val="006FCF"/>
          </a:solidFill>
          <a:ln/>
        </p:spPr>
      </p:sp>
      <p:sp>
        <p:nvSpPr>
          <p:cNvPr id="23" name="Text 20"/>
          <p:cNvSpPr/>
          <p:nvPr/>
        </p:nvSpPr>
        <p:spPr>
          <a:xfrm>
            <a:off x="15590758" y="3939540"/>
            <a:ext cx="1241822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6316"/>
              </a:lnSpc>
              <a:buNone/>
            </a:pPr>
            <a:r>
              <a:rPr lang="en-US" sz="19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Invite user</a:t>
            </a:r>
            <a:endParaRPr lang="en-US" sz="1920" dirty="0"/>
          </a:p>
        </p:txBody>
      </p:sp>
      <p:sp>
        <p:nvSpPr>
          <p:cNvPr id="24" name="Shape 21"/>
          <p:cNvSpPr/>
          <p:nvPr/>
        </p:nvSpPr>
        <p:spPr>
          <a:xfrm>
            <a:off x="4130040" y="4747260"/>
            <a:ext cx="13014960" cy="27432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240">
            <a:solidFill>
              <a:srgbClr val="D9D9D9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145280" y="5372100"/>
            <a:ext cx="12984480" cy="1524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6" name="Text 23"/>
          <p:cNvSpPr/>
          <p:nvPr/>
        </p:nvSpPr>
        <p:spPr>
          <a:xfrm>
            <a:off x="4389120" y="4945380"/>
            <a:ext cx="6638544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6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1560" dirty="0"/>
          </a:p>
        </p:txBody>
      </p:sp>
      <p:sp>
        <p:nvSpPr>
          <p:cNvPr id="27" name="Text 24"/>
          <p:cNvSpPr/>
          <p:nvPr/>
        </p:nvSpPr>
        <p:spPr>
          <a:xfrm>
            <a:off x="10637520" y="4945380"/>
            <a:ext cx="3319271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6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1560" dirty="0"/>
          </a:p>
        </p:txBody>
      </p:sp>
      <p:sp>
        <p:nvSpPr>
          <p:cNvPr id="28" name="Text 25"/>
          <p:cNvSpPr/>
          <p:nvPr/>
        </p:nvSpPr>
        <p:spPr>
          <a:xfrm>
            <a:off x="13868400" y="4945380"/>
            <a:ext cx="331927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6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approve automation</a:t>
            </a:r>
            <a:endParaRPr lang="en-US" sz="1560" dirty="0"/>
          </a:p>
        </p:txBody>
      </p:sp>
      <p:sp>
        <p:nvSpPr>
          <p:cNvPr id="29" name="Shape 26"/>
          <p:cNvSpPr/>
          <p:nvPr/>
        </p:nvSpPr>
        <p:spPr>
          <a:xfrm>
            <a:off x="4145280" y="6073140"/>
            <a:ext cx="12984480" cy="1524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30" name="Text 27"/>
          <p:cNvSpPr/>
          <p:nvPr/>
        </p:nvSpPr>
        <p:spPr>
          <a:xfrm>
            <a:off x="4389120" y="5600700"/>
            <a:ext cx="6638544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ArunKumar K</a:t>
            </a:r>
            <a:endParaRPr lang="en-US" sz="1680" dirty="0"/>
          </a:p>
        </p:txBody>
      </p:sp>
      <p:sp>
        <p:nvSpPr>
          <p:cNvPr id="31" name="Text 28"/>
          <p:cNvSpPr/>
          <p:nvPr/>
        </p:nvSpPr>
        <p:spPr>
          <a:xfrm>
            <a:off x="10637520" y="5600700"/>
            <a:ext cx="3319271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SRE Engineer</a:t>
            </a:r>
            <a:endParaRPr lang="en-US" sz="1680" dirty="0"/>
          </a:p>
        </p:txBody>
      </p:sp>
      <p:sp>
        <p:nvSpPr>
          <p:cNvPr id="32" name="Text 29"/>
          <p:cNvSpPr/>
          <p:nvPr/>
        </p:nvSpPr>
        <p:spPr>
          <a:xfrm>
            <a:off x="13868400" y="5600700"/>
            <a:ext cx="331927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680" dirty="0"/>
          </a:p>
        </p:txBody>
      </p:sp>
      <p:sp>
        <p:nvSpPr>
          <p:cNvPr id="33" name="Shape 30"/>
          <p:cNvSpPr/>
          <p:nvPr/>
        </p:nvSpPr>
        <p:spPr>
          <a:xfrm>
            <a:off x="4145280" y="6774180"/>
            <a:ext cx="12984480" cy="1524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34" name="Text 31"/>
          <p:cNvSpPr/>
          <p:nvPr/>
        </p:nvSpPr>
        <p:spPr>
          <a:xfrm>
            <a:off x="4389120" y="6301740"/>
            <a:ext cx="6638544" cy="2971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 Nair</a:t>
            </a:r>
            <a:endParaRPr lang="en-US" sz="1680" dirty="0"/>
          </a:p>
        </p:txBody>
      </p:sp>
      <p:sp>
        <p:nvSpPr>
          <p:cNvPr id="35" name="Text 32"/>
          <p:cNvSpPr/>
          <p:nvPr/>
        </p:nvSpPr>
        <p:spPr>
          <a:xfrm>
            <a:off x="10637520" y="6301740"/>
            <a:ext cx="3319271" cy="2971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Commander</a:t>
            </a:r>
            <a:endParaRPr lang="en-US" sz="1680" dirty="0"/>
          </a:p>
        </p:txBody>
      </p:sp>
      <p:sp>
        <p:nvSpPr>
          <p:cNvPr id="36" name="Text 33"/>
          <p:cNvSpPr/>
          <p:nvPr/>
        </p:nvSpPr>
        <p:spPr>
          <a:xfrm>
            <a:off x="13868400" y="6301740"/>
            <a:ext cx="3319273" cy="2971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680" dirty="0"/>
          </a:p>
        </p:txBody>
      </p:sp>
      <p:sp>
        <p:nvSpPr>
          <p:cNvPr id="37" name="Text 34"/>
          <p:cNvSpPr/>
          <p:nvPr/>
        </p:nvSpPr>
        <p:spPr>
          <a:xfrm>
            <a:off x="4389120" y="7002780"/>
            <a:ext cx="6638544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Chen</a:t>
            </a:r>
            <a:endParaRPr lang="en-US" sz="1680" dirty="0"/>
          </a:p>
        </p:txBody>
      </p:sp>
      <p:sp>
        <p:nvSpPr>
          <p:cNvPr id="38" name="Text 35"/>
          <p:cNvSpPr/>
          <p:nvPr/>
        </p:nvSpPr>
        <p:spPr>
          <a:xfrm>
            <a:off x="10637520" y="7002780"/>
            <a:ext cx="3319271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SRE Engineer</a:t>
            </a:r>
            <a:endParaRPr lang="en-US" sz="1680" dirty="0"/>
          </a:p>
        </p:txBody>
      </p:sp>
      <p:sp>
        <p:nvSpPr>
          <p:cNvPr id="39" name="Text 36"/>
          <p:cNvSpPr/>
          <p:nvPr/>
        </p:nvSpPr>
        <p:spPr>
          <a:xfrm>
            <a:off x="13868400" y="7002780"/>
            <a:ext cx="331927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2026-07-12T17:37:56Z</dcterms:created>
  <dcterms:modified xsi:type="dcterms:W3CDTF">2026-07-12T17:37:56Z</dcterms:modified>
</cp:coreProperties>
</file>