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AIR is an agentic incident response platform — introduce the tagline and set up that this is an architecture review.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roadmap of the deck — seven stops from problem to delivery plan.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0c7dd12c_0_87:notes"/>
          <p:cNvSpPr/>
          <p:nvPr>
            <p:ph idx="2" type="sldImg"/>
          </p:nvPr>
        </p:nvSpPr>
        <p:spPr>
          <a:xfrm>
            <a:off x="0" y="0"/>
            <a:ext cx="4500000" cy="45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f80c7dd12c_0_87:notes"/>
          <p:cNvSpPr txBox="1"/>
          <p:nvPr>
            <p:ph idx="1" type="body"/>
          </p:nvPr>
        </p:nvSpPr>
        <p:spPr>
          <a:xfrm>
            <a:off x="0" y="0"/>
            <a:ext cx="4500000" cy="6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152375" spcFirstLastPara="1" rIns="1523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 — Reactive by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that traditional SRE often begins after an incident is detected and customer impact may already be visible. This increases exposure and puts immediate pressure on responders.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 — Fragmented context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engineers must manually correlate alerts, dashboards, logs, Kubernetes state, runbooks and scripts. Switching between disconnected tools delays a shared understanding of the incident.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 — Manual operational toil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Highlight that root-cause analysis, capacity planning and performance diagnosis still require repetitive human effort. This consumes engineering time and introduces inconsistency.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 — Expertise bottleneck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Stress that resolution speed often depends on an experienced engineer being available. Tribal knowledge does not scale and creates variable response quality across teams.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takeaway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SRE practices slow resolution, increase operational risk and leave less capacity for proactive reliability improvements.</a:t>
            </a:r>
            <a:endParaRPr/>
          </a:p>
        </p:txBody>
      </p:sp>
      <p:sp>
        <p:nvSpPr>
          <p:cNvPr id="54" name="Google Shape;54;g3f80c7dd12c_0_87:notes"/>
          <p:cNvSpPr txBox="1"/>
          <p:nvPr>
            <p:ph idx="12" type="sldNum"/>
          </p:nvPr>
        </p:nvSpPr>
        <p:spPr>
          <a:xfrm>
            <a:off x="0" y="0"/>
            <a:ext cx="4500000" cy="6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152375" spcFirstLastPara="1" rIns="1523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0c7dd12c_0_31:notes"/>
          <p:cNvSpPr/>
          <p:nvPr>
            <p:ph idx="2" type="sldImg"/>
          </p:nvPr>
        </p:nvSpPr>
        <p:spPr>
          <a:xfrm>
            <a:off x="0" y="0"/>
            <a:ext cx="4500000" cy="45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3f80c7dd12c_0_31:notes"/>
          <p:cNvSpPr txBox="1"/>
          <p:nvPr>
            <p:ph idx="1" type="body"/>
          </p:nvPr>
        </p:nvSpPr>
        <p:spPr>
          <a:xfrm>
            <a:off x="0" y="0"/>
            <a:ext cx="4500000" cy="6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152375" spcFirstLastPara="1" rIns="1523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Product 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Position AI SRE as a shift in the operating model—not simply another monitoring tool. The product continuously understands context, predicts risk, supports action and learns from outcomes.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 — Reactive → Proactive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the goal is to identify emerging incidents and capacity risks before customers are affected. The platform moves teams from responding to symptoms toward preventing impact.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 — Manual → Intelligent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Highlight continuous AI analysis across operational signals. It proposes likely causes and the next best action, while engineers retain control over consequential changes.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 — Siloed → Unified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a shared operational context that connects metrics, logs, traces, deployments, Kubernetes state and runbooks. This reduces tool switching and accelerates confident decisions.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 — After impact → Prevent impact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 how adaptive automation helps teams prevent or contain customer impact, while guardrails keep high-consequence actions under human control.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 — Expert-dependent → AI-amplified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the platform makes experienced operational knowledge available to every responder through contextual guidance and supporting evidence. AI amplifies engineers rather than replacing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06 — Static → Self-improving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continuous learning loop: incident outcomes improve alerts, runbooks, recommendations and automation. Reliability becomes stronger with every resolved event.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takeaway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SRE amplifies engineers, reduces toil and transforms reliability from reactive recovery into proactive, continuously improving customer-impact prevention.</a:t>
            </a:r>
            <a:endParaRPr/>
          </a:p>
        </p:txBody>
      </p:sp>
      <p:sp>
        <p:nvSpPr>
          <p:cNvPr id="77" name="Google Shape;77;g3f80c7dd12c_0_31:notes"/>
          <p:cNvSpPr txBox="1"/>
          <p:nvPr>
            <p:ph idx="12" type="sldNum"/>
          </p:nvPr>
        </p:nvSpPr>
        <p:spPr>
          <a:xfrm>
            <a:off x="0" y="0"/>
            <a:ext cx="4500000" cy="6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152375" spcFirstLastPara="1" rIns="1523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80c7dd12c_0_61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80c7dd12c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Benefits — Impact to the Business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AIR as a business-value platform, not only an engineering productivity tool. Faster and more consistent incident response protects revenue, service commitments and customer trust while lowering the cost of operations.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50% target MTTR reduction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target as the headline business lever. Shorter incidents mean less downtime, reduced customer disruption and lower revenue exposure.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Stronger SLA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Evidence-backed resolution helps more incidents remain inside their SLA window, reducing breach risk and protecting contractual commitments.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Lower operating cost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 reduces repetitive investigation and triage work, freeing senior engineers for higher-value reliability and product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Scalable SRE capacity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Automation and guided response allow teams to handle a larger incident volume without proportional growth in operational headcount.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Greater customer trust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 alert noise and faster recovery protect service experience, strengthen confidence and reduce the reputational cost of recurring incidents.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 note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prototype-modeled figures—21-minute average MTTR, 47% improvement versus baseline, 63% automated triage and 99.4% SLA compliance—are illustrative indicators, not committed production results.</a:t>
            </a:r>
            <a:endParaRPr/>
          </a:p>
        </p:txBody>
      </p:sp>
      <p:sp>
        <p:nvSpPr>
          <p:cNvPr id="106" name="Google Shape;106;g3f80c7dd12c_0_6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5984afea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5984afea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Lead with the MTTR number, then the supporting benefits.</a:t>
            </a:r>
            <a:endParaRPr/>
          </a:p>
        </p:txBody>
      </p:sp>
      <p:sp>
        <p:nvSpPr>
          <p:cNvPr id="129" name="Google Shape;129;g3f5984afea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0c7dd12c_0_131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80c7dd12c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Benefits — Impact to the Business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AIR as a business-value platform, not only an engineering productivity tool. Faster and more consistent incident response protects revenue, service commitments and customer trust while lowering the cost of operations.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50% target MTTR reduction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target as the headline business lever. Shorter incidents mean less downtime, reduced customer disruption and lower revenue exposure.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Stronger SLA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Evidence-backed resolution helps more incidents remain inside their SLA window, reducing breach risk and protecting contractual commitments.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Lower operating cost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 reduces repetitive investigation and triage work, freeing senior engineers for higher-value reliability and product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Scalable SRE capacity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Automation and guided response allow teams to handle a larger incident volume without proportional growth in operational headcount.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Greater customer trust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 alert noise and faster recovery protect service experience, strengthen confidence and reduce the reputational cost of recurring incidents.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 note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prototype-modeled figures—21-minute average MTTR, 47% improvement versus baseline, 63% automated triage and 99.4% SLA compliance—are illustrative indicators, not committed production results.</a:t>
            </a:r>
            <a:endParaRPr/>
          </a:p>
        </p:txBody>
      </p:sp>
      <p:sp>
        <p:nvSpPr>
          <p:cNvPr id="151" name="Google Shape;151;g3f80c7dd12c_0_13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8e6bd82b_0_170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58e6bd82b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Benefits — Impact to the Business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AIR as a business-value platform, not only an engineering productivity tool. Faster and more consistent incident response protects revenue, service commitments and customer trust while lowering the cost of operations.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50% target MTTR reduction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target as the headline business lever. Shorter incidents mean less downtime, reduced customer disruption and lower revenue exposure.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Stronger SLA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Evidence-backed resolution helps more incidents remain inside their SLA window, reducing breach risk and protecting contractual commitments.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Lower operating cost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 reduces repetitive investigation and triage work, freeing senior engineers for higher-value reliability and product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Scalable SRE capacity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Automation and guided response allow teams to handle a larger incident volume without proportional growth in operational headcount.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Greater customer trust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 alert noise and faster recovery protect service experience, strengthen confidence and reduce the reputational cost of recurring incidents.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 note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prototype-modeled figures—21-minute average MTTR, 47% improvement versus baseline, 63% automated triage and 99.4% SLA compliance—are illustrative indicators, not committed production results.</a:t>
            </a:r>
            <a:endParaRPr/>
          </a:p>
        </p:txBody>
      </p:sp>
      <p:sp>
        <p:nvSpPr>
          <p:cNvPr id="159" name="Google Shape;159;g3f58e6bd82b_0_17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0c7dd12c_0_218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f80c7dd12c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AI Agent Orchestration — Speaker Notes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LangChain coordinates specialized agents through a governed incident-response workflow.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Investigation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Collects alerts, logs, metrics and traces. PII, secrets and sensitive data are protected before analysis.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RCA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Runs multiple root-cause hypotheses in parallel. Evidence is compared and conclusions are ranked by confidence.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Runbook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Recommends approved response steps based on the available evidence. Human approval remains part of the process.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Communication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Keeps responders aligned with consistent incident context, progress updates and an auditable timeline.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Postmortem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Turns reviewed incident evidence into lessons, actions and reusable knowledge.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Policy guardrails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Input and output checks protect sensitive data, validate evidence and keep recommendations within approved boundaries. Human oversight ensures decisions remain safe and accountable.</a:t>
            </a:r>
            <a:endParaRPr sz="1800">
              <a:solidFill>
                <a:srgbClr val="101820"/>
              </a:solidFill>
            </a:endParaRPr>
          </a:p>
        </p:txBody>
      </p:sp>
      <p:sp>
        <p:nvSpPr>
          <p:cNvPr id="168" name="Google Shape;168;g3f80c7dd12c_0_21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0c7dd12c_0_313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f80c7dd12c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AI Agent Orchestration — Speaker Notes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LangChain coordinates specialized agents through a governed incident-response workflow.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Investigation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Collects alerts, logs, metrics and traces. PII, secrets and sensitive data are protected before analysis.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RCA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Runs multiple root-cause hypotheses in parallel. Evidence is compared and conclusions are ranked by confidence.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Runbook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Recommends approved response steps based on the available evidence. Human approval remains part of the process.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Communication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Keeps responders aligned with consistent incident context, progress updates and an auditable timeline.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Postmortem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Turns reviewed incident evidence into lessons, actions and reusable knowledge.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Policy guardrails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Input and output checks protect sensitive data, validate evidence and keep recommendations within approved boundaries. Human oversight ensures decisions remain safe and accountable.</a:t>
            </a:r>
            <a:endParaRPr sz="1800">
              <a:solidFill>
                <a:srgbClr val="101820"/>
              </a:solidFill>
            </a:endParaRPr>
          </a:p>
        </p:txBody>
      </p:sp>
      <p:sp>
        <p:nvSpPr>
          <p:cNvPr id="197" name="Google Shape;197;g3f80c7dd12c_0_313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 the three screens we'll walk through, and where each sits in the incident lifecycle.</a:t>
            </a:r>
            <a:endParaRPr/>
          </a:p>
        </p:txBody>
      </p:sp>
      <p:sp>
        <p:nvSpPr>
          <p:cNvPr id="259" name="Google Shape;2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alert list. Point out the dedup badge and the expanded group of three correlated alerts collapsing to one linked incident.</a:t>
            </a:r>
            <a:endParaRPr/>
          </a:p>
        </p:txBody>
      </p:sp>
      <p:sp>
        <p:nvSpPr>
          <p:cNvPr id="278" name="Google Shape;2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80c7dd12c_0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f80c7dd12c_0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alert list. Point out the dedup badge and the expanded group of three correlated alerts collapsing to one linked incident.</a:t>
            </a:r>
            <a:endParaRPr/>
          </a:p>
        </p:txBody>
      </p:sp>
      <p:sp>
        <p:nvSpPr>
          <p:cNvPr id="289" name="Google Shape;289;g3f80c7dd12c_0_3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0c7dd12c_0_4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f80c7dd12c_0_4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alert list. Point out the dedup badge and the expanded group of three correlated alerts collapsing to one linked incident.</a:t>
            </a:r>
            <a:endParaRPr/>
          </a:p>
        </p:txBody>
      </p:sp>
      <p:sp>
        <p:nvSpPr>
          <p:cNvPr id="299" name="Google Shape;299;g3f80c7dd12c_0_4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5984afea6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f5984afea6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AIR is an agentic incident response platform — introduce the tagline and set up that this is an architecture review.</a:t>
            </a:r>
            <a:endParaRPr/>
          </a:p>
        </p:txBody>
      </p:sp>
      <p:sp>
        <p:nvSpPr>
          <p:cNvPr id="309" name="Google Shape;309;g3f5984afea6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58e6bd82b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f58e6bd82b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alert list. Point out the dedup badge and the expanded group of three correlated alerts collapsing to one linked incident.</a:t>
            </a:r>
            <a:endParaRPr/>
          </a:p>
        </p:txBody>
      </p:sp>
      <p:sp>
        <p:nvSpPr>
          <p:cNvPr id="318" name="Google Shape;318;g3f58e6bd82b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58e6bd82b_0_110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f58e6bd82b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AI Agent Orchestration — Speaker Notes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LangChain coordinates specialized agents through a governed incident-response workflow.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Investigation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Collects alerts, logs, metrics and traces. PII, secrets and sensitive data are protected before analysis.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RCA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Runs multiple root-cause hypotheses in parallel. Evidence is compared and conclusions are ranked by confidence.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Runbook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Recommends approved response steps based on the available evidence. Human approval remains part of the process.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Communication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Keeps responders aligned with consistent incident context, progress updates and an auditable timeline.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Postmortem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Turns reviewed incident evidence into lessons, actions and reusable knowledge.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Policy guardrails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Input and output checks protect sensitive data, validate evidence and keep recommendations within approved boundaries. Human oversight ensures decisions remain safe and accountable.</a:t>
            </a:r>
            <a:endParaRPr sz="1800">
              <a:solidFill>
                <a:srgbClr val="101820"/>
              </a:solidFill>
            </a:endParaRPr>
          </a:p>
        </p:txBody>
      </p:sp>
      <p:sp>
        <p:nvSpPr>
          <p:cNvPr id="351" name="Google Shape;351;g3f58e6bd82b_0_11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on the reframe: AIR is a standing operating system, not a tool. Humans keep the decisions that matter; agents remove the manual-lookup loop. Propose aligning on Phase 1 scope next.</a:t>
            </a:r>
            <a:endParaRPr/>
          </a:p>
        </p:txBody>
      </p:sp>
      <p:sp>
        <p:nvSpPr>
          <p:cNvPr id="386" name="Google Shape;3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11" Type="http://schemas.openxmlformats.org/officeDocument/2006/relationships/image" Target="../media/image7.png"/><Relationship Id="rId10" Type="http://schemas.openxmlformats.org/officeDocument/2006/relationships/image" Target="../media/image18.png"/><Relationship Id="rId9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70CB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1047750" y="3544639"/>
            <a:ext cx="28652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AMERICAN EXPRESS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3785890" y="3563689"/>
            <a:ext cx="13602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3979069" y="3544639"/>
            <a:ext cx="54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1047750" y="4363789"/>
            <a:ext cx="15716250" cy="902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</a:rPr>
              <a:t>Agentic Incident Response</a:t>
            </a:r>
            <a:endParaRPr b="1" i="0" sz="6300" u="none" cap="none" strike="noStrike">
              <a:solidFill>
                <a:schemeClr val="dk1"/>
              </a:solidFill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047750" y="5532686"/>
            <a:ext cx="17811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2FA"/>
              </a:buClr>
              <a:buSzPts val="2250"/>
              <a:buFont typeface="Arial"/>
              <a:buNone/>
            </a:pPr>
            <a:r>
              <a:rPr i="1" lang="en-US" sz="2250" u="none" cap="none" strike="noStrike">
                <a:solidFill>
                  <a:srgbClr val="E6F2FA"/>
                </a:solidFill>
              </a:rPr>
              <a:t>From signals to action. Faster resolution. Lower MTTR.</a:t>
            </a:r>
            <a:endParaRPr i="1" sz="2250" u="none" cap="none" strike="noStrike">
              <a:solidFill>
                <a:schemeClr val="dk1"/>
              </a:solidFill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1047750" y="6475661"/>
            <a:ext cx="1781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</a:rPr>
              <a:t>Product Overview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1047750" y="819150"/>
            <a:ext cx="1781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1047750" y="1228725"/>
            <a:ext cx="17811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00000"/>
                </a:solidFill>
              </a:rPr>
              <a:t>What we’ll cover</a:t>
            </a:r>
            <a:endParaRPr b="1" i="0" sz="4050" u="none" cap="none" strike="noStrike">
              <a:solidFill>
                <a:schemeClr val="dk1"/>
              </a:solidFill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1047750" y="2438400"/>
            <a:ext cx="41031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1610469" y="2457450"/>
            <a:ext cx="43319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en-US" sz="2250"/>
              <a:t>Problem Statement</a:t>
            </a:r>
            <a:endParaRPr i="0" sz="2250" u="none" cap="none" strike="noStrike">
              <a:solidFill>
                <a:schemeClr val="dk1"/>
              </a:solidFill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1610469" y="2847975"/>
            <a:ext cx="43319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Why incident response is slow today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9448800" y="2438400"/>
            <a:ext cx="447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0048875" y="2457450"/>
            <a:ext cx="423520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vision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0048875" y="2847975"/>
            <a:ext cx="42352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Where AIR inserts itself in the chain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047750" y="3457575"/>
            <a:ext cx="4580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658243" y="3476625"/>
            <a:ext cx="407574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benefits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658243" y="3867150"/>
            <a:ext cx="407574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MTTR, SLA, cost, and productivity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9448800" y="3457575"/>
            <a:ext cx="46240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0063609" y="3476625"/>
            <a:ext cx="506259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Platform architecture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0063609" y="3867150"/>
            <a:ext cx="50625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Layers, from raw signal to knowledge 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47750" y="4476750"/>
            <a:ext cx="4557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655862" y="4495800"/>
            <a:ext cx="455116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en-US" sz="2250"/>
              <a:t>A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gent </a:t>
            </a:r>
            <a:r>
              <a:rPr lang="en-US" sz="2250"/>
              <a:t>O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rchestration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1655862" y="4886325"/>
            <a:ext cx="455116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Seven agents, one governed data 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9448800" y="4476750"/>
            <a:ext cx="46553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0066734" y="4495800"/>
            <a:ext cx="47040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en-US" sz="2250"/>
              <a:t>AIR Workflow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0066734" y="4886325"/>
            <a:ext cx="470407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5E5E5E"/>
                </a:solidFill>
              </a:rPr>
              <a:t>From Alert to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047750" y="5495925"/>
            <a:ext cx="4374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637556" y="5514975"/>
            <a:ext cx="647247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rPr lang="en-US" sz="2250">
                <a:solidFill>
                  <a:schemeClr val="dk1"/>
                </a:solidFill>
              </a:rPr>
              <a:t>Design walkthrough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sz="2250"/>
          </a:p>
        </p:txBody>
      </p:sp>
      <p:sp>
        <p:nvSpPr>
          <p:cNvPr id="50" name="Google Shape;50;p5"/>
          <p:cNvSpPr/>
          <p:nvPr/>
        </p:nvSpPr>
        <p:spPr>
          <a:xfrm>
            <a:off x="1637556" y="5905500"/>
            <a:ext cx="647247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5E5E5E"/>
                </a:solidFill>
              </a:rPr>
              <a:t>Alerts, investigation, and incident detail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5E5E5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/>
          <p:nvPr/>
        </p:nvSpPr>
        <p:spPr>
          <a:xfrm>
            <a:off x="742950" y="485775"/>
            <a:ext cx="37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2100"/>
          </a:p>
        </p:txBody>
      </p:sp>
      <p:sp>
        <p:nvSpPr>
          <p:cNvPr id="57" name="Google Shape;57;p6"/>
          <p:cNvSpPr/>
          <p:nvPr/>
        </p:nvSpPr>
        <p:spPr>
          <a:xfrm>
            <a:off x="742950" y="1028700"/>
            <a:ext cx="16716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rPr>
              <a:t>Traditional SRE remains reactive and manual</a:t>
            </a:r>
            <a:endParaRPr sz="2100"/>
          </a:p>
        </p:txBody>
      </p:sp>
      <p:sp>
        <p:nvSpPr>
          <p:cNvPr id="58" name="Google Shape;58;p6"/>
          <p:cNvSpPr/>
          <p:nvPr/>
        </p:nvSpPr>
        <p:spPr>
          <a:xfrm>
            <a:off x="742950" y="2043113"/>
            <a:ext cx="16002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600"/>
              <a:buFont typeface="Arial"/>
              <a:buNone/>
            </a:pPr>
            <a:r>
              <a:rPr b="0" lang="en-US" sz="2600">
                <a:solidFill>
                  <a:srgbClr val="4D5B6A"/>
                </a:solidFill>
                <a:latin typeface="Arial"/>
                <a:ea typeface="Arial"/>
                <a:cs typeface="Arial"/>
                <a:sym typeface="Arial"/>
              </a:rPr>
              <a:t>Fragmented tools and expertise-dependent workflows delay confident action.</a:t>
            </a:r>
            <a:endParaRPr sz="2100"/>
          </a:p>
        </p:txBody>
      </p:sp>
      <p:sp>
        <p:nvSpPr>
          <p:cNvPr id="59" name="Google Shape;59;p6"/>
          <p:cNvSpPr/>
          <p:nvPr/>
        </p:nvSpPr>
        <p:spPr>
          <a:xfrm>
            <a:off x="742950" y="2828925"/>
            <a:ext cx="16802100" cy="14400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742950" y="337185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01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457325" y="3343275"/>
            <a:ext cx="57000" cy="16575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1771650" y="3314700"/>
            <a:ext cx="67155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3200">
                <a:solidFill>
                  <a:srgbClr val="101820"/>
                </a:solidFill>
              </a:rPr>
              <a:t>Reactive by design</a:t>
            </a:r>
            <a:endParaRPr b="1" sz="32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5B6A"/>
                </a:solidFill>
              </a:rPr>
              <a:t>Work begins after an incident is detected—often while customer impact is already unfolding.</a:t>
            </a:r>
            <a:endParaRPr sz="2400">
              <a:solidFill>
                <a:srgbClr val="4D5B6A"/>
              </a:solidFill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9458325" y="337185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02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72700" y="3343275"/>
            <a:ext cx="57000" cy="16575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10487025" y="3314700"/>
            <a:ext cx="67155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3200">
                <a:solidFill>
                  <a:srgbClr val="101820"/>
                </a:solidFill>
              </a:rPr>
              <a:t>Fragmented context</a:t>
            </a:r>
            <a:endParaRPr b="1" sz="32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5B6A"/>
                </a:solidFill>
              </a:rPr>
              <a:t>Alerts, dashboards, logs, Kubernetes, runbooks and scripts are reviewed across disconnected tools.</a:t>
            </a:r>
            <a:endParaRPr sz="2400">
              <a:solidFill>
                <a:srgbClr val="4D5B6A"/>
              </a:solidFill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742950" y="600075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03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457325" y="5972175"/>
            <a:ext cx="57000" cy="16575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1771650" y="5943600"/>
            <a:ext cx="67155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3200">
                <a:solidFill>
                  <a:srgbClr val="101820"/>
                </a:solidFill>
              </a:rPr>
              <a:t>Manual operational toil</a:t>
            </a:r>
            <a:endParaRPr b="1" sz="32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5B6A"/>
                </a:solidFill>
              </a:rPr>
              <a:t>Root-cause analysis, capacity planning and performance diagnosis rely on repetitive human effort.</a:t>
            </a:r>
            <a:endParaRPr sz="2400">
              <a:solidFill>
                <a:srgbClr val="4D5B6A"/>
              </a:solidFill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458325" y="600075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04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0172700" y="5972175"/>
            <a:ext cx="57000" cy="16575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10487025" y="5943600"/>
            <a:ext cx="67155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3200">
                <a:solidFill>
                  <a:srgbClr val="101820"/>
                </a:solidFill>
              </a:rPr>
              <a:t>Expertise bottleneck</a:t>
            </a:r>
            <a:endParaRPr b="1" sz="32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5B6A"/>
                </a:solidFill>
              </a:rPr>
              <a:t>Resolution speed and consistency depend on the availability of experienced engineers.</a:t>
            </a:r>
            <a:endParaRPr sz="2400">
              <a:solidFill>
                <a:srgbClr val="4D5B6A"/>
              </a:solidFill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742950" y="8743950"/>
            <a:ext cx="16802100" cy="943200"/>
          </a:xfrm>
          <a:prstGeom prst="rect">
            <a:avLst/>
          </a:prstGeom>
          <a:solidFill>
            <a:srgbClr val="EAF3FC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1114425" y="8986838"/>
            <a:ext cx="160020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rPr>
              <a:t>Impact: slower resolution, inconsistent response quality, and less capacity for proactive reliability work.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742950" y="485775"/>
            <a:ext cx="37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PRODUCT VISION</a:t>
            </a:r>
            <a:endParaRPr b="1" sz="1800">
              <a:solidFill>
                <a:srgbClr val="006FCF"/>
              </a:solidFill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742950" y="1028700"/>
            <a:ext cx="16716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101820"/>
                </a:solidFill>
              </a:rPr>
              <a:t>AI SRE moves reliability from reactive to proactive</a:t>
            </a:r>
            <a:endParaRPr b="1" sz="5400">
              <a:solidFill>
                <a:srgbClr val="101820"/>
              </a:solidFill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742950" y="2043113"/>
            <a:ext cx="16002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4D5B6A"/>
                </a:solidFill>
              </a:rPr>
              <a:t>A context-aware reliability platform that continuously understands, predicts, acts and improves.</a:t>
            </a:r>
            <a:endParaRPr sz="2600">
              <a:solidFill>
                <a:srgbClr val="4D5B6A"/>
              </a:solidFill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42950" y="2828925"/>
            <a:ext cx="16802100" cy="14400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742950" y="313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01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457325" y="306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1771650" y="303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Reactive → Proactive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Predict emerging incidents and capacity risks before customer impact.</a:t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9458325" y="313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02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0172700" y="306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10487025" y="303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Manual → Intelligent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Analyze signals continuously, identify probable causes and recommend the next best action.</a:t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742950" y="496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03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457325" y="489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1771650" y="486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Siloed → Unified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Correlate metrics, logs, traces, changes, Kubernetes and runbooks in one operational context.</a:t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9458325" y="496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04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0172700" y="489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10487025" y="486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After impact → Prevent impact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Use adaptive automation and learning to strengthen resilience over time.</a:t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742950" y="8743950"/>
            <a:ext cx="16802100" cy="943200"/>
          </a:xfrm>
          <a:prstGeom prst="rect">
            <a:avLst/>
          </a:prstGeom>
          <a:solidFill>
            <a:srgbClr val="EAF3FC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114425" y="8986838"/>
            <a:ext cx="160020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01820"/>
                </a:solidFill>
              </a:rPr>
              <a:t>Product vision: fewer incidents, faster decisions, lower toil and continuously improving reliability.</a:t>
            </a:r>
            <a:endParaRPr b="1" sz="2400">
              <a:solidFill>
                <a:srgbClr val="101820"/>
              </a:solidFill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742950" y="679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05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457325" y="672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1771650" y="669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Expert-dependent → AI-amplified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Give every engineer expert context, guidance and evidence while keeping humans in control.</a:t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9458325" y="679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06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0172700" y="672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10487025" y="669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Static → Self-improving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Learn from outcomes to continuously improve alerts, runbooks, recommendations and automation.</a:t>
            </a:r>
            <a:endParaRPr sz="2200">
              <a:solidFill>
                <a:srgbClr val="4D5B6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742950" y="485775"/>
            <a:ext cx="37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BUSINESS BENEFITS</a:t>
            </a:r>
            <a:endParaRPr b="1" i="0" sz="1800" u="none" cap="none" strike="noStrike">
              <a:solidFill>
                <a:srgbClr val="006FCF"/>
              </a:solidFill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742950" y="1028700"/>
            <a:ext cx="16716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US" sz="5400">
                <a:solidFill>
                  <a:srgbClr val="101820"/>
                </a:solidFill>
              </a:rPr>
              <a:t>How AI SRE creates measurable business impact</a:t>
            </a:r>
            <a:endParaRPr b="1" i="0" sz="5400" u="none" cap="none" strike="noStrike">
              <a:solidFill>
                <a:srgbClr val="101820"/>
              </a:solidFill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000475" y="3395843"/>
            <a:ext cx="7982100" cy="2029200"/>
          </a:xfrm>
          <a:prstGeom prst="roundRect">
            <a:avLst>
              <a:gd fmla="val 3756" name="adj"/>
            </a:avLst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1343375" y="3700643"/>
            <a:ext cx="8025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4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1343375" y="4443593"/>
            <a:ext cx="8025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</a:rPr>
              <a:t>Target MTTR reduction</a:t>
            </a:r>
            <a:endParaRPr b="1" i="0" sz="2700" u="none" cap="none" strike="noStrike">
              <a:solidFill>
                <a:srgbClr val="FFFFFF"/>
              </a:solidFill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1343375" y="4853168"/>
            <a:ext cx="80259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2FA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Faster resolution reduces downtime, disruption and revenue risk.</a:t>
            </a:r>
            <a:endParaRPr i="0" sz="2000" u="none" cap="none" strike="noStrike">
              <a:solidFill>
                <a:srgbClr val="FFFFFF"/>
              </a:solidFill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9211025" y="3395843"/>
            <a:ext cx="7982100" cy="2029200"/>
          </a:xfrm>
          <a:prstGeom prst="roundRect">
            <a:avLst>
              <a:gd fmla="val 3756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9563450" y="3710168"/>
            <a:ext cx="8004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700">
                <a:solidFill>
                  <a:srgbClr val="101820"/>
                </a:solidFill>
              </a:rPr>
              <a:t>Stronger SLA performance</a:t>
            </a:r>
            <a:endParaRPr b="1" i="0" sz="2700" u="none" cap="none" strike="noStrike">
              <a:solidFill>
                <a:srgbClr val="101820"/>
              </a:solidFill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9563450" y="4176893"/>
            <a:ext cx="749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4D5B6A"/>
                </a:solidFill>
              </a:rPr>
              <a:t>Evidence-backed resolution lowers breach risk and protects service commitments.</a:t>
            </a:r>
            <a:endParaRPr i="0" sz="2000" u="none" cap="none" strike="noStrike">
              <a:solidFill>
                <a:srgbClr val="4D5B6A"/>
              </a:solidFill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000475" y="5729468"/>
            <a:ext cx="5244900" cy="1428900"/>
          </a:xfrm>
          <a:prstGeom prst="roundRect">
            <a:avLst>
              <a:gd fmla="val 5333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1276700" y="5986643"/>
            <a:ext cx="5162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101820"/>
                </a:solidFill>
              </a:rPr>
              <a:t>Lower operating cost</a:t>
            </a:r>
            <a:endParaRPr b="1" i="0" sz="2500" u="none" cap="none" strike="noStrike">
              <a:solidFill>
                <a:srgbClr val="101820"/>
              </a:solidFill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276700" y="6367643"/>
            <a:ext cx="483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4D5B6A"/>
                </a:solidFill>
              </a:rPr>
              <a:t>Reduce senior-engineer time spent on repetitive investigation and triage.</a:t>
            </a:r>
            <a:endParaRPr i="0" sz="2000" u="none" cap="none" strike="noStrike">
              <a:solidFill>
                <a:srgbClr val="4D5B6A"/>
              </a:solidFill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474076" y="5729468"/>
            <a:ext cx="5245200" cy="1428900"/>
          </a:xfrm>
          <a:prstGeom prst="roundRect">
            <a:avLst>
              <a:gd fmla="val 5333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6750301" y="5986643"/>
            <a:ext cx="5162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101820"/>
                </a:solidFill>
              </a:rPr>
              <a:t>Scalable SRE capacity</a:t>
            </a:r>
            <a:endParaRPr b="1" i="0" sz="2500" u="none" cap="none" strike="noStrike">
              <a:solidFill>
                <a:srgbClr val="101820"/>
              </a:solidFill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750301" y="6367643"/>
            <a:ext cx="483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4D5B6A"/>
                </a:solidFill>
              </a:rPr>
              <a:t>Handle more incidents without proportional headcount growth.</a:t>
            </a:r>
            <a:endParaRPr i="0" sz="2000" u="none" cap="none" strike="noStrike">
              <a:solidFill>
                <a:srgbClr val="4D5B6A"/>
              </a:solidFill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1947825" y="5729468"/>
            <a:ext cx="5245200" cy="1428900"/>
          </a:xfrm>
          <a:prstGeom prst="roundRect">
            <a:avLst>
              <a:gd fmla="val 5333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12224050" y="5986643"/>
            <a:ext cx="5162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101820"/>
                </a:solidFill>
              </a:rPr>
              <a:t>Greater customer trust</a:t>
            </a:r>
            <a:endParaRPr b="1" i="0" sz="2500" u="none" cap="none" strike="noStrike">
              <a:solidFill>
                <a:srgbClr val="101820"/>
              </a:solidFill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2224050" y="6367643"/>
            <a:ext cx="483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4D5B6A"/>
                </a:solidFill>
              </a:rPr>
              <a:t>Faster recovery protects customer experience and confidence.</a:t>
            </a:r>
            <a:endParaRPr i="0" sz="2000" u="none" cap="none" strike="noStrike">
              <a:solidFill>
                <a:srgbClr val="4D5B6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/>
        </p:nvSpPr>
        <p:spPr>
          <a:xfrm>
            <a:off x="952500" y="838200"/>
            <a:ext cx="1802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BUSINESS BENEFITS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952500" y="1257300"/>
            <a:ext cx="1728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0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AI SRE creates measurable business impact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952500" y="2247900"/>
            <a:ext cx="5334000" cy="7372500"/>
          </a:xfrm>
          <a:prstGeom prst="rect">
            <a:avLst/>
          </a:prstGeom>
          <a:solidFill>
            <a:srgbClr val="E6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1409700" y="4523482"/>
            <a:ext cx="48615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1409700" y="6237982"/>
            <a:ext cx="4861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MTTR reduction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1409700" y="6704707"/>
            <a:ext cx="4552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Faster resolution reduces downtime, disruption and revenue risk.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896100" y="4843463"/>
            <a:ext cx="10439400" cy="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6896100" y="3976687"/>
            <a:ext cx="11483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Stronger SLA performance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6896100" y="4367213"/>
            <a:ext cx="1148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Evidence-backed resolution lowers breach risk and protects service commitments.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896100" y="5929313"/>
            <a:ext cx="10439400" cy="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6896100" y="5062538"/>
            <a:ext cx="11483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operating cost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896100" y="5453063"/>
            <a:ext cx="1148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Reduce senior-engineer time spent on repetitive investigation and triage.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896100" y="7015163"/>
            <a:ext cx="10439400" cy="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6896100" y="6148388"/>
            <a:ext cx="11483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SRE capacity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896100" y="6538913"/>
            <a:ext cx="1148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Handle more incidents without proportional headcount growth.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6896100" y="7234238"/>
            <a:ext cx="11483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Greater customer trust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896100" y="7624762"/>
            <a:ext cx="1148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Faster recovery protects customer experience and confidence.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742950" y="485775"/>
            <a:ext cx="37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PLATFORM ARCHITECTURE</a:t>
            </a:r>
            <a:endParaRPr b="1" i="0" sz="1800" u="none" cap="none" strike="noStrike">
              <a:solidFill>
                <a:srgbClr val="006FCF"/>
              </a:solidFill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742950" y="1028700"/>
            <a:ext cx="16716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The platform ingests every signal and routes it to an agent workflow</a:t>
            </a:r>
            <a:endParaRPr b="1" sz="4000">
              <a:solidFill>
                <a:srgbClr val="101820"/>
              </a:solidFill>
            </a:endParaRPr>
          </a:p>
        </p:txBody>
      </p:sp>
      <p:pic>
        <p:nvPicPr>
          <p:cNvPr descr="preencoded.png" id="155" name="Google Shape;1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3025" y="1768600"/>
            <a:ext cx="13532201" cy="8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742950" y="485775"/>
            <a:ext cx="37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PLATFORM ARCHITECTURE</a:t>
            </a:r>
            <a:endParaRPr b="1" i="0" sz="1800" u="none" cap="none" strike="noStrike">
              <a:solidFill>
                <a:srgbClr val="006FCF"/>
              </a:solidFill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742950" y="1028700"/>
            <a:ext cx="16716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The platform ingests every signal and routes it to an agent workflow</a:t>
            </a:r>
            <a:endParaRPr b="1" sz="4000">
              <a:solidFill>
                <a:srgbClr val="101820"/>
              </a:solidFill>
            </a:endParaRPr>
          </a:p>
        </p:txBody>
      </p:sp>
      <p:pic>
        <p:nvPicPr>
          <p:cNvPr id="163" name="Google Shape;16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14900"/>
            <a:ext cx="17983201" cy="75691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"/>
          <p:cNvSpPr/>
          <p:nvPr/>
        </p:nvSpPr>
        <p:spPr>
          <a:xfrm>
            <a:off x="359300" y="1853175"/>
            <a:ext cx="529500" cy="52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/>
          <p:nvPr/>
        </p:nvSpPr>
        <p:spPr>
          <a:xfrm>
            <a:off x="742950" y="485775"/>
            <a:ext cx="16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AI AGENT ORCHESTRATION</a:t>
            </a:r>
            <a:endParaRPr b="1" i="0" sz="1800" u="none" cap="none" strike="noStrike">
              <a:solidFill>
                <a:srgbClr val="006FCF"/>
              </a:solidFill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742950" y="1035000"/>
            <a:ext cx="16716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US" sz="4500">
                <a:solidFill>
                  <a:srgbClr val="101820"/>
                </a:solidFill>
              </a:rPr>
              <a:t>Five agents orchestrate evidence-backed incident response</a:t>
            </a:r>
            <a:endParaRPr b="1" i="0" sz="4500" u="none" cap="none" strike="noStrike">
              <a:solidFill>
                <a:srgbClr val="101820"/>
              </a:solidFill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047750" y="2370000"/>
            <a:ext cx="5220000" cy="24750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2067750" y="268500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Investigation Agent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1325250" y="3255000"/>
            <a:ext cx="46653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Sources: alerts, logs, metrics, traces and deployment changes.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Guardrail: redact PII and secrets; emit evidence IDs for downstream agents.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6534000" y="2370000"/>
            <a:ext cx="5220000" cy="24750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"/>
          <p:cNvSpPr/>
          <p:nvPr/>
        </p:nvSpPr>
        <p:spPr>
          <a:xfrm>
            <a:off x="7554000" y="268500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RCA Agent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6811500" y="3255000"/>
            <a:ext cx="46653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Parallel hypothesis workers gather evidence and challenge alternatives.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Artifact: ranked confidence, citations and blast-radius impact.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12020250" y="2370000"/>
            <a:ext cx="5220000" cy="24750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"/>
          <p:cNvSpPr/>
          <p:nvPr/>
        </p:nvSpPr>
        <p:spPr>
          <a:xfrm>
            <a:off x="13040250" y="268500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Runbook Agent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12297750" y="3255000"/>
            <a:ext cx="46653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Retrieve approved, versioned runbooks; rank options by risk and time.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Gate: manual approval, execution and recovery verification.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1047750" y="5145000"/>
            <a:ext cx="8100000" cy="2070000"/>
          </a:xfrm>
          <a:prstGeom prst="roundRect">
            <a:avLst>
              <a:gd fmla="val 5291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2067750" y="5460000"/>
            <a:ext cx="680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Communication Agent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1325250" y="6060000"/>
            <a:ext cx="75453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Sync incident context with Slack and enforce authorized status transitions.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Record: timeline and audit events; live progress over SSE.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9420000" y="5145000"/>
            <a:ext cx="7820100" cy="2070000"/>
          </a:xfrm>
          <a:prstGeom prst="roundRect">
            <a:avLst>
              <a:gd fmla="val 5291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10440000" y="5460000"/>
            <a:ext cx="65226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Postmortem Agent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9697500" y="6060000"/>
            <a:ext cx="7265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Draft timeline, impact, RCA and actions from selected sources.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Gate: human review; approved content becomes pgvector knowledge.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1047750" y="7646100"/>
            <a:ext cx="16192500" cy="1041300"/>
          </a:xfrm>
          <a:prstGeom prst="roundRect">
            <a:avLst>
              <a:gd fmla="val 5291" name="adj"/>
            </a:avLst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1269150" y="7934250"/>
            <a:ext cx="15750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LangChain Framework for Governed Agent Orchestration</a:t>
            </a:r>
            <a:endParaRPr b="1" i="0" sz="2400" u="none" cap="none" strike="noStrike">
              <a:solidFill>
                <a:srgbClr val="FFFFFF"/>
              </a:solidFill>
            </a:endParaRPr>
          </a:p>
        </p:txBody>
      </p:sp>
      <p:pic>
        <p:nvPicPr>
          <p:cNvPr descr="Investigation agent search icon" id="189" name="Google Shape;189;p12" title="Investigation agent search ic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250" y="2632500"/>
            <a:ext cx="630000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ot cause reasoning icon" id="190" name="Google Shape;190;p12" title="Root cause reasoning ico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500" y="2632500"/>
            <a:ext cx="630000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nbook checklist icon" id="191" name="Google Shape;191;p12" title="Runbook checklist ico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97750" y="2632500"/>
            <a:ext cx="630000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cident communication icon" id="192" name="Google Shape;192;p12" title="Incident communication ico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5250" y="5407500"/>
            <a:ext cx="630000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stmortem learning icon" id="193" name="Google Shape;193;p12" title="Postmortem learning ico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97500" y="5407500"/>
            <a:ext cx="630000" cy="6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/>
          <p:nvPr/>
        </p:nvSpPr>
        <p:spPr>
          <a:xfrm>
            <a:off x="742950" y="485775"/>
            <a:ext cx="16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AIR WORKFLOW</a:t>
            </a:r>
            <a:endParaRPr b="1" i="0" sz="1800" u="none" cap="none" strike="noStrike">
              <a:solidFill>
                <a:srgbClr val="006FCF"/>
              </a:solidFill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742950" y="1099525"/>
            <a:ext cx="162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US" sz="4500">
                <a:solidFill>
                  <a:srgbClr val="101820"/>
                </a:solidFill>
              </a:rPr>
              <a:t>From alert to learning: one clear, governed response</a:t>
            </a:r>
            <a:endParaRPr b="1" i="0" sz="4500" u="none" cap="none" strike="noStrike">
              <a:solidFill>
                <a:srgbClr val="101820"/>
              </a:solidFill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742950" y="2120100"/>
            <a:ext cx="5334000" cy="1987500"/>
          </a:xfrm>
          <a:prstGeom prst="rect">
            <a:avLst/>
          </a:prstGeom>
          <a:solidFill>
            <a:srgbClr val="F2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1000125" y="2377275"/>
            <a:ext cx="457200" cy="457200"/>
          </a:xfrm>
          <a:prstGeom prst="ellipse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425" y="24915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3"/>
          <p:cNvSpPr/>
          <p:nvPr/>
        </p:nvSpPr>
        <p:spPr>
          <a:xfrm>
            <a:off x="1628775" y="237727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1628775" y="270112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A possible issue is flagged.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1628775" y="3024975"/>
            <a:ext cx="43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Monitoring, APIs and Slack all feed the first signal.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6267450" y="2120100"/>
            <a:ext cx="5334000" cy="1987500"/>
          </a:xfrm>
          <a:prstGeom prst="rect">
            <a:avLst/>
          </a:prstGeom>
          <a:solidFill>
            <a:srgbClr val="F2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6524625" y="2377275"/>
            <a:ext cx="457200" cy="457200"/>
          </a:xfrm>
          <a:prstGeom prst="ellipse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8925" y="24915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/>
          <p:nvPr/>
        </p:nvSpPr>
        <p:spPr>
          <a:xfrm>
            <a:off x="7153275" y="237727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Investigation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7153275" y="270112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Relevant signals are gathered.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7153275" y="3024975"/>
            <a:ext cx="43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Logs, metrics, traces and deploy history pull in automatically.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11791950" y="2120100"/>
            <a:ext cx="5334000" cy="1987500"/>
          </a:xfrm>
          <a:prstGeom prst="rect">
            <a:avLst/>
          </a:prstGeom>
          <a:solidFill>
            <a:srgbClr val="F2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12049125" y="2377275"/>
            <a:ext cx="457200" cy="457200"/>
          </a:xfrm>
          <a:prstGeom prst="ellipse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63425" y="24915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3"/>
          <p:cNvSpPr/>
          <p:nvPr/>
        </p:nvSpPr>
        <p:spPr>
          <a:xfrm>
            <a:off x="12677775" y="237727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Incident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12677775" y="270112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One shared record is created.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2677775" y="3024975"/>
            <a:ext cx="43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Matching alerts are deduplicated into it, not left as separate pages.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742950" y="4298051"/>
            <a:ext cx="5334000" cy="1987500"/>
          </a:xfrm>
          <a:prstGeom prst="rect">
            <a:avLst/>
          </a:prstGeom>
          <a:solidFill>
            <a:srgbClr val="F2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1000125" y="4555226"/>
            <a:ext cx="457200" cy="457200"/>
          </a:xfrm>
          <a:prstGeom prst="ellipse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425" y="466952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3"/>
          <p:cNvSpPr/>
          <p:nvPr/>
        </p:nvSpPr>
        <p:spPr>
          <a:xfrm>
            <a:off x="1628775" y="4555226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1628775" y="4879076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Evidence and history are organized.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1628775" y="5202926"/>
            <a:ext cx="43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Conversation memory, runbooks and prior incidents are attached.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267450" y="4298051"/>
            <a:ext cx="5334000" cy="1987500"/>
          </a:xfrm>
          <a:prstGeom prst="rect">
            <a:avLst/>
          </a:prstGeom>
          <a:solidFill>
            <a:srgbClr val="F2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6524625" y="4555226"/>
            <a:ext cx="457200" cy="457200"/>
          </a:xfrm>
          <a:prstGeom prst="ellipse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38925" y="466952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3"/>
          <p:cNvSpPr/>
          <p:nvPr/>
        </p:nvSpPr>
        <p:spPr>
          <a:xfrm>
            <a:off x="7153275" y="4555226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Cause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7153275" y="4879076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Possible explanations are tested.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7153275" y="5202926"/>
            <a:ext cx="43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Parallel hypotheses are ranked by confidence and evidence.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11791950" y="4298051"/>
            <a:ext cx="5334000" cy="1987500"/>
          </a:xfrm>
          <a:prstGeom prst="rect">
            <a:avLst/>
          </a:prstGeom>
          <a:solidFill>
            <a:srgbClr val="F2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12049125" y="4555226"/>
            <a:ext cx="457200" cy="457200"/>
          </a:xfrm>
          <a:prstGeom prst="ellipse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163425" y="466952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/>
          <p:nvPr/>
        </p:nvSpPr>
        <p:spPr>
          <a:xfrm>
            <a:off x="12677775" y="4555226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12677775" y="4879076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Who and what are affected.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12677775" y="5202926"/>
            <a:ext cx="43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Blast radius and customer exposure are estimated.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742950" y="6476150"/>
            <a:ext cx="5334000" cy="2254200"/>
          </a:xfrm>
          <a:prstGeom prst="rect">
            <a:avLst/>
          </a:prstGeom>
          <a:solidFill>
            <a:srgbClr val="F2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1000125" y="6733325"/>
            <a:ext cx="457200" cy="457200"/>
          </a:xfrm>
          <a:prstGeom prst="ellipse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4425" y="6847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/>
          <p:nvPr/>
        </p:nvSpPr>
        <p:spPr>
          <a:xfrm>
            <a:off x="1628775" y="673332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1628775" y="705717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Safe next steps are recommended.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1628775" y="7381025"/>
            <a:ext cx="43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Runbook options are ranked by risk and execution time.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6267450" y="6476150"/>
            <a:ext cx="5334000" cy="2254200"/>
          </a:xfrm>
          <a:prstGeom prst="rect">
            <a:avLst/>
          </a:prstGeom>
          <a:solidFill>
            <a:srgbClr val="F2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6524625" y="6733325"/>
            <a:ext cx="457200" cy="457200"/>
          </a:xfrm>
          <a:prstGeom prst="ellipse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38925" y="6847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3"/>
          <p:cNvSpPr/>
          <p:nvPr/>
        </p:nvSpPr>
        <p:spPr>
          <a:xfrm>
            <a:off x="7153275" y="673332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7153275" y="705717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An owner reviews before action.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7153275" y="7381025"/>
            <a:ext cx="43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Approval is required before any runbook executes.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11791950" y="6476150"/>
            <a:ext cx="5334000" cy="2254200"/>
          </a:xfrm>
          <a:prstGeom prst="rect">
            <a:avLst/>
          </a:prstGeom>
          <a:solidFill>
            <a:srgbClr val="00175A"/>
          </a:solidFill>
          <a:ln cap="flat" cmpd="sng" w="9525">
            <a:solidFill>
              <a:srgbClr val="001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12049125" y="67333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163425" y="6847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3"/>
          <p:cNvSpPr/>
          <p:nvPr/>
        </p:nvSpPr>
        <p:spPr>
          <a:xfrm>
            <a:off x="12677775" y="6733325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Resolve and learn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2677775" y="7057175"/>
            <a:ext cx="43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9E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7D9EF"/>
                </a:solidFill>
                <a:latin typeface="Arial"/>
                <a:ea typeface="Arial"/>
                <a:cs typeface="Arial"/>
                <a:sym typeface="Arial"/>
              </a:rPr>
              <a:t>Recovery is confirmed and lessons are captured.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12677775" y="7647725"/>
            <a:ext cx="431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D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FB8DD"/>
                </a:solidFill>
                <a:latin typeface="Arial"/>
                <a:ea typeface="Arial"/>
                <a:cs typeface="Arial"/>
                <a:sym typeface="Arial"/>
              </a:rPr>
              <a:t>Approved </a:t>
            </a:r>
            <a:r>
              <a:rPr lang="en-US" sz="1800">
                <a:solidFill>
                  <a:srgbClr val="9FB8DD"/>
                </a:solidFill>
              </a:rPr>
              <a:t>post-mortems</a:t>
            </a:r>
            <a:r>
              <a:rPr b="0" i="0" lang="en-US" sz="1800" u="none" cap="none" strike="noStrike">
                <a:solidFill>
                  <a:srgbClr val="9FB8DD"/>
                </a:solidFill>
                <a:latin typeface="Arial"/>
                <a:ea typeface="Arial"/>
                <a:cs typeface="Arial"/>
                <a:sym typeface="Arial"/>
              </a:rPr>
              <a:t> feed the pgvector knowledge base.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742950" y="8959050"/>
            <a:ext cx="1802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AIR keeps people in control: evidence is organized, options are compared, and approval happens before action.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3F3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1047750" y="819150"/>
            <a:ext cx="1781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DESIGN WALKTHROUGH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1047750" y="1228725"/>
            <a:ext cx="17287875" cy="629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screens carry the investigation from alert to resolution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1047750" y="2429768"/>
            <a:ext cx="5219700" cy="7190482"/>
          </a:xfrm>
          <a:prstGeom prst="roundRect">
            <a:avLst>
              <a:gd fmla="val 1460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1362075" y="2782193"/>
            <a:ext cx="50501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1362075" y="3201293"/>
            <a:ext cx="50501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1362075" y="3668018"/>
            <a:ext cx="472878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Correlated and deduplicated before an engineer ever sees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6534150" y="2429768"/>
            <a:ext cx="5219700" cy="7190482"/>
          </a:xfrm>
          <a:prstGeom prst="roundRect">
            <a:avLst>
              <a:gd fmla="val 1460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6848475" y="2782193"/>
            <a:ext cx="50501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6848475" y="3201293"/>
            <a:ext cx="50501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Investigation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848475" y="3668018"/>
            <a:ext cx="472878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Starts automatically on alert receipt, with evidence and a confidence score.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12020550" y="2429768"/>
            <a:ext cx="5219700" cy="7190482"/>
          </a:xfrm>
          <a:prstGeom prst="roundRect">
            <a:avLst>
              <a:gd fmla="val 1460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12334875" y="2782193"/>
            <a:ext cx="50501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12334875" y="3201293"/>
            <a:ext cx="50501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Incident Detail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12334875" y="3668018"/>
            <a:ext cx="472878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Ranked root-cause hypotheses and a remediation plan ready for approval.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/>
          <p:nvPr/>
        </p:nvSpPr>
        <p:spPr>
          <a:xfrm>
            <a:off x="1047750" y="819150"/>
            <a:ext cx="1781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DESIGN WALKTHROUGH · ALERTS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1047750" y="1228725"/>
            <a:ext cx="17287875" cy="629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Alerts are correlated and deduplicated before they reach an engineer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1047750" y="2904818"/>
            <a:ext cx="9753600" cy="3451800"/>
          </a:xfrm>
          <a:prstGeom prst="roundRect">
            <a:avLst>
              <a:gd fmla="val 2207" name="adj"/>
            </a:avLst>
          </a:prstGeom>
          <a:solidFill>
            <a:srgbClr val="E8E8E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13428075" y="2904775"/>
            <a:ext cx="4393500" cy="4093200"/>
          </a:xfrm>
          <a:prstGeom prst="roundRect">
            <a:avLst>
              <a:gd fmla="val 3065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13654621" y="3521234"/>
            <a:ext cx="4058700" cy="30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rPr b="0" i="0" lang="en-US" sz="2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Alerts sharing the same service, metric, and error signature within a 5-minute correlation window are grouped automatically — the engineer sees one actionable item, already linked to its incident, not three separate pages.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2904825"/>
            <a:ext cx="12179795" cy="409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"/>
          <p:cNvSpPr/>
          <p:nvPr/>
        </p:nvSpPr>
        <p:spPr>
          <a:xfrm>
            <a:off x="1047750" y="819150"/>
            <a:ext cx="17811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DESIGN WALKTHROUGH · </a:t>
            </a:r>
            <a:r>
              <a:rPr b="1" lang="en-US" sz="1500">
                <a:solidFill>
                  <a:srgbClr val="006FCF"/>
                </a:solidFill>
              </a:rPr>
              <a:t>AI INVESTIGATION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1047750" y="1228725"/>
            <a:ext cx="172878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r>
              <a:rPr lang="en-US" sz="4050">
                <a:solidFill>
                  <a:schemeClr val="dk1"/>
                </a:solidFill>
              </a:rPr>
              <a:t>Investigation begins automatically the moment an alert arrives</a:t>
            </a:r>
            <a:endParaRPr sz="4050"/>
          </a:p>
        </p:txBody>
      </p:sp>
      <p:sp>
        <p:nvSpPr>
          <p:cNvPr id="293" name="Google Shape;293;p16"/>
          <p:cNvSpPr/>
          <p:nvPr/>
        </p:nvSpPr>
        <p:spPr>
          <a:xfrm>
            <a:off x="13171700" y="2553500"/>
            <a:ext cx="4393500" cy="5790000"/>
          </a:xfrm>
          <a:prstGeom prst="roundRect">
            <a:avLst>
              <a:gd fmla="val 3065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13506496" y="3833584"/>
            <a:ext cx="4058700" cy="30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333333"/>
                </a:solidFill>
              </a:rPr>
              <a:t>By the time an engineer opens the alert, the threshold breach, the correlated deploy, and a 78% confidence root cause are already documented — with the evidence attached.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t/>
            </a:r>
            <a:endParaRPr sz="2050">
              <a:solidFill>
                <a:srgbClr val="333333"/>
              </a:solidFill>
            </a:endParaRPr>
          </a:p>
        </p:txBody>
      </p:sp>
      <p:pic>
        <p:nvPicPr>
          <p:cNvPr id="295" name="Google Shape;2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2553476"/>
            <a:ext cx="11676625" cy="579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/>
          <p:nvPr/>
        </p:nvSpPr>
        <p:spPr>
          <a:xfrm>
            <a:off x="1047750" y="819150"/>
            <a:ext cx="17811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DESIGN WALKTHROUGH · </a:t>
            </a:r>
            <a:r>
              <a:rPr b="1" lang="en-US" sz="1500">
                <a:solidFill>
                  <a:srgbClr val="006FCF"/>
                </a:solidFill>
              </a:rPr>
              <a:t>INCIDENT DETAILS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047750" y="1228725"/>
            <a:ext cx="172878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r>
              <a:rPr lang="en-US" sz="4050">
                <a:solidFill>
                  <a:schemeClr val="dk1"/>
                </a:solidFill>
              </a:rPr>
              <a:t>Root cause hypotheses are ranked, evidenced, and ready for approval</a:t>
            </a:r>
            <a:endParaRPr sz="4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r>
              <a:t/>
            </a:r>
            <a:endParaRPr sz="4050">
              <a:solidFill>
                <a:schemeClr val="dk1"/>
              </a:solidFill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13624900" y="2553500"/>
            <a:ext cx="3940200" cy="4824900"/>
          </a:xfrm>
          <a:prstGeom prst="roundRect">
            <a:avLst>
              <a:gd fmla="val 3065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2553500"/>
            <a:ext cx="12231276" cy="48250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7"/>
          <p:cNvSpPr/>
          <p:nvPr/>
        </p:nvSpPr>
        <p:spPr>
          <a:xfrm>
            <a:off x="13862500" y="3110813"/>
            <a:ext cx="3465000" cy="3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Each hypothesis carries a confidence score and cited evidence. The top-ranked remediation is proposed with an explicit risk level — an engineer clicks approve, AIR executes.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70CB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1047750" y="3544639"/>
            <a:ext cx="2865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AMERICAN EXPRESS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3785890" y="3563689"/>
            <a:ext cx="135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3979069" y="3544639"/>
            <a:ext cx="54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1047750" y="4363789"/>
            <a:ext cx="157161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Arial"/>
              <a:buNone/>
            </a:pPr>
            <a:r>
              <a:rPr b="1" lang="en-US" sz="6300">
                <a:solidFill>
                  <a:srgbClr val="FFFFFF"/>
                </a:solidFill>
              </a:rPr>
              <a:t>Prototype Demo</a:t>
            </a:r>
            <a:endParaRPr b="1" i="0" sz="63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/>
          <p:nvPr/>
        </p:nvSpPr>
        <p:spPr>
          <a:xfrm>
            <a:off x="1047750" y="819150"/>
            <a:ext cx="17811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6FCF"/>
                </a:solidFill>
              </a:rPr>
              <a:t>DELIVERY TIMELINE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1047750" y="1228725"/>
            <a:ext cx="172878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n-US" sz="4500">
                <a:solidFill>
                  <a:schemeClr val="dk1"/>
                </a:solidFill>
              </a:rPr>
              <a:t>Five sprints to UAT completion</a:t>
            </a:r>
            <a:endParaRPr sz="4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r>
              <a:t/>
            </a:r>
            <a:endParaRPr sz="4050">
              <a:solidFill>
                <a:schemeClr val="dk1"/>
              </a:solidFill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1009700" y="3470750"/>
            <a:ext cx="16192500" cy="1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1009700" y="3470750"/>
            <a:ext cx="1133400" cy="192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1009700" y="3346925"/>
            <a:ext cx="266700" cy="266700"/>
          </a:xfrm>
          <a:prstGeom prst="ellipse">
            <a:avLst/>
          </a:prstGeom>
          <a:solidFill>
            <a:srgbClr val="FFFFFF"/>
          </a:solidFill>
          <a:ln cap="flat" cmpd="sng" w="47625">
            <a:solidFill>
              <a:srgbClr val="006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1009700" y="3785075"/>
            <a:ext cx="178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27 Jul – 09 Aug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1009700" y="4147025"/>
            <a:ext cx="1250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1009525" y="4556675"/>
            <a:ext cx="27471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Foundation: </a:t>
            </a:r>
            <a:r>
              <a:rPr lang="en-US" sz="1800">
                <a:solidFill>
                  <a:srgbClr val="333333"/>
                </a:solidFill>
              </a:rPr>
              <a:t>I</a:t>
            </a: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nfra, DB schema, API Spec Design</a:t>
            </a:r>
            <a:r>
              <a:rPr lang="en-US" sz="1800">
                <a:solidFill>
                  <a:srgbClr val="333333"/>
                </a:solidFill>
              </a:rPr>
              <a:t>, Repo, A</a:t>
            </a: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uth, CI/CD, 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3850382" y="3365975"/>
            <a:ext cx="228600" cy="228600"/>
          </a:xfrm>
          <a:prstGeom prst="ellipse">
            <a:avLst/>
          </a:prstGeom>
          <a:solidFill>
            <a:srgbClr val="D9D9D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D9D9D9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3850382" y="3785075"/>
            <a:ext cx="183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5E5E"/>
                </a:solidFill>
              </a:rPr>
              <a:t>10 Aug – 23 Aug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3850382" y="4147025"/>
            <a:ext cx="10011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3850382" y="4594700"/>
            <a:ext cx="27471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Scenario 1 (ELF ingestion), orchestrator, Intake Agent, core 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6691214" y="3365975"/>
            <a:ext cx="228600" cy="228600"/>
          </a:xfrm>
          <a:prstGeom prst="ellipse">
            <a:avLst/>
          </a:prstGeom>
          <a:solidFill>
            <a:srgbClr val="D9D9D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D9D9D9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6691214" y="3785075"/>
            <a:ext cx="18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5E5E"/>
                </a:solidFill>
              </a:rPr>
              <a:t>24 Aug – 06 Sep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6691214" y="4147025"/>
            <a:ext cx="1008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6691214" y="4594700"/>
            <a:ext cx="27471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Scenario 2 (UI-triggered), Diagnostic Agent, RAG / knowledge 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9532045" y="3365975"/>
            <a:ext cx="228600" cy="228600"/>
          </a:xfrm>
          <a:prstGeom prst="ellipse">
            <a:avLst/>
          </a:prstGeom>
          <a:solidFill>
            <a:srgbClr val="D9D9D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D9D9D9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9532045" y="3785075"/>
            <a:ext cx="183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5E5E"/>
                </a:solidFill>
              </a:rPr>
              <a:t>07 Sep – 20 Sep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9532045" y="4147025"/>
            <a:ext cx="1011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Sprint 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9532045" y="4594700"/>
            <a:ext cx="27471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RCA &amp; Runbook agents, </a:t>
            </a:r>
            <a:r>
              <a:rPr lang="en-US" sz="1800">
                <a:solidFill>
                  <a:srgbClr val="333333"/>
                </a:solidFill>
              </a:rPr>
              <a:t>Slack Integration</a:t>
            </a: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approvals, notifications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12372876" y="3365975"/>
            <a:ext cx="228600" cy="228600"/>
          </a:xfrm>
          <a:prstGeom prst="ellipse">
            <a:avLst/>
          </a:prstGeom>
          <a:solidFill>
            <a:srgbClr val="D9D9D9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D9D9D9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12372876" y="3785075"/>
            <a:ext cx="180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5E5E"/>
                </a:solidFill>
              </a:rPr>
              <a:t>21 Sep – 30 Sep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12372876" y="4147025"/>
            <a:ext cx="10065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Sprint 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12372876" y="4594700"/>
            <a:ext cx="27471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Hardening, security review, load testing, UAT &amp; sign-off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15213707" y="3365975"/>
            <a:ext cx="228600" cy="228600"/>
          </a:xfrm>
          <a:prstGeom prst="ellipse">
            <a:avLst/>
          </a:prstGeom>
          <a:solidFill>
            <a:srgbClr val="00175A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00175A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9"/>
          <p:cNvSpPr/>
          <p:nvPr/>
        </p:nvSpPr>
        <p:spPr>
          <a:xfrm>
            <a:off x="15213707" y="3785075"/>
            <a:ext cx="80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5E5E"/>
                </a:solidFill>
              </a:rPr>
              <a:t>30 Sep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15213707" y="4147025"/>
            <a:ext cx="1878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75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75A"/>
                </a:solidFill>
                <a:latin typeface="Arial"/>
                <a:ea typeface="Arial"/>
                <a:cs typeface="Arial"/>
                <a:sym typeface="Arial"/>
              </a:rPr>
              <a:t>UAT Complete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15213707" y="4594700"/>
            <a:ext cx="20646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MVP release scope ends at UAT sign-off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/>
          <p:nvPr/>
        </p:nvSpPr>
        <p:spPr>
          <a:xfrm>
            <a:off x="742950" y="485775"/>
            <a:ext cx="16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TEAM &amp; </a:t>
            </a:r>
            <a:r>
              <a:rPr b="1" lang="en-US" sz="1800">
                <a:solidFill>
                  <a:srgbClr val="006FCF"/>
                </a:solidFill>
              </a:rPr>
              <a:t>RESPONSIBILITIES</a:t>
            </a:r>
            <a:endParaRPr b="1" i="0" sz="1800" u="none" cap="none" strike="noStrike">
              <a:solidFill>
                <a:srgbClr val="006FCF"/>
              </a:solidFill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742950" y="1035000"/>
            <a:ext cx="16716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US" sz="4500">
                <a:solidFill>
                  <a:srgbClr val="101820"/>
                </a:solidFill>
              </a:rPr>
              <a:t>Six people and Two scenario</a:t>
            </a:r>
            <a:endParaRPr b="1" i="0" sz="4500" u="none" cap="none" strike="noStrike">
              <a:solidFill>
                <a:srgbClr val="101820"/>
              </a:solidFill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957088" y="2244050"/>
            <a:ext cx="5220000" cy="15627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1977088" y="255905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Rajakumari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1960063" y="3054050"/>
            <a:ext cx="31971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UI &amp; UX - Designer &amp; Dev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6443338" y="2244050"/>
            <a:ext cx="5220000" cy="15627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7463338" y="255905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Narmada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pic>
        <p:nvPicPr>
          <p:cNvPr descr="Investigation agent search icon" id="360" name="Google Shape;360;p20" title="Investigation agent search ic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588" y="2506550"/>
            <a:ext cx="630000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ot cause reasoning icon" id="361" name="Google Shape;361;p20" title="Root cause reasoning ico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838" y="2506550"/>
            <a:ext cx="630000" cy="6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0"/>
          <p:cNvSpPr/>
          <p:nvPr/>
        </p:nvSpPr>
        <p:spPr>
          <a:xfrm>
            <a:off x="7412038" y="3054050"/>
            <a:ext cx="31971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UI Dev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11929588" y="2244050"/>
            <a:ext cx="5220000" cy="15627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12949588" y="255905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Vignesh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pic>
        <p:nvPicPr>
          <p:cNvPr descr="Root cause reasoning icon" id="365" name="Google Shape;365;p20" title="Root cause reasoning ico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7088" y="2506550"/>
            <a:ext cx="630000" cy="6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0"/>
          <p:cNvSpPr/>
          <p:nvPr/>
        </p:nvSpPr>
        <p:spPr>
          <a:xfrm>
            <a:off x="12898288" y="3054050"/>
            <a:ext cx="31971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UI Dev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957088" y="4348200"/>
            <a:ext cx="5220000" cy="15627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1977088" y="466320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Ragul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1960063" y="5158200"/>
            <a:ext cx="31971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Backend and AI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6443338" y="4348200"/>
            <a:ext cx="5220000" cy="15627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0"/>
          <p:cNvSpPr/>
          <p:nvPr/>
        </p:nvSpPr>
        <p:spPr>
          <a:xfrm>
            <a:off x="7463338" y="466320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Nishant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pic>
        <p:nvPicPr>
          <p:cNvPr descr="Investigation agent search icon" id="372" name="Google Shape;372;p20" title="Investigation agent search ic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588" y="4610700"/>
            <a:ext cx="630000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ot cause reasoning icon" id="373" name="Google Shape;373;p20" title="Root cause reasoning ico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838" y="4610700"/>
            <a:ext cx="630000" cy="6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0"/>
          <p:cNvSpPr/>
          <p:nvPr/>
        </p:nvSpPr>
        <p:spPr>
          <a:xfrm>
            <a:off x="7412038" y="5158200"/>
            <a:ext cx="31971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Backend and AI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11929588" y="4348200"/>
            <a:ext cx="5220000" cy="15627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12949588" y="466320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Arunkumar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pic>
        <p:nvPicPr>
          <p:cNvPr descr="Root cause reasoning icon" id="377" name="Google Shape;377;p20" title="Root cause reasoning ico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7088" y="4610700"/>
            <a:ext cx="630000" cy="6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0"/>
          <p:cNvSpPr/>
          <p:nvPr/>
        </p:nvSpPr>
        <p:spPr>
          <a:xfrm>
            <a:off x="12898288" y="5158200"/>
            <a:ext cx="31971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Backend and AI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866401" y="6710050"/>
            <a:ext cx="7905000" cy="2918700"/>
          </a:xfrm>
          <a:prstGeom prst="roundRect">
            <a:avLst>
              <a:gd fmla="val 3756" name="adj"/>
            </a:avLst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1184333" y="6942450"/>
            <a:ext cx="68466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</a:rPr>
              <a:t>Scenario</a:t>
            </a:r>
            <a:r>
              <a:rPr b="1" lang="en-US" sz="2200">
                <a:solidFill>
                  <a:schemeClr val="lt1"/>
                </a:solidFill>
              </a:rPr>
              <a:t> : 1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t/>
            </a:r>
            <a:endParaRPr b="1" sz="19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Alerts from ELF logs flow through ingestion, normalization and deduplication, auto-converting into incidents the agent pipeline investigates.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64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9244601" y="6710050"/>
            <a:ext cx="7905000" cy="2918700"/>
          </a:xfrm>
          <a:prstGeom prst="roundRect">
            <a:avLst>
              <a:gd fmla="val 3756" name="adj"/>
            </a:avLst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9562533" y="6942450"/>
            <a:ext cx="68466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</a:rPr>
              <a:t>Scenario : 2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t/>
            </a:r>
            <a:endParaRPr b="1" sz="19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A user or support engineer reports a user-facing issue directly from the UI, creating an incident that triggers the same agent pipeline.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64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FC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1"/>
          <p:cNvSpPr/>
          <p:nvPr/>
        </p:nvSpPr>
        <p:spPr>
          <a:xfrm>
            <a:off x="1047750" y="3916114"/>
            <a:ext cx="16240125" cy="645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Arial"/>
              <a:buNone/>
            </a:pPr>
            <a:r>
              <a:rPr lang="en-US" sz="4050">
                <a:solidFill>
                  <a:srgbClr val="FFFFFF"/>
                </a:solidFill>
              </a:rPr>
              <a:t>Thank You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